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a2a690d60c4db8" /><Relationship Type="http://schemas.openxmlformats.org/officeDocument/2006/relationships/extended-properties" Target="/docProps/app.xml" Id="Re82af334346242d2" /><Relationship Type="http://schemas.openxmlformats.org/officeDocument/2006/relationships/officeDocument" Target="/ppt/presentation.xml" Id="Rb70dd6904b2548ab" /></Relationships>
</file>

<file path=ppt/presentation.xml><?xml version="1.0" encoding="utf-8"?>
<p:presentation xmlns:p="http://schemas.openxmlformats.org/presentationml/2006/main">
  <p:sldMasterIdLst>
    <p:sldMasterId xmlns:r="http://schemas.openxmlformats.org/officeDocument/2006/relationships" id="2147483648" r:id="R8397d32b58cb486d"/>
  </p:sldMasterIdLst>
  <p:notesMasterIdLst>
    <p:notesMasterId xmlns:r="http://schemas.openxmlformats.org/officeDocument/2006/relationships" r:id="R9725210ed33a4270"/>
  </p:notesMasterIdLst>
  <p:sldIdLst>
    <p:sldId xmlns:r="http://schemas.openxmlformats.org/officeDocument/2006/relationships" id="256" r:id="R8a399d7196934e94"/>
    <p:sldId xmlns:r="http://schemas.openxmlformats.org/officeDocument/2006/relationships" id="257" r:id="R7a3bd9e49dbf4a6f"/>
    <p:sldId xmlns:r="http://schemas.openxmlformats.org/officeDocument/2006/relationships" id="258" r:id="Reff9c2863a74427e"/>
    <p:sldId xmlns:r="http://schemas.openxmlformats.org/officeDocument/2006/relationships" id="259" r:id="R5ef77751e4604292"/>
    <p:sldId xmlns:r="http://schemas.openxmlformats.org/officeDocument/2006/relationships" id="260" r:id="Ree284eb932b344e0"/>
    <p:sldId xmlns:r="http://schemas.openxmlformats.org/officeDocument/2006/relationships" id="261" r:id="R8d7f6918aff24497"/>
    <p:sldId xmlns:r="http://schemas.openxmlformats.org/officeDocument/2006/relationships" id="262" r:id="R2b165037cbd940f5"/>
    <p:sldId xmlns:r="http://schemas.openxmlformats.org/officeDocument/2006/relationships" id="263" r:id="R2bb3f34486ff4a5d"/>
    <p:sldId xmlns:r="http://schemas.openxmlformats.org/officeDocument/2006/relationships" id="264" r:id="R521d6d97cae74176"/>
    <p:sldId xmlns:r="http://schemas.openxmlformats.org/officeDocument/2006/relationships" id="265" r:id="Re988fa2fb16c467e"/>
    <p:sldId xmlns:r="http://schemas.openxmlformats.org/officeDocument/2006/relationships" id="266" r:id="R105258ce2cad4f95"/>
    <p:sldId xmlns:r="http://schemas.openxmlformats.org/officeDocument/2006/relationships" id="267" r:id="R8d3a782268c347b9"/>
    <p:sldId xmlns:r="http://schemas.openxmlformats.org/officeDocument/2006/relationships" id="268" r:id="R68553110c57341ed"/>
    <p:sldId xmlns:r="http://schemas.openxmlformats.org/officeDocument/2006/relationships" id="269" r:id="R76dce9e243c3405b"/>
    <p:sldId xmlns:r="http://schemas.openxmlformats.org/officeDocument/2006/relationships" id="270" r:id="Reddd34829c334b21"/>
    <p:sldId xmlns:r="http://schemas.openxmlformats.org/officeDocument/2006/relationships" id="271" r:id="R4a02c4cedb29481a"/>
    <p:sldId xmlns:r="http://schemas.openxmlformats.org/officeDocument/2006/relationships" id="272" r:id="R198ebf3eac01414a"/>
    <p:sldId xmlns:r="http://schemas.openxmlformats.org/officeDocument/2006/relationships" id="273" r:id="Ra2b9e165cd9244d5"/>
    <p:sldId xmlns:r="http://schemas.openxmlformats.org/officeDocument/2006/relationships" id="274" r:id="R39ca0645a8ec4667"/>
    <p:sldId xmlns:r="http://schemas.openxmlformats.org/officeDocument/2006/relationships" id="275" r:id="R3bde268136c64559"/>
    <p:sldId xmlns:r="http://schemas.openxmlformats.org/officeDocument/2006/relationships" id="276" r:id="R559c700676504eda"/>
    <p:sldId xmlns:r="http://schemas.openxmlformats.org/officeDocument/2006/relationships" id="277" r:id="R64d52c3500c2405b"/>
    <p:sldId xmlns:r="http://schemas.openxmlformats.org/officeDocument/2006/relationships" id="278" r:id="R341dd19c7d604b5c"/>
    <p:sldId xmlns:r="http://schemas.openxmlformats.org/officeDocument/2006/relationships" id="279" r:id="R62ea4c548b674542"/>
    <p:sldId xmlns:r="http://schemas.openxmlformats.org/officeDocument/2006/relationships" id="280" r:id="R9cbb63aa226649c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c50b0202e94aba" /><Relationship Type="http://schemas.openxmlformats.org/officeDocument/2006/relationships/slideMaster" Target="/ppt/slideMasters/slideMaster1.xml" Id="R8397d32b58cb486d" /><Relationship Type="http://schemas.openxmlformats.org/officeDocument/2006/relationships/notesMaster" Target="/ppt/notesMasters/notesMaster1.xml" Id="R9725210ed33a4270" /><Relationship Type="http://schemas.openxmlformats.org/officeDocument/2006/relationships/presProps" Target="/ppt/presProps.xml" Id="Re2b3a693b8704e41" /><Relationship Type="http://schemas.openxmlformats.org/officeDocument/2006/relationships/tableStyles" Target="/ppt/tableStyles.xml" Id="Rccf2c86ea17945ad" /><Relationship Type="http://schemas.openxmlformats.org/officeDocument/2006/relationships/slide" Target="/ppt/slides/slide1.xml" Id="R8a399d7196934e94" /><Relationship Type="http://schemas.openxmlformats.org/officeDocument/2006/relationships/slide" Target="/ppt/slides/slide2.xml" Id="R7a3bd9e49dbf4a6f" /><Relationship Type="http://schemas.openxmlformats.org/officeDocument/2006/relationships/slide" Target="/ppt/slides/slide3.xml" Id="Reff9c2863a74427e" /><Relationship Type="http://schemas.openxmlformats.org/officeDocument/2006/relationships/slide" Target="/ppt/slides/slide4.xml" Id="R5ef77751e4604292" /><Relationship Type="http://schemas.openxmlformats.org/officeDocument/2006/relationships/slide" Target="/ppt/slides/slide5.xml" Id="Ree284eb932b344e0" /><Relationship Type="http://schemas.openxmlformats.org/officeDocument/2006/relationships/slide" Target="/ppt/slides/slide6.xml" Id="R8d7f6918aff24497" /><Relationship Type="http://schemas.openxmlformats.org/officeDocument/2006/relationships/slide" Target="/ppt/slides/slide7.xml" Id="R2b165037cbd940f5" /><Relationship Type="http://schemas.openxmlformats.org/officeDocument/2006/relationships/slide" Target="/ppt/slides/slide8.xml" Id="R2bb3f34486ff4a5d" /><Relationship Type="http://schemas.openxmlformats.org/officeDocument/2006/relationships/slide" Target="/ppt/slides/slide9.xml" Id="R521d6d97cae74176" /><Relationship Type="http://schemas.openxmlformats.org/officeDocument/2006/relationships/slide" Target="/ppt/slides/slide10.xml" Id="Re988fa2fb16c467e" /><Relationship Type="http://schemas.openxmlformats.org/officeDocument/2006/relationships/slide" Target="/ppt/slides/slide11.xml" Id="R105258ce2cad4f95" /><Relationship Type="http://schemas.openxmlformats.org/officeDocument/2006/relationships/slide" Target="/ppt/slides/slide12.xml" Id="R8d3a782268c347b9" /><Relationship Type="http://schemas.openxmlformats.org/officeDocument/2006/relationships/slide" Target="/ppt/slides/slide13.xml" Id="R68553110c57341ed" /><Relationship Type="http://schemas.openxmlformats.org/officeDocument/2006/relationships/slide" Target="/ppt/slides/slide14.xml" Id="R76dce9e243c3405b" /><Relationship Type="http://schemas.openxmlformats.org/officeDocument/2006/relationships/slide" Target="/ppt/slides/slide15.xml" Id="Reddd34829c334b21" /><Relationship Type="http://schemas.openxmlformats.org/officeDocument/2006/relationships/slide" Target="/ppt/slides/slide16.xml" Id="R4a02c4cedb29481a" /><Relationship Type="http://schemas.openxmlformats.org/officeDocument/2006/relationships/slide" Target="/ppt/slides/slide17.xml" Id="R198ebf3eac01414a" /><Relationship Type="http://schemas.openxmlformats.org/officeDocument/2006/relationships/slide" Target="/ppt/slides/slide18.xml" Id="Ra2b9e165cd9244d5" /><Relationship Type="http://schemas.openxmlformats.org/officeDocument/2006/relationships/slide" Target="/ppt/slides/slide19.xml" Id="R39ca0645a8ec4667" /><Relationship Type="http://schemas.openxmlformats.org/officeDocument/2006/relationships/slide" Target="/ppt/slides/slide20.xml" Id="R3bde268136c64559" /><Relationship Type="http://schemas.openxmlformats.org/officeDocument/2006/relationships/slide" Target="/ppt/slides/slide21.xml" Id="R559c700676504eda" /><Relationship Type="http://schemas.openxmlformats.org/officeDocument/2006/relationships/slide" Target="/ppt/slides/slide22.xml" Id="R64d52c3500c2405b" /><Relationship Type="http://schemas.openxmlformats.org/officeDocument/2006/relationships/slide" Target="/ppt/slides/slide23.xml" Id="R341dd19c7d604b5c" /><Relationship Type="http://schemas.openxmlformats.org/officeDocument/2006/relationships/slide" Target="/ppt/slides/slide24.xml" Id="R62ea4c548b674542" /><Relationship Type="http://schemas.openxmlformats.org/officeDocument/2006/relationships/slide" Target="/ppt/slides/slide25.xml" Id="R9cbb63aa226649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dfc33bbe444c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365bfced984d0b" /><Relationship Type="http://schemas.openxmlformats.org/officeDocument/2006/relationships/notesMaster" Target="/ppt/notesMasters/notesMaster1.xml" Id="Re434cb09063b4e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9411967eb64443" /><Relationship Type="http://schemas.openxmlformats.org/officeDocument/2006/relationships/notesMaster" Target="/ppt/notesMasters/notesMaster1.xml" Id="R80c0766ff55a41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fb39be011d46fa" /><Relationship Type="http://schemas.openxmlformats.org/officeDocument/2006/relationships/notesMaster" Target="/ppt/notesMasters/notesMaster1.xml" Id="R8cd5c052e46a45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7d5dddfcb24d80" /><Relationship Type="http://schemas.openxmlformats.org/officeDocument/2006/relationships/notesMaster" Target="/ppt/notesMasters/notesMaster1.xml" Id="Rf085c2fea6f64f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4c2a385c11433e" /><Relationship Type="http://schemas.openxmlformats.org/officeDocument/2006/relationships/notesMaster" Target="/ppt/notesMasters/notesMaster1.xml" Id="Rdaf74d1690164e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35e34109a3483e" /><Relationship Type="http://schemas.openxmlformats.org/officeDocument/2006/relationships/notesMaster" Target="/ppt/notesMasters/notesMaster1.xml" Id="R26a28828613d44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3248c6f45e4726" /><Relationship Type="http://schemas.openxmlformats.org/officeDocument/2006/relationships/notesMaster" Target="/ppt/notesMasters/notesMaster1.xml" Id="R600d2b7c15564a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8f9be91b71451c" /><Relationship Type="http://schemas.openxmlformats.org/officeDocument/2006/relationships/notesMaster" Target="/ppt/notesMasters/notesMaster1.xml" Id="R2c6385083b2042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78dbcf27704c34" /><Relationship Type="http://schemas.openxmlformats.org/officeDocument/2006/relationships/notesMaster" Target="/ppt/notesMasters/notesMaster1.xml" Id="R94f62a5c2af841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08ada4ebd540b6" /><Relationship Type="http://schemas.openxmlformats.org/officeDocument/2006/relationships/notesMaster" Target="/ppt/notesMasters/notesMaster1.xml" Id="Re5ff49ecd90b4a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5ae2006a6d4247" /><Relationship Type="http://schemas.openxmlformats.org/officeDocument/2006/relationships/notesMaster" Target="/ppt/notesMasters/notesMaster1.xml" Id="R267e1155913d4c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4ee601201048c1" /><Relationship Type="http://schemas.openxmlformats.org/officeDocument/2006/relationships/notesMaster" Target="/ppt/notesMasters/notesMaster1.xml" Id="R86c38d8a29cd40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c587ecc28e4ad5" /><Relationship Type="http://schemas.openxmlformats.org/officeDocument/2006/relationships/notesMaster" Target="/ppt/notesMasters/notesMaster1.xml" Id="R27029c8d36e142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839aa1de114281" /><Relationship Type="http://schemas.openxmlformats.org/officeDocument/2006/relationships/notesMaster" Target="/ppt/notesMasters/notesMaster1.xml" Id="Rda295bb851414a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b23041edf34465" /><Relationship Type="http://schemas.openxmlformats.org/officeDocument/2006/relationships/notesMaster" Target="/ppt/notesMasters/notesMaster1.xml" Id="Rb3530544782e40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d3d04787b1448a" /><Relationship Type="http://schemas.openxmlformats.org/officeDocument/2006/relationships/notesMaster" Target="/ppt/notesMasters/notesMaster1.xml" Id="Ra67623de1dda403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55f8bcef11e4558" /><Relationship Type="http://schemas.openxmlformats.org/officeDocument/2006/relationships/notesMaster" Target="/ppt/notesMasters/notesMaster1.xml" Id="R2cafb68ebfac44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ecb1b62a5549d2" /><Relationship Type="http://schemas.openxmlformats.org/officeDocument/2006/relationships/notesMaster" Target="/ppt/notesMasters/notesMaster1.xml" Id="Rfdfc21f25d8943c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527bd9d56e449db" /><Relationship Type="http://schemas.openxmlformats.org/officeDocument/2006/relationships/notesMaster" Target="/ppt/notesMasters/notesMaster1.xml" Id="R2f5f07d025904de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49a3a704c54031" /><Relationship Type="http://schemas.openxmlformats.org/officeDocument/2006/relationships/notesMaster" Target="/ppt/notesMasters/notesMaster1.xml" Id="Re140567c942c4c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fc666326d6f46c6" /><Relationship Type="http://schemas.openxmlformats.org/officeDocument/2006/relationships/notesMaster" Target="/ppt/notesMasters/notesMaster1.xml" Id="R1894142b18a74e1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21d7be9c384754" /><Relationship Type="http://schemas.openxmlformats.org/officeDocument/2006/relationships/notesMaster" Target="/ppt/notesMasters/notesMaster1.xml" Id="R7a1ed35c52444ad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e3c25257fc74aee" /><Relationship Type="http://schemas.openxmlformats.org/officeDocument/2006/relationships/notesMaster" Target="/ppt/notesMasters/notesMaster1.xml" Id="Rb08fae51b4e54b4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5b4b8760d6e469b" /><Relationship Type="http://schemas.openxmlformats.org/officeDocument/2006/relationships/notesMaster" Target="/ppt/notesMasters/notesMaster1.xml" Id="Rcaf032fd4586496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16c1a415ca14c69" /><Relationship Type="http://schemas.openxmlformats.org/officeDocument/2006/relationships/notesMaster" Target="/ppt/notesMasters/notesMaster1.xml" Id="Rbf1ac16dc73643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 30 seconds. Say: “Today we will follow one product through your business: who can access it, where it is stocked, how it is sold, and how the day closes. Then we will show how purchasing, wholesale, online channels, forecasting and finance connect to the same foundation.”</a:t>
            </a:r>
          </a:p>
          <a:p xmlns:a="http://schemas.openxmlformats.org/drawingml/2006/main">
            <a:r>
              <a:t>The source proposal is a future-state scope. The current implementation is a local demo. Do not imply that all nine modules are live.</a:t>
            </a:r>
          </a:p>
          <a:p xmlns:a="http://schemas.openxmlformats.org/drawingml/2006/main">
            <a:r>
              <a:t/>
            </a:r>
          </a:p>
          <a:p xmlns:a="http://schemas.openxmlformats.org/drawingml/2006/main">
            <a:r>
              <a:t>[Sources]</a:t>
            </a:r>
          </a:p>
          <a:p xmlns:a="http://schemas.openxmlformats.org/drawingml/2006/main">
            <a:r>
              <a:t>D:/echo-work/flair-perfumes/ERP_Modules.pdf</a:t>
            </a:r>
          </a:p>
          <a:p xmlns:a="http://schemas.openxmlformats.org/drawingml/2006/main">
            <a:r>
              <a:t>D:/echo-work/flair-perfumes/public/brand/flair-logo.png</a:t>
            </a:r>
          </a:p>
          <a:p xmlns:a="http://schemas.openxmlformats.org/drawingml/2006/main">
            <a:r>
              <a:t>D:/echo-work/flair-perfumes/public/demo/locations/harwin-store.webp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DISCOVERY — Ask: “Which costs you more time today: finding stock, buying the right quantities, managing channels, or closing the books?” Use the answer to emphasize the relevant branch. These are intended benefits of the completed ERP, not measured results or guarantees. Transition: “Nine connected modules support those outcomes.”</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D:/echo-work/flair-perfumes/ERP_Modules.pdf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business layers. Core Setup and Product &amp; Inventory provide the foundation. POS, purchasing, wholesale and online operations feed reporting and finance. Forecasting depends on reliable inventory and sales-channel history. Do not call the current sidebar a completed nine-module system.</a:t>
            </a:r>
          </a:p>
          <a:p xmlns:a="http://schemas.openxmlformats.org/drawingml/2006/main">
            <a:r>
              <a:t/>
            </a:r>
          </a:p>
          <a:p xmlns:a="http://schemas.openxmlformats.org/drawingml/2006/main">
            <a:r>
              <a:t>[Sources]</a:t>
            </a:r>
          </a:p>
          <a:p xmlns:a="http://schemas.openxmlformats.org/drawingml/2006/main">
            <a:r>
              <a:t>D:/echo-work/flair-perfumes/ERP_Modules.pdf (pages 4–6, 21)</a:t>
            </a:r>
          </a:p>
          <a:p xmlns:a="http://schemas.openxmlformats.org/drawingml/2006/main">
            <a:r>
              <a:t>D:/echo-work/flair-perfumes/types/core-setup.ts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CRITICAL POSITIONING — The latest README and code supersede the old Module 01-only build specification. Authentication, inventory and POS are server-backed in a local single-process JSON adapter. Core Setup staff, location and policy screens use separate browser-local demo data; they do not update real login accounts or synchronize location edits into inventory. Real enforced roles are administered through Login Access. Modules 04–09 are roadmap items. Production infrastructure, durable transactional database, backups, identity hardening and security review remain rollout work. Keep this explanation short in the meeting, expand only when asked.</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D:/echo-work/flair-perfumes/components/shell/app-shell.tsx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left-to-right on the top row, then left-to-right on the lower row. This is the full intended lifecycle. Today’s live example proves inventory-to-retail-to-return-to-shift-close; purchase orders, B2B, channels, financial posting and forecast planning are future modules. Transition to the first live capability: foundation and access.</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D:/echo-work/flair-perfumes/ERP_Modules.pdf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/core-setup, /core-setup/stores-warehouses, then /core-setup/login-access. Spend only a minute on configuration. SAY: “We start by organizing the business and deciding who can do what.” PROOF: Login Access has the actual authentication roles. If you show Users &amp; Roles or Permissions, state they are policy design demonstrations, not the authorization engine. Optional prepared cashier login demonstrates restricted navigation; never change permissions during the meeting. Benefit: clearer responsibility and appropriate data access.</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D:/echo-work/flair-perfumes/components/auth/accounts-page.tsx</a:t>
            </a:r>
          </a:p>
          <a:p xmlns:a="http://schemas.openxmlformats.org/drawingml/2006/main">
            <a:r>
              <a:t>D:/echo-work/flair-perfumes/components/core-setup/locations-page.tsx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/product-inventory/products. Search SKU 10000, Lattafa Yara Pink; open its detail/edit view. Point to SKU, barcode, size and price levels. Switch to /product-inventory/pricing if pricing is a client priority. SAY: “One product record serves the whole operation.” No need to edit a price live. Catalog seed contains 26 illustrative products, not the client’s full database. Do not claim a completed legacy import. Current stock and prices may differ after prior demos.</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D:/echo-work/flair-perfumes/data/inventory.ts</a:t>
            </a:r>
          </a:p>
          <a:p xmlns:a="http://schemas.openxmlformats.org/drawingml/2006/main">
            <a:r>
              <a:t>D:/echo-work/flair-perfumes/tmp/presentation-flair/catalog.png (local UI capture, 2026-09-02)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/product-inventory/stock, filter SKU 10000 and the Harwin Flagship location. Record baseline on-hand and available values. Go to /product-inventory/operations, create a receipt for 5 units of the same SKU at Harwin, use an illustrative cost, save draft then post. Return to stock: on-hand should rise by 5, assuming no concurrent activity. Optional transfer: 2 units from Harwin to Houston Main Warehouse, then inspect both balances. Drafts do not affect stock; posted documents are immutable. Supplier and bill fields are receipt references, not vendor payables. Held POS carts do not reserve inventory.</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D:/echo-work/flair-perfumes/components/inventory/operation-dialog.tsx</a:t>
            </a:r>
          </a:p>
          <a:p xmlns:a="http://schemas.openxmlformats.org/drawingml/2006/main">
            <a:r>
              <a:t>D:/echo-work/flair-perfumes/types/inventory.ts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/retail-pos. Preflight must confirm the tax configuration and an open cashier shift at the intended location. Attach a clearly labeled demo customer before sale if you will show store credit. Enter SKU 10000, sell 2 units, review the actual total, choose cash and confirm the demo tender. Only proceed once the server returns a confirmed receipt. Open /retail-pos/sales to retrieve it, then verify stock reduced by 2. SAY: “The receipt and stock movement are part of the same posted transaction.” Card and other external payments are recorded references only; Flair does not process a charge. Use the real on-screen tax/total, never an invented amount.</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D:/echo-work/flair-perfumes/components/pos/terminal-page.tsx</a:t>
            </a:r>
          </a:p>
          <a:p xmlns:a="http://schemas.openxmlformats.org/drawingml/2006/main">
            <a:r>
              <a:t>D:/echo-work/flair-perfumes/tmp/presentation-flair/pos.png (local UI capture, 2026-09-02)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/retail-pos/returns as an administrator or POS manager. Find the 2-unit demo sale, return 1 unit, choose restock=true and store credit for the attached demo customer. Check /retail-pos/customers: customer credit rises by the allocated original amount; inventory rises by 1. A manager must use the original invoice and cannot return more than sold. Exchanges are a separate sale after a credit return, not an atomic exchange operation. Non-restocked goods do not add to sellable stock. Do not promise a full repair/quarantine workflow today. Accounting customer/vendor ledgers for all channels arrive in later modules.</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D:/echo-work/flair-perfumes/components/pos/management-pages.tsx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/retail-pos/shifts. Confirm you are on the disposable demo shift before closing it. Review expected cash, enter the physical demo count and supply a reason if there is a variance. Open /retail-pos/reconciliation and inspect the closed record and export. SAY: “Managers see a recorded close, not a changing estimate.” Closed shifts cannot accept new sales or returns. Card-provider settlements are external and are not reconciled by this current cash report. Complete returns before closing the shift.</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D:/echo-work/flair-perfumes/components/pos/management-pages.tsx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roadmap modules. Purchasing scope in the proposal includes POs, goods received, vendor prices/terms/bills, history, suggested reorder quantities and vendor credit adjustments. The supplied PDF identifies Module 05 and the reseller network but does not include a dedicated detailed B2B page. Self-service ordering is named in the implemented roadmap sidebar; finer B2B workflows shown here are proposed for validation, not agreed commitments. Ask about minimum order quantities, credit limits, approvals and negotiated pricing.</a:t>
            </a:r>
          </a:p>
          <a:p xmlns:a="http://schemas.openxmlformats.org/drawingml/2006/main">
            <a:r>
              <a:t/>
            </a:r>
          </a:p>
          <a:p xmlns:a="http://schemas.openxmlformats.org/drawingml/2006/main">
            <a:r>
              <a:t>[Sources]</a:t>
            </a:r>
          </a:p>
          <a:p xmlns:a="http://schemas.openxmlformats.org/drawingml/2006/main">
            <a:r>
              <a:t>D:/echo-work/flair-perfumes/ERP_Modules.pdf (pages 2, 4, 11)</a:t>
            </a:r>
          </a:p>
          <a:p xmlns:a="http://schemas.openxmlformats.org/drawingml/2006/main">
            <a:r>
              <a:t>D:/echo-work/flair-perfumes/components/shell/app-shell.tsx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target scope from the proposal, not evidence of live integrations. Do not assert current API capability, instant synchronization or universal approval. Each seller account, region, platform permission, API behavior and sync cadence must be validated during discovery. Where direct access is restricted, agree a controlled import/export approach and its limitations. The dedicated e-commerce warehouse checks stock first, with main-warehouse fallback according to agreed allocation rules. Ask which channel should be connected first and who owns seller access.</a:t>
            </a:r>
          </a:p>
          <a:p xmlns:a="http://schemas.openxmlformats.org/drawingml/2006/main">
            <a:r>
              <a:t/>
            </a:r>
          </a:p>
          <a:p xmlns:a="http://schemas.openxmlformats.org/drawingml/2006/main">
            <a:r>
              <a:t>[Sources]</a:t>
            </a:r>
          </a:p>
          <a:p xmlns:a="http://schemas.openxmlformats.org/drawingml/2006/main">
            <a:r>
              <a:t>D:/echo-work/flair-perfumes/ERP_Modules.pdf (pages 12–13, 20)</a:t>
            </a:r>
          </a:p>
          <a:p xmlns:a="http://schemas.openxmlformats.org/drawingml/2006/main">
            <a:r>
              <a:t>D:/echo-work/flair-perfumes/README.md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proposal labels this formula Net Profit. Present it more precisely as order contribution because company overheads, financing and income tax may sit outside it. It is not the company’s final net income. Module 07 is planned and depends on all operational sales/purchase feeds; profitability requires reliable fee, shipping and cost capture. Map payout timing and each channel’s cost fields before defining dashboards. No illustrative revenue or ROI claims are used.</a:t>
            </a:r>
          </a:p>
          <a:p xmlns:a="http://schemas.openxmlformats.org/drawingml/2006/main">
            <a:r>
              <a:t/>
            </a:r>
          </a:p>
          <a:p xmlns:a="http://schemas.openxmlformats.org/drawingml/2006/main">
            <a:r>
              <a:t>[Sources]</a:t>
            </a:r>
          </a:p>
          <a:p xmlns:a="http://schemas.openxmlformats.org/drawingml/2006/main">
            <a:r>
              <a:t>D:/echo-work/flair-perfumes/ERP_Modules.pdf (pages 14–15)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this as the flagship proposed capability. SAY: “The goal is to turn recurring spreadsheet review into a ranked buying recommendation your team can inspect.” Inputs must include sufficient sales history, stock accuracy, lead-time assumptions and relevant channel feeds. Keep buyer review in the loop; do not promise zero manual work, perfect forecasts or guaranteed savings. Agree how to evaluate recommendations and measure forecast error before production use. Depends on Modules 02 and 06 in the supplied scope.</a:t>
            </a:r>
          </a:p>
          <a:p xmlns:a="http://schemas.openxmlformats.org/drawingml/2006/main">
            <a:r>
              <a:t/>
            </a:r>
          </a:p>
          <a:p xmlns:a="http://schemas.openxmlformats.org/drawingml/2006/main">
            <a:r>
              <a:t>[Sources]</a:t>
            </a:r>
          </a:p>
          <a:p xmlns:a="http://schemas.openxmlformats.org/drawingml/2006/main">
            <a:r>
              <a:t>D:/echo-work/flair-perfumes/ERP_Modules.pdf (pages 6–7, 16)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accounting capabilities are planned. The intended result is operational transactions feeding agreed accounting mappings. Scope includes basic payroll entries, not a complete payroll service. PDCs cover customer and vendor checks, due/clearance dates, pending/due-soon/cleared/bounced statuses and reminders. Confirm chart of accounts, opening balances, tax rules, cutoffs and accounting ownership with the client’s finance lead. POS customer store credit today is not yet a full accounts-receivable ledger.</a:t>
            </a:r>
          </a:p>
          <a:p xmlns:a="http://schemas.openxmlformats.org/drawingml/2006/main">
            <a:r>
              <a:t/>
            </a:r>
          </a:p>
          <a:p xmlns:a="http://schemas.openxmlformats.org/drawingml/2006/main">
            <a:r>
              <a:t>[Sources]</a:t>
            </a:r>
          </a:p>
          <a:p xmlns:a="http://schemas.openxmlformats.org/drawingml/2006/main">
            <a:r>
              <a:t>D:/echo-work/flair-perfumes/ERP_Modules.pdf (pages 17–19)</a:t>
            </a:r>
          </a:p>
          <a:p xmlns:a="http://schemas.openxmlformats.org/drawingml/2006/main">
            <a:r>
              <a:t>D:/echo-work/flair-perfumes/README.md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nine-module platform is the source proposal scope. The handover package is our proposed completion checklist and must be confirmed in the implementation agreement: configuration, agreed migration, integrations, acceptance evidence, training, guides, administrator access and tested recovery procedures. Do not promise unlimited support, hosting, source-code/IP ownership or a maintenance SLA without agreement. The proposal states that post-implementation maintenance and support are quoted separately.</a:t>
            </a:r>
          </a:p>
          <a:p xmlns:a="http://schemas.openxmlformats.org/drawingml/2006/main">
            <a:r>
              <a:t/>
            </a:r>
          </a:p>
          <a:p xmlns:a="http://schemas.openxmlformats.org/drawingml/2006/main">
            <a:r>
              <a:t>[Sources]</a:t>
            </a:r>
          </a:p>
          <a:p xmlns:a="http://schemas.openxmlformats.org/drawingml/2006/main">
            <a:r>
              <a:t>D:/echo-work/flair-perfumes/ERP_Modules.pdf (pages 4, 21–22)</a:t>
            </a:r>
          </a:p>
          <a:p xmlns:a="http://schemas.openxmlformats.org/drawingml/2006/main">
            <a:r>
              <a:t>D:/echo-work/flair-perfumes/README.md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phases reproduce the source proposal. Current demo covers portions of Phase 1; purchasing and production readiness remain to be completed. Recommend a controlled pilot, migration rehearsal, reconciled opening balances, trained users and business sign-off before broad rollout. Agree a rollback/recovery procedure. Do not invent weeks, launch dates, pricing or percentages. Client prerequisites include data, access and business process decisions.</a:t>
            </a:r>
          </a:p>
          <a:p xmlns:a="http://schemas.openxmlformats.org/drawingml/2006/main">
            <a:r>
              <a:t/>
            </a:r>
          </a:p>
          <a:p xmlns:a="http://schemas.openxmlformats.org/drawingml/2006/main">
            <a:r>
              <a:t>[Sources]</a:t>
            </a:r>
          </a:p>
          <a:p xmlns:a="http://schemas.openxmlformats.org/drawingml/2006/main">
            <a:r>
              <a:t>D:/echo-work/flair-perfumes/ERP_Modules.pdf (pages 4, 21–22)</a:t>
            </a:r>
          </a:p>
          <a:p xmlns:a="http://schemas.openxmlformats.org/drawingml/2006/main">
            <a:r>
              <a:t>D:/echo-work/flair-perfumes/README.md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qualitative expected benefits and proposed measures, not achieved results. Capture a baseline before the pilot, agree target improvements with the client and review after an agreed period. Ask: “Which two measures would make this a clear success for you?” Do not quote invented savings or guaranteed ROI.</a:t>
            </a:r>
          </a:p>
          <a:p xmlns:a="http://schemas.openxmlformats.org/drawingml/2006/main">
            <a:r>
              <a:t/>
            </a:r>
          </a:p>
          <a:p xmlns:a="http://schemas.openxmlformats.org/drawingml/2006/main">
            <a:r>
              <a:t>[Sources]</a:t>
            </a:r>
          </a:p>
          <a:p xmlns:a="http://schemas.openxmlformats.org/drawingml/2006/main">
            <a:r>
              <a:t>D:/echo-work/flair-perfumes/ERP_Modules.pdf (pages 2, 7, 14–16)</a:t>
            </a:r>
          </a:p>
          <a:p xmlns:a="http://schemas.openxmlformats.org/drawingml/2006/main">
            <a:r>
              <a:t>D:/echo-work/flair-perfumes/README.md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 Say: “You have seen the operational foundation and the path to a complete ERP. Let’s choose the pilot location and the first outcome we will prove together.” Capture four decisions: priority process, pilot owner/location, data/access owner and acceptance criteria. Then agree the next discovery session. Avoid committing to dates or commercial terms before scope is confirmed. Client-facing presentation ends here. The remaining slides are a presenter playbook and are hidden from normal slideshow playback.</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D:/echo-work/flair-perfumes/ERP_Modules.pdf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slideshow on slide 5 while introducing the live demo, then switch to the app. Slides 6–11 are supporting explanations and screenshot fallback; do not narrate every slide and then repeat it in the app. Return at slide 12. If time is short, show a 2-unit sale, 1-unit return and stock change; skip transfer and optional pricing views. Customer-facing sequence ends at slide 20.</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D:/echo-work/flair-perfumes/ERP_Modules.pdf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project location: D:/echo-work/flair-perfumes. Local app: http://localhost:3000. Use an authorized prepared administrator/POS manager session and a separate prepared cashier session only if needed. Do not put credentials on screen or in the deck. The demo modifies stock, sales, credit and shifts: rehearse in a disposable data directory, not business inventory. FLAIR_DATA_DIR can select an isolated persistent folder for a separately prepared instance. Do not reset the live app during the meeting. Stock seed is illustrative; use the observed baseline. Complete setup and verify stock, tax configuration and correct location before admitting the client. Hardware compatibility and actual printer/scanner behavior must be tested on the intended device.</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D:/echo-work/flair-perfumes/data/inventory.ts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PATHS:</a:t>
            </a:r>
          </a:p>
          <a:p xmlns:a="http://schemas.openxmlformats.org/drawingml/2006/main">
            <a:r>
              <a:t>1 /core-setup and /core-setup/login-access. Optional /core-setup/stores-warehouses. Explain browser-local setup limitations when relevant.</a:t>
            </a:r>
          </a:p>
          <a:p xmlns:a="http://schemas.openxmlformats.org/drawingml/2006/main">
            <a:r>
              <a:t>2 /product-inventory/products. Use SKU 10000 / Lattafa Yara Pink; do not rely on product row position.</a:t>
            </a:r>
          </a:p>
          <a:p xmlns:a="http://schemas.openxmlformats.org/drawingml/2006/main">
            <a:r>
              <a:t>3 /product-inventory/stock. Filter product and Harwin; record actual onHand and available values.</a:t>
            </a:r>
          </a:p>
          <a:p xmlns:a="http://schemas.openxmlformats.org/drawingml/2006/main">
            <a:r>
              <a:t>4 /product-inventory/operations. Choose Stock receipt, Harwin, one line, SKU 10000, quantity 5, an explicitly illustrative unit cost and a DEMO reference. Save then post. Confirm stock +5 and inspect movement history. Do not describe receipt supplier fields as a PO or payable.</a:t>
            </a:r>
          </a:p>
          <a:p xmlns:a="http://schemas.openxmlformats.org/drawingml/2006/main">
            <a:r>
              <a:t>Optional: transfer 2 units to Houston Main Warehouse. If performed, adjust the later expected Harwin stock by -2. Avoid this optional step when time is tight.</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D:/echo-work/flair-perfumes/components/inventory/operation-dialog.tsx</a:t>
            </a:r>
          </a:p>
          <a:p xmlns:a="http://schemas.openxmlformats.org/drawingml/2006/main">
            <a:r>
              <a:t>D:/echo-work/flair-perfumes/data/inventory.ts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PATHS:</a:t>
            </a:r>
          </a:p>
          <a:p xmlns:a="http://schemas.openxmlformats.org/drawingml/2006/main">
            <a:r>
              <a:t>5 /retail-pos then /retail-pos/sales. Ensure configured tax and an open shift. Attach the labeled demo customer first. Enter 10000, quantity 2. Use current actual price and tax, not a preset total. Record cash only in the disposable demo; await confirmed sale.</a:t>
            </a:r>
          </a:p>
          <a:p xmlns:a="http://schemas.openxmlformats.org/drawingml/2006/main">
            <a:r>
              <a:t>6 /retail-pos/returns. Use manager/admin, select the original receipt and quantity 1. Restock true, issue store credit. Returns use original price/discount/tax allocation.</a:t>
            </a:r>
          </a:p>
          <a:p xmlns:a="http://schemas.openxmlformats.org/drawingml/2006/main">
            <a:r>
              <a:t>7 /retail-pos/customers. Check customer credit and history. Optional exchange: redeem part of the credit in a separate sale; if you do, recompute expected stock and mention it.</a:t>
            </a:r>
          </a:p>
          <a:p xmlns:a="http://schemas.openxmlformats.org/drawingml/2006/main">
            <a:r>
              <a:t>8 /retail-pos/shifts then /retail-pos/reconciliation. Close only the demo shift after completing sales and returns. Expected cash includes the full cash sale when the return is store credit, because no cash refund left the drawer. Show the frozen report and export.</a:t>
            </a:r>
          </a:p>
          <a:p xmlns:a="http://schemas.openxmlformats.org/drawingml/2006/main">
            <a:r>
              <a:t>Numeric proof: baseline B → B+5 after receipt → B+3 after 2-unit sale → B+4 after restocking 1. This proves the transaction chain without inventing a starting quantity.</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D:/echo-work/flair-perfumes/components/pos/terminal-page.tsx</a:t>
            </a:r>
          </a:p>
          <a:p xmlns:a="http://schemas.openxmlformats.org/drawingml/2006/main">
            <a:r>
              <a:t>D:/echo-work/flair-perfumes/components/pos/management-pages.tsx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DETAIL: The current implementation supports an active-session cash-only pending queue if server confirmation fails. It is not an installable offline-first app. Initial load, external tenders and store credit need connection; stock/price/tax changes or a closed shift can conflict. Pending commands are not final receipts. Do not collect payment or release goods until confirmed; do not clear browser storage with pending sales.</a:t>
            </a:r>
          </a:p>
          <a:p xmlns:a="http://schemas.openxmlformats.org/drawingml/2006/main">
            <a:r>
              <a:t>PAYMENTS: Flair records externally processed card references and never collects card details or charges a card.</a:t>
            </a:r>
          </a:p>
          <a:p xmlns:a="http://schemas.openxmlformats.org/drawingml/2006/main">
            <a:r>
              <a:t>ACCESS: Core Setup staff/policy editors are demo configuration; Login Access controls real roles.</a:t>
            </a:r>
          </a:p>
          <a:p xmlns:a="http://schemas.openxmlformats.org/drawingml/2006/main">
            <a:r>
              <a:t>PRODUCTION: Current JSON persistence is a local single-process adapter. A production plan needs transactional storage, recovery, identity/security work and operational acceptance.</a:t>
            </a:r>
          </a:p>
          <a:p xmlns:a="http://schemas.openxmlformats.org/drawingml/2006/main">
            <a:r>
              <a:t>COMMERCIAL: No dates, pricing or support SLA are confirmed in this deck.</a:t>
            </a:r>
          </a:p>
          <a:p xmlns:a="http://schemas.openxmlformats.org/drawingml/2006/main">
            <a:r>
              <a:t>FALLBACK: Do not repeatedly click payment/post. Inspect Sales History first if confirmation is uncertain. Present screenshot slides, state what was and was not confirmed, and agree follow-up.</a:t>
            </a:r>
          </a:p>
          <a:p xmlns:a="http://schemas.openxmlformats.org/drawingml/2006/main">
            <a:r>
              <a:t>CLOSE: “Which location should we pilot, who will own the data, and what result should we prove first?”</a:t>
            </a:r>
          </a:p>
          <a:p xmlns:a="http://schemas.openxmlformats.org/drawingml/2006/main">
            <a:r>
              <a:t/>
            </a:r>
          </a:p>
          <a:p xmlns:a="http://schemas.openxmlformats.org/drawingml/2006/main">
            <a:r>
              <a:t>[Sources]</a:t>
            </a:r>
          </a:p>
          <a:p xmlns:a="http://schemas.openxmlformats.org/drawingml/2006/main">
            <a:r>
              <a:t>D:/echo-work/flair-perfumes/README.md</a:t>
            </a:r>
          </a:p>
          <a:p xmlns:a="http://schemas.openxmlformats.org/drawingml/2006/main">
            <a:r>
              <a:t>D:/echo-work/flair-perfumes/ERP_Modules.pdf (page 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ddbb6b75fd49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50bbf4d502406c" /><Relationship Type="http://schemas.openxmlformats.org/officeDocument/2006/relationships/slideLayout" Target="/ppt/slideLayouts/slideLayout1.xml" Id="R01b5be51e0714f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b5be51e0714f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9ccf6565d44a17" /><Relationship Type="http://schemas.openxmlformats.org/officeDocument/2006/relationships/image" Target="/ppt/media/image.bin" Id="Rf3c358557234496a" /><Relationship Type="http://schemas.openxmlformats.org/officeDocument/2006/relationships/image" Target="/ppt/media/image.png" Id="Rb436478decd1487c" /><Relationship Type="http://schemas.openxmlformats.org/officeDocument/2006/relationships/notesSlide" Target="/ppt/notesSlides/notesSlide1.xml" Id="R515a3cf391a943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8cce57159b4cd1" /><Relationship Type="http://schemas.openxmlformats.org/officeDocument/2006/relationships/notesSlide" Target="/ppt/notesSlides/notesSlide2.xml" Id="Rcb7d9780647341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16a5080db44c55" /><Relationship Type="http://schemas.openxmlformats.org/officeDocument/2006/relationships/notesSlide" Target="/ppt/notesSlides/notesSlide3.xml" Id="R5fbb1666a08447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4d3c29397f476c" /><Relationship Type="http://schemas.openxmlformats.org/officeDocument/2006/relationships/notesSlide" Target="/ppt/notesSlides/notesSlide4.xml" Id="Rbcccc42e183e44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d7016e8c6a4e37" /><Relationship Type="http://schemas.openxmlformats.org/officeDocument/2006/relationships/notesSlide" Target="/ppt/notesSlides/notesSlide5.xml" Id="Rc5c98a54643244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3e93c020034ef4" /><Relationship Type="http://schemas.openxmlformats.org/officeDocument/2006/relationships/notesSlide" Target="/ppt/notesSlides/notesSlide6.xml" Id="Rcad381352fd945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99583fc446424f" /><Relationship Type="http://schemas.openxmlformats.org/officeDocument/2006/relationships/image" Target="/ppt/media/image.jpeg" Id="R4a53816b465a4c36" /><Relationship Type="http://schemas.openxmlformats.org/officeDocument/2006/relationships/notesSlide" Target="/ppt/notesSlides/notesSlide7.xml" Id="R16fb71778b114c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2adbf99ecb3417c" /><Relationship Type="http://schemas.openxmlformats.org/officeDocument/2006/relationships/notesSlide" Target="/ppt/notesSlides/notesSlide8.xml" Id="R1d9042e2158b49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2043ebbe4a43d4" /><Relationship Type="http://schemas.openxmlformats.org/officeDocument/2006/relationships/image" Target="/ppt/media/image2.jpeg" Id="R091d522b8ca244fb" /><Relationship Type="http://schemas.openxmlformats.org/officeDocument/2006/relationships/notesSlide" Target="/ppt/notesSlides/notesSlide9.xml" Id="R2e561ff6af8e42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0c5e93ddbb473d" /><Relationship Type="http://schemas.openxmlformats.org/officeDocument/2006/relationships/notesSlide" Target="/ppt/notesSlides/notesSlide10.xml" Id="R4a057b172d244d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8e0ab1d18594c27" /><Relationship Type="http://schemas.openxmlformats.org/officeDocument/2006/relationships/notesSlide" Target="/ppt/notesSlides/notesSlide11.xml" Id="Rd671216fa16b42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e8ce5f834e6489b" /><Relationship Type="http://schemas.openxmlformats.org/officeDocument/2006/relationships/notesSlide" Target="/ppt/notesSlides/notesSlide12.xml" Id="R903cfeec3e1740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de22de915d4191" /><Relationship Type="http://schemas.openxmlformats.org/officeDocument/2006/relationships/notesSlide" Target="/ppt/notesSlides/notesSlide13.xml" Id="R445cbf4ef92a4c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256a1f73e154922" /><Relationship Type="http://schemas.openxmlformats.org/officeDocument/2006/relationships/notesSlide" Target="/ppt/notesSlides/notesSlide14.xml" Id="R45e4bc663ac044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2ec904bc07d443d" /><Relationship Type="http://schemas.openxmlformats.org/officeDocument/2006/relationships/notesSlide" Target="/ppt/notesSlides/notesSlide15.xml" Id="R9c23c403da494a6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edd645c419742be" /><Relationship Type="http://schemas.openxmlformats.org/officeDocument/2006/relationships/notesSlide" Target="/ppt/notesSlides/notesSlide16.xml" Id="Re38b272146f74b2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5aa988c7d4b4821" /><Relationship Type="http://schemas.openxmlformats.org/officeDocument/2006/relationships/notesSlide" Target="/ppt/notesSlides/notesSlide17.xml" Id="R14a859e5ccd04eb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d778c5b7aaa43d7" /><Relationship Type="http://schemas.openxmlformats.org/officeDocument/2006/relationships/notesSlide" Target="/ppt/notesSlides/notesSlide18.xml" Id="R855c874b62ee4f3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d51d5fadc5f4e7a" /><Relationship Type="http://schemas.openxmlformats.org/officeDocument/2006/relationships/notesSlide" Target="/ppt/notesSlides/notesSlide19.xml" Id="R64b10fa020564a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0ec54839ec14d5a" /><Relationship Type="http://schemas.openxmlformats.org/officeDocument/2006/relationships/notesSlide" Target="/ppt/notesSlides/notesSlide20.xml" Id="R6f40ca89b2e141f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082a0188f8148b6" /><Relationship Type="http://schemas.openxmlformats.org/officeDocument/2006/relationships/notesSlide" Target="/ppt/notesSlides/notesSlide21.xml" Id="R96d9a2a520544d3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0f579aac54d4e9c" /><Relationship Type="http://schemas.openxmlformats.org/officeDocument/2006/relationships/notesSlide" Target="/ppt/notesSlides/notesSlide22.xml" Id="R2fe8529d35a24a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9438da476234571" /><Relationship Type="http://schemas.openxmlformats.org/officeDocument/2006/relationships/notesSlide" Target="/ppt/notesSlides/notesSlide23.xml" Id="Ra90477475189475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fbb99c85f4a472d" /><Relationship Type="http://schemas.openxmlformats.org/officeDocument/2006/relationships/notesSlide" Target="/ppt/notesSlides/notesSlide24.xml" Id="R9dc503e1239f4dc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7ef20fcc80c4679" /><Relationship Type="http://schemas.openxmlformats.org/officeDocument/2006/relationships/notesSlide" Target="/ppt/notesSlides/notesSlide25.xml" Id="R7003fcd6a36546a7" /></Relationships>
</file>

<file path=ppt/slides/slide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3c358557234496a"/>
          <a:srcRect xmlns:a="http://schemas.openxmlformats.org/drawingml/2006/main" l="28472" t="0" r="28472" b="0"/>
          <a:stretch xmlns:a="http://schemas.openxmlformats.org/drawingml/2006/main">
            <a:fillRect l="0" t="0" r="0" b="0"/>
          </a:stretch>
        </p:blipFill>
        <p:spPr>
          <a:xfrm xmlns:a="http://schemas.openxmlformats.org/drawingml/2006/main">
            <a:off x="9334500" y="0"/>
            <a:ext cx="5905500" cy="85725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436478decd1487c"/>
          <a:stretch xmlns:a="http://schemas.openxmlformats.org/drawingml/2006/main"/>
        </p:blipFill>
        <p:spPr>
          <a:xfrm xmlns:a="http://schemas.openxmlformats.org/drawingml/2006/main">
            <a:off x="685800" y="460312"/>
            <a:ext cx="3238500" cy="1679702"/>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A9A8BC3C-6E30-4940-B2AC-E8073A0866AF}"/>
              </a:ext>
            </a:extLst>
          </p:cNvPr>
          <p:cNvSpPr>
            <a:spLocks xmlns:a="http://schemas.openxmlformats.org/drawingml/2006/main" noGrp="1"/>
          </p:cNvSpPr>
          <p:nvPr/>
        </p:nvSpPr>
        <p:spPr>
          <a:xfrm xmlns:a="http://schemas.openxmlformats.org/drawingml/2006/main">
            <a:off x="685800" y="2905125"/>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3716D"/>
                </a:solidFill>
                <a:latin typeface="Aptos"/>
                <a:ea typeface="Aptos"/>
                <a:cs typeface="Aptos"/>
              </a:defRPr>
            </a:pPr>
            <a:r>
              <a:rPr sz="1875" b="1">
                <a:solidFill>
                  <a:srgbClr val="23716D"/>
                </a:solidFill>
                <a:latin typeface="Aptos"/>
                <a:ea typeface="Aptos"/>
                <a:cs typeface="Aptos"/>
              </a:rPr>
              <a:t>A CONNECTED FUTURE FOR FLAIR</a:t>
            </a:r>
          </a:p>
        </p:txBody>
      </p:sp>
      <p:sp>
        <p:nvSpPr>
          <p:cNvPr id="4" name="text-3">
            <a:extLst xmlns:a="http://schemas.openxmlformats.org/drawingml/2006/main">
              <a:ext uri="{FF2B5EF4-FFF2-40B4-BE49-F238E27FC236}">
                <a16:creationId xmlns:a16="http://schemas.microsoft.com/office/drawing/2014/main" id="{6089543D-11BB-4388-99B4-35B5BC915982}"/>
              </a:ext>
            </a:extLst>
          </p:cNvPr>
          <p:cNvSpPr>
            <a:spLocks xmlns:a="http://schemas.openxmlformats.org/drawingml/2006/main" noGrp="1"/>
          </p:cNvSpPr>
          <p:nvPr/>
        </p:nvSpPr>
        <p:spPr>
          <a:xfrm xmlns:a="http://schemas.openxmlformats.org/drawingml/2006/main">
            <a:off x="685800" y="3562350"/>
            <a:ext cx="857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03D43"/>
                </a:solidFill>
                <a:latin typeface="Aptos"/>
                <a:ea typeface="Aptos"/>
                <a:cs typeface="Aptos"/>
              </a:defRPr>
            </a:pPr>
            <a:r>
              <a:rPr sz="5700" b="1">
                <a:solidFill>
                  <a:srgbClr val="103D43"/>
                </a:solidFill>
                <a:latin typeface="Aptos"/>
                <a:ea typeface="Aptos"/>
                <a:cs typeface="Aptos"/>
              </a:rPr>
              <a:t>One business.</a:t>
            </a:r>
          </a:p>
          <a:p xmlns:a="http://schemas.openxmlformats.org/drawingml/2006/main">
            <a:pPr algn="l">
              <a:defRPr sz="5700" b="1">
                <a:solidFill>
                  <a:srgbClr val="103D43"/>
                </a:solidFill>
                <a:latin typeface="Aptos"/>
                <a:ea typeface="Aptos"/>
                <a:cs typeface="Aptos"/>
              </a:defRPr>
            </a:pPr>
            <a:r>
              <a:rPr sz="5700" b="1">
                <a:solidFill>
                  <a:srgbClr val="103D43"/>
                </a:solidFill>
                <a:latin typeface="Aptos"/>
                <a:ea typeface="Aptos"/>
                <a:cs typeface="Aptos"/>
              </a:rPr>
              <a:t>One connected ERP.</a:t>
            </a:r>
          </a:p>
        </p:txBody>
      </p:sp>
      <p:sp>
        <p:nvSpPr>
          <p:cNvPr id="5" name="text-4">
            <a:extLst xmlns:a="http://schemas.openxmlformats.org/drawingml/2006/main">
              <a:ext uri="{FF2B5EF4-FFF2-40B4-BE49-F238E27FC236}">
                <a16:creationId xmlns:a16="http://schemas.microsoft.com/office/drawing/2014/main" id="{3A23DFDE-5E13-46BB-99C7-0B5FAA1542ED}"/>
              </a:ext>
            </a:extLst>
          </p:cNvPr>
          <p:cNvSpPr>
            <a:spLocks xmlns:a="http://schemas.openxmlformats.org/drawingml/2006/main" noGrp="1"/>
          </p:cNvSpPr>
          <p:nvPr/>
        </p:nvSpPr>
        <p:spPr>
          <a:xfrm xmlns:a="http://schemas.openxmlformats.org/drawingml/2006/main">
            <a:off x="685800" y="593407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597071"/>
                </a:solidFill>
                <a:latin typeface="Aptos"/>
                <a:ea typeface="Aptos"/>
                <a:cs typeface="Aptos"/>
              </a:defRPr>
            </a:pPr>
            <a:r>
              <a:rPr sz="2550" b="0">
                <a:solidFill>
                  <a:srgbClr val="597071"/>
                </a:solidFill>
                <a:latin typeface="Aptos"/>
                <a:ea typeface="Aptos"/>
                <a:cs typeface="Aptos"/>
              </a:rPr>
              <a:t>Retail • Wholesale • E-commerce</a:t>
            </a:r>
          </a:p>
        </p:txBody>
      </p:sp>
      <p:sp>
        <p:nvSpPr>
          <p:cNvPr id="6" name="rule-5">
            <a:extLst xmlns:a="http://schemas.openxmlformats.org/drawingml/2006/main">
              <a:ext uri="{FF2B5EF4-FFF2-40B4-BE49-F238E27FC236}">
                <a16:creationId xmlns:a16="http://schemas.microsoft.com/office/drawing/2014/main" id="{8AB341DD-70F8-4988-B9FB-5EE8825FB729}"/>
              </a:ext>
            </a:extLst>
          </p:cNvPr>
          <p:cNvSpPr>
            <a:spLocks xmlns:a="http://schemas.openxmlformats.org/drawingml/2006/main" noGrp="1"/>
          </p:cNvSpPr>
          <p:nvPr/>
        </p:nvSpPr>
        <p:spPr>
          <a:xfrm xmlns:a="http://schemas.openxmlformats.org/drawingml/2006/main">
            <a:off x="685800" y="7010400"/>
            <a:ext cx="790575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7" name="text-6">
            <a:extLst xmlns:a="http://schemas.openxmlformats.org/drawingml/2006/main">
              <a:ext uri="{FF2B5EF4-FFF2-40B4-BE49-F238E27FC236}">
                <a16:creationId xmlns:a16="http://schemas.microsoft.com/office/drawing/2014/main" id="{AB6AF4AF-189C-488C-A9C2-7158D61AC9E7}"/>
              </a:ext>
            </a:extLst>
          </p:cNvPr>
          <p:cNvSpPr>
            <a:spLocks xmlns:a="http://schemas.openxmlformats.org/drawingml/2006/main" noGrp="1"/>
          </p:cNvSpPr>
          <p:nvPr/>
        </p:nvSpPr>
        <p:spPr>
          <a:xfrm xmlns:a="http://schemas.openxmlformats.org/drawingml/2006/main">
            <a:off x="685800" y="7248525"/>
            <a:ext cx="7905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3D43"/>
                </a:solidFill>
                <a:latin typeface="Aptos"/>
                <a:ea typeface="Aptos"/>
                <a:cs typeface="Aptos"/>
              </a:defRPr>
            </a:pPr>
            <a:r>
              <a:rPr sz="2100" b="0">
                <a:solidFill>
                  <a:srgbClr val="103D43"/>
                </a:solidFill>
                <a:latin typeface="Aptos"/>
                <a:ea typeface="Aptos"/>
                <a:cs typeface="Aptos"/>
              </a:rPr>
              <a:t>Platform vision &amp; live demonstration</a:t>
            </a:r>
          </a:p>
        </p:txBody>
      </p:sp>
      <p:sp>
        <p:nvSpPr>
          <p:cNvPr id="8" name="text-7">
            <a:extLst xmlns:a="http://schemas.openxmlformats.org/drawingml/2006/main">
              <a:ext uri="{FF2B5EF4-FFF2-40B4-BE49-F238E27FC236}">
                <a16:creationId xmlns:a16="http://schemas.microsoft.com/office/drawing/2014/main" id="{0B3E7298-1F64-4D36-B48F-706AD91D0940}"/>
              </a:ext>
            </a:extLst>
          </p:cNvPr>
          <p:cNvSpPr>
            <a:spLocks xmlns:a="http://schemas.openxmlformats.org/drawingml/2006/main" noGrp="1"/>
          </p:cNvSpPr>
          <p:nvPr/>
        </p:nvSpPr>
        <p:spPr>
          <a:xfrm xmlns:a="http://schemas.openxmlformats.org/drawingml/2006/main">
            <a:off x="685800" y="7810500"/>
            <a:ext cx="790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7071"/>
                </a:solidFill>
                <a:latin typeface="Aptos"/>
                <a:ea typeface="Aptos"/>
                <a:cs typeface="Aptos"/>
              </a:defRPr>
            </a:pPr>
            <a:r>
              <a:rPr sz="1650" b="0">
                <a:solidFill>
                  <a:srgbClr val="597071"/>
                </a:solidFill>
                <a:latin typeface="Aptos"/>
                <a:ea typeface="Aptos"/>
                <a:cs typeface="Aptos"/>
              </a:rPr>
              <a:t>September 2026</a:t>
            </a:r>
          </a:p>
        </p:txBody>
      </p:sp>
    </p:spTree>
    <p:extLst>
      <p:ext uri="{BB962C8B-B14F-4D97-AF65-F5344CB8AC3E}">
        <p14:creationId xmlns:p14="http://schemas.microsoft.com/office/powerpoint/2010/main" val="1984788955"/>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8" name="text-8">
            <a:extLst xmlns:a="http://schemas.openxmlformats.org/drawingml/2006/main">
              <a:ext uri="{FF2B5EF4-FFF2-40B4-BE49-F238E27FC236}">
                <a16:creationId xmlns:a16="http://schemas.microsoft.com/office/drawing/2014/main" id="{C25CBA85-F6FB-43FE-AC93-B02A5C5F0657}"/>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FLAIR ERP / THE CONNECTED BUSINESS</a:t>
            </a:r>
          </a:p>
        </p:txBody>
      </p:sp>
      <p:sp>
        <p:nvSpPr>
          <p:cNvPr id="2" name="text-9">
            <a:extLst xmlns:a="http://schemas.openxmlformats.org/drawingml/2006/main">
              <a:ext uri="{FF2B5EF4-FFF2-40B4-BE49-F238E27FC236}">
                <a16:creationId xmlns:a16="http://schemas.microsoft.com/office/drawing/2014/main" id="{8C131669-A1E1-4C8E-A3AF-D25EDCB8C925}"/>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The outcome: clearer control at every step</a:t>
            </a:r>
          </a:p>
        </p:txBody>
      </p:sp>
      <p:sp>
        <p:nvSpPr>
          <p:cNvPr id="3" name="rule-10">
            <a:extLst xmlns:a="http://schemas.openxmlformats.org/drawingml/2006/main">
              <a:ext uri="{FF2B5EF4-FFF2-40B4-BE49-F238E27FC236}">
                <a16:creationId xmlns:a16="http://schemas.microsoft.com/office/drawing/2014/main" id="{538EE8E5-AE53-43F9-A8AF-8C40C2359888}"/>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11">
            <a:extLst xmlns:a="http://schemas.openxmlformats.org/drawingml/2006/main">
              <a:ext uri="{FF2B5EF4-FFF2-40B4-BE49-F238E27FC236}">
                <a16:creationId xmlns:a16="http://schemas.microsoft.com/office/drawing/2014/main" id="{D28AC65A-FD5E-480F-8151-9F86A6F5C91A}"/>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12">
            <a:extLst xmlns:a="http://schemas.openxmlformats.org/drawingml/2006/main">
              <a:ext uri="{FF2B5EF4-FFF2-40B4-BE49-F238E27FC236}">
                <a16:creationId xmlns:a16="http://schemas.microsoft.com/office/drawing/2014/main" id="{69F44938-71BD-4DE8-A853-446312DA4111}"/>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02</a:t>
            </a:r>
          </a:p>
        </p:txBody>
      </p:sp>
      <p:sp>
        <p:nvSpPr>
          <p:cNvPr id="6" name="edge-13">
            <a:extLst xmlns:a="http://schemas.openxmlformats.org/drawingml/2006/main">
              <a:ext uri="{FF2B5EF4-FFF2-40B4-BE49-F238E27FC236}">
                <a16:creationId xmlns:a16="http://schemas.microsoft.com/office/drawing/2014/main" id="{A256B4B5-A256-4311-A211-0614C39B55FD}"/>
              </a:ext>
            </a:extLst>
          </p:cNvPr>
          <p:cNvSpPr>
            <a:spLocks xmlns:a="http://schemas.openxmlformats.org/drawingml/2006/main" noGrp="1"/>
          </p:cNvSpPr>
          <p:nvPr/>
        </p:nvSpPr>
        <p:spPr>
          <a:xfrm xmlns:a="http://schemas.openxmlformats.org/drawingml/2006/main" flipH="1" flipV="0">
            <a:off x="52768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7" name="edge-14">
            <a:extLst xmlns:a="http://schemas.openxmlformats.org/drawingml/2006/main">
              <a:ext uri="{FF2B5EF4-FFF2-40B4-BE49-F238E27FC236}">
                <a16:creationId xmlns:a16="http://schemas.microsoft.com/office/drawing/2014/main" id="{1D45F63C-9814-4B36-ABB0-B3E1656A1129}"/>
              </a:ext>
            </a:extLst>
          </p:cNvPr>
          <p:cNvSpPr>
            <a:spLocks xmlns:a="http://schemas.openxmlformats.org/drawingml/2006/main" noGrp="1"/>
          </p:cNvSpPr>
          <p:nvPr/>
        </p:nvSpPr>
        <p:spPr>
          <a:xfrm xmlns:a="http://schemas.openxmlformats.org/drawingml/2006/main" flipH="0" flipV="1">
            <a:off x="5276850" y="3028950"/>
            <a:ext cx="9525" cy="136207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8" name="edge-15">
            <a:extLst xmlns:a="http://schemas.openxmlformats.org/drawingml/2006/main">
              <a:ext uri="{FF2B5EF4-FFF2-40B4-BE49-F238E27FC236}">
                <a16:creationId xmlns:a16="http://schemas.microsoft.com/office/drawing/2014/main" id="{A38590C0-74AF-4AD9-A2FB-8C2EED22437B}"/>
              </a:ext>
            </a:extLst>
          </p:cNvPr>
          <p:cNvSpPr>
            <a:spLocks xmlns:a="http://schemas.openxmlformats.org/drawingml/2006/main" noGrp="1"/>
          </p:cNvSpPr>
          <p:nvPr/>
        </p:nvSpPr>
        <p:spPr>
          <a:xfrm xmlns:a="http://schemas.openxmlformats.org/drawingml/2006/main" flipH="1" flipV="0">
            <a:off x="4667250" y="30289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9" name="edge-16">
            <a:extLst xmlns:a="http://schemas.openxmlformats.org/drawingml/2006/main">
              <a:ext uri="{FF2B5EF4-FFF2-40B4-BE49-F238E27FC236}">
                <a16:creationId xmlns:a16="http://schemas.microsoft.com/office/drawing/2014/main" id="{E2EA9F7B-97C0-4B4A-96A0-FF3E64F2C77A}"/>
              </a:ext>
            </a:extLst>
          </p:cNvPr>
          <p:cNvSpPr>
            <a:spLocks xmlns:a="http://schemas.openxmlformats.org/drawingml/2006/main" noGrp="1"/>
          </p:cNvSpPr>
          <p:nvPr/>
        </p:nvSpPr>
        <p:spPr>
          <a:xfrm xmlns:a="http://schemas.openxmlformats.org/drawingml/2006/main" flipH="1" flipV="0">
            <a:off x="52768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0" name="edge-17">
            <a:extLst xmlns:a="http://schemas.openxmlformats.org/drawingml/2006/main">
              <a:ext uri="{FF2B5EF4-FFF2-40B4-BE49-F238E27FC236}">
                <a16:creationId xmlns:a16="http://schemas.microsoft.com/office/drawing/2014/main" id="{302A6E77-127E-4340-917A-34FECDEDC4EB}"/>
              </a:ext>
            </a:extLst>
          </p:cNvPr>
          <p:cNvSpPr>
            <a:spLocks xmlns:a="http://schemas.openxmlformats.org/drawingml/2006/main" noGrp="1"/>
          </p:cNvSpPr>
          <p:nvPr/>
        </p:nvSpPr>
        <p:spPr>
          <a:xfrm xmlns:a="http://schemas.openxmlformats.org/drawingml/2006/main" flipH="0" flipV="0">
            <a:off x="5276850" y="4391025"/>
            <a:ext cx="9525" cy="17621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1" name="edge-18">
            <a:extLst xmlns:a="http://schemas.openxmlformats.org/drawingml/2006/main">
              <a:ext uri="{FF2B5EF4-FFF2-40B4-BE49-F238E27FC236}">
                <a16:creationId xmlns:a16="http://schemas.microsoft.com/office/drawing/2014/main" id="{A64E02FF-B879-4A17-BD96-5B27D2D14C2E}"/>
              </a:ext>
            </a:extLst>
          </p:cNvPr>
          <p:cNvSpPr>
            <a:spLocks xmlns:a="http://schemas.openxmlformats.org/drawingml/2006/main" noGrp="1"/>
          </p:cNvSpPr>
          <p:nvPr/>
        </p:nvSpPr>
        <p:spPr>
          <a:xfrm xmlns:a="http://schemas.openxmlformats.org/drawingml/2006/main" flipH="1" flipV="0">
            <a:off x="4667250" y="61531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2" name="edge-19">
            <a:extLst xmlns:a="http://schemas.openxmlformats.org/drawingml/2006/main">
              <a:ext uri="{FF2B5EF4-FFF2-40B4-BE49-F238E27FC236}">
                <a16:creationId xmlns:a16="http://schemas.microsoft.com/office/drawing/2014/main" id="{742E2875-763F-4429-A781-DF780057E1EA}"/>
              </a:ext>
            </a:extLst>
          </p:cNvPr>
          <p:cNvSpPr>
            <a:spLocks xmlns:a="http://schemas.openxmlformats.org/drawingml/2006/main" noGrp="1"/>
          </p:cNvSpPr>
          <p:nvPr/>
        </p:nvSpPr>
        <p:spPr>
          <a:xfrm xmlns:a="http://schemas.openxmlformats.org/drawingml/2006/main" flipH="0" flipV="0">
            <a:off x="93154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3" name="edge-20">
            <a:extLst xmlns:a="http://schemas.openxmlformats.org/drawingml/2006/main">
              <a:ext uri="{FF2B5EF4-FFF2-40B4-BE49-F238E27FC236}">
                <a16:creationId xmlns:a16="http://schemas.microsoft.com/office/drawing/2014/main" id="{2FA44FCE-AD21-421B-865E-82631FB67056}"/>
              </a:ext>
            </a:extLst>
          </p:cNvPr>
          <p:cNvSpPr>
            <a:spLocks xmlns:a="http://schemas.openxmlformats.org/drawingml/2006/main" noGrp="1"/>
          </p:cNvSpPr>
          <p:nvPr/>
        </p:nvSpPr>
        <p:spPr>
          <a:xfrm xmlns:a="http://schemas.openxmlformats.org/drawingml/2006/main" flipH="0" flipV="1">
            <a:off x="9963150" y="3028950"/>
            <a:ext cx="9525" cy="136207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4" name="edge-21">
            <a:extLst xmlns:a="http://schemas.openxmlformats.org/drawingml/2006/main">
              <a:ext uri="{FF2B5EF4-FFF2-40B4-BE49-F238E27FC236}">
                <a16:creationId xmlns:a16="http://schemas.microsoft.com/office/drawing/2014/main" id="{962D5AC5-F906-4250-8546-82643FE3A61F}"/>
              </a:ext>
            </a:extLst>
          </p:cNvPr>
          <p:cNvSpPr>
            <a:spLocks xmlns:a="http://schemas.openxmlformats.org/drawingml/2006/main" noGrp="1"/>
          </p:cNvSpPr>
          <p:nvPr/>
        </p:nvSpPr>
        <p:spPr>
          <a:xfrm xmlns:a="http://schemas.openxmlformats.org/drawingml/2006/main" flipH="0" flipV="0">
            <a:off x="9963150" y="30289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5" name="edge-22">
            <a:extLst xmlns:a="http://schemas.openxmlformats.org/drawingml/2006/main">
              <a:ext uri="{FF2B5EF4-FFF2-40B4-BE49-F238E27FC236}">
                <a16:creationId xmlns:a16="http://schemas.microsoft.com/office/drawing/2014/main" id="{B65C2DAF-EA45-4F07-B7A8-1E013A8C6A1C}"/>
              </a:ext>
            </a:extLst>
          </p:cNvPr>
          <p:cNvSpPr>
            <a:spLocks xmlns:a="http://schemas.openxmlformats.org/drawingml/2006/main" noGrp="1"/>
          </p:cNvSpPr>
          <p:nvPr/>
        </p:nvSpPr>
        <p:spPr>
          <a:xfrm xmlns:a="http://schemas.openxmlformats.org/drawingml/2006/main" flipH="0" flipV="0">
            <a:off x="93154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6" name="edge-23">
            <a:extLst xmlns:a="http://schemas.openxmlformats.org/drawingml/2006/main">
              <a:ext uri="{FF2B5EF4-FFF2-40B4-BE49-F238E27FC236}">
                <a16:creationId xmlns:a16="http://schemas.microsoft.com/office/drawing/2014/main" id="{BF6435F5-B9B3-4DC9-98A0-0FF7D6DF5F83}"/>
              </a:ext>
            </a:extLst>
          </p:cNvPr>
          <p:cNvSpPr>
            <a:spLocks xmlns:a="http://schemas.openxmlformats.org/drawingml/2006/main" noGrp="1"/>
          </p:cNvSpPr>
          <p:nvPr/>
        </p:nvSpPr>
        <p:spPr>
          <a:xfrm xmlns:a="http://schemas.openxmlformats.org/drawingml/2006/main" flipH="0" flipV="0">
            <a:off x="9963150" y="4391025"/>
            <a:ext cx="9525" cy="17621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7" name="edge-24">
            <a:extLst xmlns:a="http://schemas.openxmlformats.org/drawingml/2006/main">
              <a:ext uri="{FF2B5EF4-FFF2-40B4-BE49-F238E27FC236}">
                <a16:creationId xmlns:a16="http://schemas.microsoft.com/office/drawing/2014/main" id="{546B1DF2-53CD-4204-B7E4-0B7B260E1299}"/>
              </a:ext>
            </a:extLst>
          </p:cNvPr>
          <p:cNvSpPr>
            <a:spLocks xmlns:a="http://schemas.openxmlformats.org/drawingml/2006/main" noGrp="1"/>
          </p:cNvSpPr>
          <p:nvPr/>
        </p:nvSpPr>
        <p:spPr>
          <a:xfrm xmlns:a="http://schemas.openxmlformats.org/drawingml/2006/main" flipH="0" flipV="0">
            <a:off x="9963150" y="61531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8" name="surface-25">
            <a:extLst xmlns:a="http://schemas.openxmlformats.org/drawingml/2006/main">
              <a:ext uri="{FF2B5EF4-FFF2-40B4-BE49-F238E27FC236}">
                <a16:creationId xmlns:a16="http://schemas.microsoft.com/office/drawing/2014/main" id="{52366608-54B1-43F1-A413-921DEFA7A221}"/>
              </a:ext>
            </a:extLst>
          </p:cNvPr>
          <p:cNvSpPr>
            <a:spLocks xmlns:a="http://schemas.openxmlformats.org/drawingml/2006/main" noGrp="1"/>
          </p:cNvSpPr>
          <p:nvPr/>
        </p:nvSpPr>
        <p:spPr>
          <a:xfrm xmlns:a="http://schemas.openxmlformats.org/drawingml/2006/main">
            <a:off x="5924550" y="3752850"/>
            <a:ext cx="3390900" cy="1276350"/>
          </a:xfrm>
          <a:prstGeom xmlns:a="http://schemas.openxmlformats.org/drawingml/2006/main" prst="rect">
            <a:avLst/>
          </a:prstGeom>
          <a:solidFill xmlns:a="http://schemas.openxmlformats.org/drawingml/2006/main">
            <a:srgbClr val="103D43"/>
          </a:solidFill>
          <a:ln xmlns:a="http://schemas.openxmlformats.org/drawingml/2006/main" w="0">
            <a:noFill/>
            <a:prstDash val="solid"/>
          </a:ln>
        </p:spPr>
      </p:sp>
      <p:sp>
        <p:nvSpPr>
          <p:cNvPr id="19" name="text-26">
            <a:extLst xmlns:a="http://schemas.openxmlformats.org/drawingml/2006/main">
              <a:ext uri="{FF2B5EF4-FFF2-40B4-BE49-F238E27FC236}">
                <a16:creationId xmlns:a16="http://schemas.microsoft.com/office/drawing/2014/main" id="{167FBB9C-071C-4E6C-93B9-250011EF918C}"/>
              </a:ext>
            </a:extLst>
          </p:cNvPr>
          <p:cNvSpPr>
            <a:spLocks xmlns:a="http://schemas.openxmlformats.org/drawingml/2006/main" noGrp="1"/>
          </p:cNvSpPr>
          <p:nvPr/>
        </p:nvSpPr>
        <p:spPr>
          <a:xfrm xmlns:a="http://schemas.openxmlformats.org/drawingml/2006/main">
            <a:off x="6115050" y="4038600"/>
            <a:ext cx="30099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75" b="1">
                <a:solidFill>
                  <a:srgbClr val="F7F5EE"/>
                </a:solidFill>
                <a:latin typeface="Aptos"/>
                <a:ea typeface="Aptos"/>
                <a:cs typeface="Aptos"/>
              </a:defRPr>
            </a:pPr>
            <a:r>
              <a:rPr sz="2775" b="1">
                <a:solidFill>
                  <a:srgbClr val="F7F5EE"/>
                </a:solidFill>
                <a:latin typeface="Aptos"/>
                <a:ea typeface="Aptos"/>
                <a:cs typeface="Aptos"/>
              </a:rPr>
              <a:t>YOUR BUSINESS</a:t>
            </a:r>
          </a:p>
          <a:p xmlns:a="http://schemas.openxmlformats.org/drawingml/2006/main">
            <a:pPr algn="ctr">
              <a:defRPr sz="2775" b="1">
                <a:solidFill>
                  <a:srgbClr val="F7F5EE"/>
                </a:solidFill>
                <a:latin typeface="Aptos"/>
                <a:ea typeface="Aptos"/>
                <a:cs typeface="Aptos"/>
              </a:defRPr>
            </a:pPr>
            <a:r>
              <a:rPr sz="2775" b="1">
                <a:solidFill>
                  <a:srgbClr val="F7F5EE"/>
                </a:solidFill>
                <a:latin typeface="Aptos"/>
                <a:ea typeface="Aptos"/>
                <a:cs typeface="Aptos"/>
              </a:rPr>
              <a:t>IN ONE VIEW</a:t>
            </a:r>
          </a:p>
        </p:txBody>
      </p:sp>
      <p:sp>
        <p:nvSpPr>
          <p:cNvPr id="20" name="text-27">
            <a:extLst xmlns:a="http://schemas.openxmlformats.org/drawingml/2006/main">
              <a:ext uri="{FF2B5EF4-FFF2-40B4-BE49-F238E27FC236}">
                <a16:creationId xmlns:a16="http://schemas.microsoft.com/office/drawing/2014/main" id="{CF45C367-EE69-4394-8B00-02ECD5D69FE1}"/>
              </a:ext>
            </a:extLst>
          </p:cNvPr>
          <p:cNvSpPr>
            <a:spLocks xmlns:a="http://schemas.openxmlformats.org/drawingml/2006/main" noGrp="1"/>
          </p:cNvSpPr>
          <p:nvPr/>
        </p:nvSpPr>
        <p:spPr>
          <a:xfrm xmlns:a="http://schemas.openxmlformats.org/drawingml/2006/main">
            <a:off x="685800" y="25527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Know your stock</a:t>
            </a:r>
          </a:p>
        </p:txBody>
      </p:sp>
      <p:sp>
        <p:nvSpPr>
          <p:cNvPr id="21" name="text-28">
            <a:extLst xmlns:a="http://schemas.openxmlformats.org/drawingml/2006/main">
              <a:ext uri="{FF2B5EF4-FFF2-40B4-BE49-F238E27FC236}">
                <a16:creationId xmlns:a16="http://schemas.microsoft.com/office/drawing/2014/main" id="{8A93615A-7330-4D0B-842D-E7BEDD94C0AE}"/>
              </a:ext>
            </a:extLst>
          </p:cNvPr>
          <p:cNvSpPr>
            <a:spLocks xmlns:a="http://schemas.openxmlformats.org/drawingml/2006/main" noGrp="1"/>
          </p:cNvSpPr>
          <p:nvPr/>
        </p:nvSpPr>
        <p:spPr>
          <a:xfrm xmlns:a="http://schemas.openxmlformats.org/drawingml/2006/main">
            <a:off x="685800" y="30575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Location visibility</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Traceable movements</a:t>
            </a:r>
          </a:p>
        </p:txBody>
      </p:sp>
      <p:sp>
        <p:nvSpPr>
          <p:cNvPr id="22" name="text-29">
            <a:extLst xmlns:a="http://schemas.openxmlformats.org/drawingml/2006/main">
              <a:ext uri="{FF2B5EF4-FFF2-40B4-BE49-F238E27FC236}">
                <a16:creationId xmlns:a16="http://schemas.microsoft.com/office/drawing/2014/main" id="{68019E26-4BA0-4528-B97F-C0BC032F3649}"/>
              </a:ext>
            </a:extLst>
          </p:cNvPr>
          <p:cNvSpPr>
            <a:spLocks xmlns:a="http://schemas.openxmlformats.org/drawingml/2006/main" noGrp="1"/>
          </p:cNvSpPr>
          <p:nvPr/>
        </p:nvSpPr>
        <p:spPr>
          <a:xfrm xmlns:a="http://schemas.openxmlformats.org/drawingml/2006/main">
            <a:off x="685800" y="56769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Buy with confidence</a:t>
            </a:r>
          </a:p>
        </p:txBody>
      </p:sp>
      <p:sp>
        <p:nvSpPr>
          <p:cNvPr id="23" name="text-30">
            <a:extLst xmlns:a="http://schemas.openxmlformats.org/drawingml/2006/main">
              <a:ext uri="{FF2B5EF4-FFF2-40B4-BE49-F238E27FC236}">
                <a16:creationId xmlns:a16="http://schemas.microsoft.com/office/drawing/2014/main" id="{D2A01449-19E0-4019-98E0-13DDB95DBDA4}"/>
              </a:ext>
            </a:extLst>
          </p:cNvPr>
          <p:cNvSpPr>
            <a:spLocks xmlns:a="http://schemas.openxmlformats.org/drawingml/2006/main" noGrp="1"/>
          </p:cNvSpPr>
          <p:nvPr/>
        </p:nvSpPr>
        <p:spPr>
          <a:xfrm xmlns:a="http://schemas.openxmlformats.org/drawingml/2006/main">
            <a:off x="685800" y="61817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Demand-led replenishment</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Vendor accountability</a:t>
            </a:r>
          </a:p>
        </p:txBody>
      </p:sp>
      <p:sp>
        <p:nvSpPr>
          <p:cNvPr id="24" name="text-31">
            <a:extLst xmlns:a="http://schemas.openxmlformats.org/drawingml/2006/main">
              <a:ext uri="{FF2B5EF4-FFF2-40B4-BE49-F238E27FC236}">
                <a16:creationId xmlns:a16="http://schemas.microsoft.com/office/drawing/2014/main" id="{1DE8B9C7-173B-4BA9-8EAC-C606BACCC75C}"/>
              </a:ext>
            </a:extLst>
          </p:cNvPr>
          <p:cNvSpPr>
            <a:spLocks xmlns:a="http://schemas.openxmlformats.org/drawingml/2006/main" noGrp="1"/>
          </p:cNvSpPr>
          <p:nvPr/>
        </p:nvSpPr>
        <p:spPr>
          <a:xfrm xmlns:a="http://schemas.openxmlformats.org/drawingml/2006/main">
            <a:off x="10572750" y="25527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Serve every channel</a:t>
            </a:r>
          </a:p>
        </p:txBody>
      </p:sp>
      <p:sp>
        <p:nvSpPr>
          <p:cNvPr id="25" name="text-32">
            <a:extLst xmlns:a="http://schemas.openxmlformats.org/drawingml/2006/main">
              <a:ext uri="{FF2B5EF4-FFF2-40B4-BE49-F238E27FC236}">
                <a16:creationId xmlns:a16="http://schemas.microsoft.com/office/drawing/2014/main" id="{A9DCDBBF-5AEC-4D56-81AC-5365AA3BD6F9}"/>
              </a:ext>
            </a:extLst>
          </p:cNvPr>
          <p:cNvSpPr>
            <a:spLocks xmlns:a="http://schemas.openxmlformats.org/drawingml/2006/main" noGrp="1"/>
          </p:cNvSpPr>
          <p:nvPr/>
        </p:nvSpPr>
        <p:spPr>
          <a:xfrm xmlns:a="http://schemas.openxmlformats.org/drawingml/2006/main">
            <a:off x="10572750" y="30575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Retail, reseller and online orders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Consistent product information</a:t>
            </a:r>
          </a:p>
        </p:txBody>
      </p:sp>
      <p:sp>
        <p:nvSpPr>
          <p:cNvPr id="26" name="text-33">
            <a:extLst xmlns:a="http://schemas.openxmlformats.org/drawingml/2006/main">
              <a:ext uri="{FF2B5EF4-FFF2-40B4-BE49-F238E27FC236}">
                <a16:creationId xmlns:a16="http://schemas.microsoft.com/office/drawing/2014/main" id="{B5C9FFDC-0A49-43D0-B6FA-07D598FE2BED}"/>
              </a:ext>
            </a:extLst>
          </p:cNvPr>
          <p:cNvSpPr>
            <a:spLocks xmlns:a="http://schemas.openxmlformats.org/drawingml/2006/main" noGrp="1"/>
          </p:cNvSpPr>
          <p:nvPr/>
        </p:nvSpPr>
        <p:spPr>
          <a:xfrm xmlns:a="http://schemas.openxmlformats.org/drawingml/2006/main">
            <a:off x="10572750" y="56769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Understand performance</a:t>
            </a:r>
          </a:p>
        </p:txBody>
      </p:sp>
      <p:sp>
        <p:nvSpPr>
          <p:cNvPr id="27" name="text-34">
            <a:extLst xmlns:a="http://schemas.openxmlformats.org/drawingml/2006/main">
              <a:ext uri="{FF2B5EF4-FFF2-40B4-BE49-F238E27FC236}">
                <a16:creationId xmlns:a16="http://schemas.microsoft.com/office/drawing/2014/main" id="{AD0F5D79-9EA5-42D4-8695-88DC4FF13D86}"/>
              </a:ext>
            </a:extLst>
          </p:cNvPr>
          <p:cNvSpPr>
            <a:spLocks xmlns:a="http://schemas.openxmlformats.org/drawingml/2006/main" noGrp="1"/>
          </p:cNvSpPr>
          <p:nvPr/>
        </p:nvSpPr>
        <p:spPr>
          <a:xfrm xmlns:a="http://schemas.openxmlformats.org/drawingml/2006/main">
            <a:off x="10572750" y="61817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Cash, contribution and stock trends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Decisions from shared records</a:t>
            </a:r>
          </a:p>
        </p:txBody>
      </p:sp>
    </p:spTree>
    <p:extLst>
      <p:ext uri="{BB962C8B-B14F-4D97-AF65-F5344CB8AC3E}">
        <p14:creationId xmlns:p14="http://schemas.microsoft.com/office/powerpoint/2010/main" val="290488698"/>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30" name="text-35">
            <a:extLst xmlns:a="http://schemas.openxmlformats.org/drawingml/2006/main">
              <a:ext uri="{FF2B5EF4-FFF2-40B4-BE49-F238E27FC236}">
                <a16:creationId xmlns:a16="http://schemas.microsoft.com/office/drawing/2014/main" id="{6D5D7F52-091A-41A8-841C-AAE4DDE82BA0}"/>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THE COMPLETE ERP / SCOPE MAP</a:t>
            </a:r>
          </a:p>
        </p:txBody>
      </p:sp>
      <p:sp>
        <p:nvSpPr>
          <p:cNvPr id="2" name="text-36">
            <a:extLst xmlns:a="http://schemas.openxmlformats.org/drawingml/2006/main">
              <a:ext uri="{FF2B5EF4-FFF2-40B4-BE49-F238E27FC236}">
                <a16:creationId xmlns:a16="http://schemas.microsoft.com/office/drawing/2014/main" id="{C6E43E4E-D6C9-486C-9031-309BCF33544D}"/>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Nine modules. One operating model.</a:t>
            </a:r>
          </a:p>
        </p:txBody>
      </p:sp>
      <p:sp>
        <p:nvSpPr>
          <p:cNvPr id="3" name="text-37">
            <a:extLst xmlns:a="http://schemas.openxmlformats.org/drawingml/2006/main">
              <a:ext uri="{FF2B5EF4-FFF2-40B4-BE49-F238E27FC236}">
                <a16:creationId xmlns:a16="http://schemas.microsoft.com/office/drawing/2014/main" id="{B1980EF1-5682-4C7D-91E9-401361AFCF8C}"/>
              </a:ext>
            </a:extLst>
          </p:cNvPr>
          <p:cNvSpPr>
            <a:spLocks xmlns:a="http://schemas.openxmlformats.org/drawingml/2006/main" noGrp="1"/>
          </p:cNvSpPr>
          <p:nvPr/>
        </p:nvSpPr>
        <p:spPr>
          <a:xfrm xmlns:a="http://schemas.openxmlformats.org/drawingml/2006/main">
            <a:off x="685800" y="1666875"/>
            <a:ext cx="13868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A phased platform designed around perfume and cosmetics operations.</a:t>
            </a:r>
          </a:p>
        </p:txBody>
      </p:sp>
      <p:sp>
        <p:nvSpPr>
          <p:cNvPr id="4" name="rule-38">
            <a:extLst xmlns:a="http://schemas.openxmlformats.org/drawingml/2006/main">
              <a:ext uri="{FF2B5EF4-FFF2-40B4-BE49-F238E27FC236}">
                <a16:creationId xmlns:a16="http://schemas.microsoft.com/office/drawing/2014/main" id="{64B9BF9D-202E-4D9A-B66D-8DE57A387B6C}"/>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5" name="text-39">
            <a:extLst xmlns:a="http://schemas.openxmlformats.org/drawingml/2006/main">
              <a:ext uri="{FF2B5EF4-FFF2-40B4-BE49-F238E27FC236}">
                <a16:creationId xmlns:a16="http://schemas.microsoft.com/office/drawing/2014/main" id="{6107417E-12B0-470D-9DD0-75D230250FEC}"/>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6" name="text-40">
            <a:extLst xmlns:a="http://schemas.openxmlformats.org/drawingml/2006/main">
              <a:ext uri="{FF2B5EF4-FFF2-40B4-BE49-F238E27FC236}">
                <a16:creationId xmlns:a16="http://schemas.microsoft.com/office/drawing/2014/main" id="{9C76AA11-983D-4DD2-94D0-6321E7478A1F}"/>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03</a:t>
            </a:r>
          </a:p>
        </p:txBody>
      </p:sp>
      <p:sp>
        <p:nvSpPr>
          <p:cNvPr id="7" name="edge-41">
            <a:extLst xmlns:a="http://schemas.openxmlformats.org/drawingml/2006/main">
              <a:ext uri="{FF2B5EF4-FFF2-40B4-BE49-F238E27FC236}">
                <a16:creationId xmlns:a16="http://schemas.microsoft.com/office/drawing/2014/main" id="{06CF3426-710E-44CF-B9C9-967962571DDB}"/>
              </a:ext>
            </a:extLst>
          </p:cNvPr>
          <p:cNvSpPr>
            <a:spLocks xmlns:a="http://schemas.openxmlformats.org/drawingml/2006/main" noGrp="1"/>
          </p:cNvSpPr>
          <p:nvPr/>
        </p:nvSpPr>
        <p:spPr>
          <a:xfrm xmlns:a="http://schemas.openxmlformats.org/drawingml/2006/main" flipH="0" flipV="0">
            <a:off x="7620000" y="3352800"/>
            <a:ext cx="9525" cy="228600"/>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8" name="edge-42">
            <a:extLst xmlns:a="http://schemas.openxmlformats.org/drawingml/2006/main">
              <a:ext uri="{FF2B5EF4-FFF2-40B4-BE49-F238E27FC236}">
                <a16:creationId xmlns:a16="http://schemas.microsoft.com/office/drawing/2014/main" id="{BFCC8C04-6377-46E5-A4EB-6A36DB7A36AE}"/>
              </a:ext>
            </a:extLst>
          </p:cNvPr>
          <p:cNvSpPr>
            <a:spLocks xmlns:a="http://schemas.openxmlformats.org/drawingml/2006/main" noGrp="1"/>
          </p:cNvSpPr>
          <p:nvPr/>
        </p:nvSpPr>
        <p:spPr>
          <a:xfrm xmlns:a="http://schemas.openxmlformats.org/drawingml/2006/main" flipH="0" flipV="0">
            <a:off x="3028950" y="3581400"/>
            <a:ext cx="91821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9" name="edge-43">
            <a:extLst xmlns:a="http://schemas.openxmlformats.org/drawingml/2006/main">
              <a:ext uri="{FF2B5EF4-FFF2-40B4-BE49-F238E27FC236}">
                <a16:creationId xmlns:a16="http://schemas.microsoft.com/office/drawing/2014/main" id="{949BD0CF-70FF-4E27-A42E-6218D31BA2CE}"/>
              </a:ext>
            </a:extLst>
          </p:cNvPr>
          <p:cNvSpPr>
            <a:spLocks xmlns:a="http://schemas.openxmlformats.org/drawingml/2006/main" noGrp="1"/>
          </p:cNvSpPr>
          <p:nvPr/>
        </p:nvSpPr>
        <p:spPr>
          <a:xfrm xmlns:a="http://schemas.openxmlformats.org/drawingml/2006/main" flipH="0" flipV="0">
            <a:off x="3028950" y="3581400"/>
            <a:ext cx="9525" cy="247650"/>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0" name="edge-44">
            <a:extLst xmlns:a="http://schemas.openxmlformats.org/drawingml/2006/main">
              <a:ext uri="{FF2B5EF4-FFF2-40B4-BE49-F238E27FC236}">
                <a16:creationId xmlns:a16="http://schemas.microsoft.com/office/drawing/2014/main" id="{411ADA74-AC92-4C4C-871C-96D567576DE0}"/>
              </a:ext>
            </a:extLst>
          </p:cNvPr>
          <p:cNvSpPr>
            <a:spLocks xmlns:a="http://schemas.openxmlformats.org/drawingml/2006/main" noGrp="1"/>
          </p:cNvSpPr>
          <p:nvPr/>
        </p:nvSpPr>
        <p:spPr>
          <a:xfrm xmlns:a="http://schemas.openxmlformats.org/drawingml/2006/main" flipH="0" flipV="0">
            <a:off x="7620000" y="3581400"/>
            <a:ext cx="9525" cy="247650"/>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1" name="edge-45">
            <a:extLst xmlns:a="http://schemas.openxmlformats.org/drawingml/2006/main">
              <a:ext uri="{FF2B5EF4-FFF2-40B4-BE49-F238E27FC236}">
                <a16:creationId xmlns:a16="http://schemas.microsoft.com/office/drawing/2014/main" id="{22AF16D1-DBDE-47DF-A5E4-8379AEBCFDE1}"/>
              </a:ext>
            </a:extLst>
          </p:cNvPr>
          <p:cNvSpPr>
            <a:spLocks xmlns:a="http://schemas.openxmlformats.org/drawingml/2006/main" noGrp="1"/>
          </p:cNvSpPr>
          <p:nvPr/>
        </p:nvSpPr>
        <p:spPr>
          <a:xfrm xmlns:a="http://schemas.openxmlformats.org/drawingml/2006/main" flipH="0" flipV="0">
            <a:off x="12211050" y="3581400"/>
            <a:ext cx="9525" cy="247650"/>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2" name="surface-46">
            <a:extLst xmlns:a="http://schemas.openxmlformats.org/drawingml/2006/main">
              <a:ext uri="{FF2B5EF4-FFF2-40B4-BE49-F238E27FC236}">
                <a16:creationId xmlns:a16="http://schemas.microsoft.com/office/drawing/2014/main" id="{157F2999-4199-4548-AB58-3FE04069651C}"/>
              </a:ext>
            </a:extLst>
          </p:cNvPr>
          <p:cNvSpPr>
            <a:spLocks xmlns:a="http://schemas.openxmlformats.org/drawingml/2006/main" noGrp="1"/>
          </p:cNvSpPr>
          <p:nvPr/>
        </p:nvSpPr>
        <p:spPr>
          <a:xfrm xmlns:a="http://schemas.openxmlformats.org/drawingml/2006/main">
            <a:off x="5715000" y="2276475"/>
            <a:ext cx="3810000" cy="1076325"/>
          </a:xfrm>
          <a:prstGeom xmlns:a="http://schemas.openxmlformats.org/drawingml/2006/main" prst="rect">
            <a:avLst/>
          </a:prstGeom>
          <a:solidFill xmlns:a="http://schemas.openxmlformats.org/drawingml/2006/main">
            <a:srgbClr val="23716D"/>
          </a:solidFill>
          <a:ln xmlns:a="http://schemas.openxmlformats.org/drawingml/2006/main" w="0">
            <a:noFill/>
            <a:prstDash val="solid"/>
          </a:ln>
        </p:spPr>
      </p:sp>
      <p:sp>
        <p:nvSpPr>
          <p:cNvPr id="13" name="text-47">
            <a:extLst xmlns:a="http://schemas.openxmlformats.org/drawingml/2006/main">
              <a:ext uri="{FF2B5EF4-FFF2-40B4-BE49-F238E27FC236}">
                <a16:creationId xmlns:a16="http://schemas.microsoft.com/office/drawing/2014/main" id="{4418971D-DD52-40AB-B26A-4A59BD6AA23F}"/>
              </a:ext>
            </a:extLst>
          </p:cNvPr>
          <p:cNvSpPr>
            <a:spLocks xmlns:a="http://schemas.openxmlformats.org/drawingml/2006/main" noGrp="1"/>
          </p:cNvSpPr>
          <p:nvPr/>
        </p:nvSpPr>
        <p:spPr>
          <a:xfrm xmlns:a="http://schemas.openxmlformats.org/drawingml/2006/main">
            <a:off x="5924550" y="2447925"/>
            <a:ext cx="3390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7F5EE"/>
                </a:solidFill>
                <a:latin typeface="Aptos"/>
                <a:ea typeface="Aptos"/>
                <a:cs typeface="Aptos"/>
              </a:defRPr>
            </a:pPr>
            <a:r>
              <a:rPr sz="2400" b="1">
                <a:solidFill>
                  <a:srgbClr val="F7F5EE"/>
                </a:solidFill>
                <a:latin typeface="Aptos"/>
                <a:ea typeface="Aptos"/>
                <a:cs typeface="Aptos"/>
              </a:rPr>
              <a:t>FLAIR ERP</a:t>
            </a:r>
          </a:p>
        </p:txBody>
      </p:sp>
      <p:sp>
        <p:nvSpPr>
          <p:cNvPr id="14" name="text-48">
            <a:extLst xmlns:a="http://schemas.openxmlformats.org/drawingml/2006/main">
              <a:ext uri="{FF2B5EF4-FFF2-40B4-BE49-F238E27FC236}">
                <a16:creationId xmlns:a16="http://schemas.microsoft.com/office/drawing/2014/main" id="{45BE43AA-5418-4A26-B8AE-43416A295FB0}"/>
              </a:ext>
            </a:extLst>
          </p:cNvPr>
          <p:cNvSpPr>
            <a:spLocks xmlns:a="http://schemas.openxmlformats.org/drawingml/2006/main" noGrp="1"/>
          </p:cNvSpPr>
          <p:nvPr/>
        </p:nvSpPr>
        <p:spPr>
          <a:xfrm xmlns:a="http://schemas.openxmlformats.org/drawingml/2006/main">
            <a:off x="5924550" y="2895600"/>
            <a:ext cx="3390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Shared business records</a:t>
            </a:r>
          </a:p>
        </p:txBody>
      </p:sp>
      <p:sp>
        <p:nvSpPr>
          <p:cNvPr id="15" name="rule-49">
            <a:extLst xmlns:a="http://schemas.openxmlformats.org/drawingml/2006/main">
              <a:ext uri="{FF2B5EF4-FFF2-40B4-BE49-F238E27FC236}">
                <a16:creationId xmlns:a16="http://schemas.microsoft.com/office/drawing/2014/main" id="{70063C9C-4BEC-410D-89E5-E6B6D29958E7}"/>
              </a:ext>
            </a:extLst>
          </p:cNvPr>
          <p:cNvSpPr>
            <a:spLocks xmlns:a="http://schemas.openxmlformats.org/drawingml/2006/main" noGrp="1"/>
          </p:cNvSpPr>
          <p:nvPr/>
        </p:nvSpPr>
        <p:spPr>
          <a:xfrm xmlns:a="http://schemas.openxmlformats.org/drawingml/2006/main">
            <a:off x="685800" y="383857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16" name="text-50">
            <a:extLst xmlns:a="http://schemas.openxmlformats.org/drawingml/2006/main">
              <a:ext uri="{FF2B5EF4-FFF2-40B4-BE49-F238E27FC236}">
                <a16:creationId xmlns:a16="http://schemas.microsoft.com/office/drawing/2014/main" id="{59578332-3DCB-408F-9CE5-BA04C50D7BE5}"/>
              </a:ext>
            </a:extLst>
          </p:cNvPr>
          <p:cNvSpPr>
            <a:spLocks xmlns:a="http://schemas.openxmlformats.org/drawingml/2006/main" noGrp="1"/>
          </p:cNvSpPr>
          <p:nvPr/>
        </p:nvSpPr>
        <p:spPr>
          <a:xfrm xmlns:a="http://schemas.openxmlformats.org/drawingml/2006/main">
            <a:off x="685800" y="4067175"/>
            <a:ext cx="40386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01–04  Operate</a:t>
            </a:r>
          </a:p>
        </p:txBody>
      </p:sp>
      <p:sp>
        <p:nvSpPr>
          <p:cNvPr id="17" name="text-51">
            <a:extLst xmlns:a="http://schemas.openxmlformats.org/drawingml/2006/main">
              <a:ext uri="{FF2B5EF4-FFF2-40B4-BE49-F238E27FC236}">
                <a16:creationId xmlns:a16="http://schemas.microsoft.com/office/drawing/2014/main" id="{EAD02727-8526-407D-8A54-BA94087C5A78}"/>
              </a:ext>
            </a:extLst>
          </p:cNvPr>
          <p:cNvSpPr>
            <a:spLocks xmlns:a="http://schemas.openxmlformats.org/drawingml/2006/main" noGrp="1"/>
          </p:cNvSpPr>
          <p:nvPr/>
        </p:nvSpPr>
        <p:spPr>
          <a:xfrm xmlns:a="http://schemas.openxmlformats.org/drawingml/2006/main">
            <a:off x="685800" y="4819650"/>
            <a:ext cx="417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01  Core Setup</a:t>
            </a:r>
          </a:p>
        </p:txBody>
      </p:sp>
      <p:sp>
        <p:nvSpPr>
          <p:cNvPr id="18" name="text-52">
            <a:extLst xmlns:a="http://schemas.openxmlformats.org/drawingml/2006/main">
              <a:ext uri="{FF2B5EF4-FFF2-40B4-BE49-F238E27FC236}">
                <a16:creationId xmlns:a16="http://schemas.microsoft.com/office/drawing/2014/main" id="{F6D5D2CB-6476-4181-AEC4-CBBB17E1449A}"/>
              </a:ext>
            </a:extLst>
          </p:cNvPr>
          <p:cNvSpPr>
            <a:spLocks xmlns:a="http://schemas.openxmlformats.org/drawingml/2006/main" noGrp="1"/>
          </p:cNvSpPr>
          <p:nvPr/>
        </p:nvSpPr>
        <p:spPr>
          <a:xfrm xmlns:a="http://schemas.openxmlformats.org/drawingml/2006/main">
            <a:off x="685800" y="5343525"/>
            <a:ext cx="417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02  Product &amp; Inventory</a:t>
            </a:r>
          </a:p>
        </p:txBody>
      </p:sp>
      <p:sp>
        <p:nvSpPr>
          <p:cNvPr id="19" name="text-53">
            <a:extLst xmlns:a="http://schemas.openxmlformats.org/drawingml/2006/main">
              <a:ext uri="{FF2B5EF4-FFF2-40B4-BE49-F238E27FC236}">
                <a16:creationId xmlns:a16="http://schemas.microsoft.com/office/drawing/2014/main" id="{1EDC4602-CA3C-4120-95DE-BF3C3C30168E}"/>
              </a:ext>
            </a:extLst>
          </p:cNvPr>
          <p:cNvSpPr>
            <a:spLocks xmlns:a="http://schemas.openxmlformats.org/drawingml/2006/main" noGrp="1"/>
          </p:cNvSpPr>
          <p:nvPr/>
        </p:nvSpPr>
        <p:spPr>
          <a:xfrm xmlns:a="http://schemas.openxmlformats.org/drawingml/2006/main">
            <a:off x="685800" y="5867400"/>
            <a:ext cx="417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03  Retail POS</a:t>
            </a:r>
          </a:p>
        </p:txBody>
      </p:sp>
      <p:sp>
        <p:nvSpPr>
          <p:cNvPr id="20" name="text-54">
            <a:extLst xmlns:a="http://schemas.openxmlformats.org/drawingml/2006/main">
              <a:ext uri="{FF2B5EF4-FFF2-40B4-BE49-F238E27FC236}">
                <a16:creationId xmlns:a16="http://schemas.microsoft.com/office/drawing/2014/main" id="{17C9022E-39B5-4489-ADF5-07944F33DEE3}"/>
              </a:ext>
            </a:extLst>
          </p:cNvPr>
          <p:cNvSpPr>
            <a:spLocks xmlns:a="http://schemas.openxmlformats.org/drawingml/2006/main" noGrp="1"/>
          </p:cNvSpPr>
          <p:nvPr/>
        </p:nvSpPr>
        <p:spPr>
          <a:xfrm xmlns:a="http://schemas.openxmlformats.org/drawingml/2006/main">
            <a:off x="685800" y="6391275"/>
            <a:ext cx="417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04  Purchasing &amp; Vendors</a:t>
            </a:r>
          </a:p>
        </p:txBody>
      </p:sp>
      <p:sp>
        <p:nvSpPr>
          <p:cNvPr id="21" name="rule-55">
            <a:extLst xmlns:a="http://schemas.openxmlformats.org/drawingml/2006/main">
              <a:ext uri="{FF2B5EF4-FFF2-40B4-BE49-F238E27FC236}">
                <a16:creationId xmlns:a16="http://schemas.microsoft.com/office/drawing/2014/main" id="{067AA8A6-D7ED-47C7-99EA-BF37EEF02B62}"/>
              </a:ext>
            </a:extLst>
          </p:cNvPr>
          <p:cNvSpPr>
            <a:spLocks xmlns:a="http://schemas.openxmlformats.org/drawingml/2006/main" noGrp="1"/>
          </p:cNvSpPr>
          <p:nvPr/>
        </p:nvSpPr>
        <p:spPr>
          <a:xfrm xmlns:a="http://schemas.openxmlformats.org/drawingml/2006/main">
            <a:off x="5372100" y="383857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22" name="text-56">
            <a:extLst xmlns:a="http://schemas.openxmlformats.org/drawingml/2006/main">
              <a:ext uri="{FF2B5EF4-FFF2-40B4-BE49-F238E27FC236}">
                <a16:creationId xmlns:a16="http://schemas.microsoft.com/office/drawing/2014/main" id="{73EEEA04-DF9A-4F59-A218-F272A6704CE6}"/>
              </a:ext>
            </a:extLst>
          </p:cNvPr>
          <p:cNvSpPr>
            <a:spLocks xmlns:a="http://schemas.openxmlformats.org/drawingml/2006/main" noGrp="1"/>
          </p:cNvSpPr>
          <p:nvPr/>
        </p:nvSpPr>
        <p:spPr>
          <a:xfrm xmlns:a="http://schemas.openxmlformats.org/drawingml/2006/main">
            <a:off x="5372100" y="4067175"/>
            <a:ext cx="40386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05–07  Expand</a:t>
            </a:r>
          </a:p>
        </p:txBody>
      </p:sp>
      <p:sp>
        <p:nvSpPr>
          <p:cNvPr id="23" name="text-57">
            <a:extLst xmlns:a="http://schemas.openxmlformats.org/drawingml/2006/main">
              <a:ext uri="{FF2B5EF4-FFF2-40B4-BE49-F238E27FC236}">
                <a16:creationId xmlns:a16="http://schemas.microsoft.com/office/drawing/2014/main" id="{C5734E24-B118-4F61-BD04-5170488CFCCA}"/>
              </a:ext>
            </a:extLst>
          </p:cNvPr>
          <p:cNvSpPr>
            <a:spLocks xmlns:a="http://schemas.openxmlformats.org/drawingml/2006/main" noGrp="1"/>
          </p:cNvSpPr>
          <p:nvPr/>
        </p:nvSpPr>
        <p:spPr>
          <a:xfrm xmlns:a="http://schemas.openxmlformats.org/drawingml/2006/main">
            <a:off x="5372100" y="4819650"/>
            <a:ext cx="417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05  Wholesale &amp; B2B Portal</a:t>
            </a:r>
          </a:p>
        </p:txBody>
      </p:sp>
      <p:sp>
        <p:nvSpPr>
          <p:cNvPr id="24" name="text-58">
            <a:extLst xmlns:a="http://schemas.openxmlformats.org/drawingml/2006/main">
              <a:ext uri="{FF2B5EF4-FFF2-40B4-BE49-F238E27FC236}">
                <a16:creationId xmlns:a16="http://schemas.microsoft.com/office/drawing/2014/main" id="{2FA912E5-E0EA-4139-AEBE-EF0ED1CBE146}"/>
              </a:ext>
            </a:extLst>
          </p:cNvPr>
          <p:cNvSpPr>
            <a:spLocks xmlns:a="http://schemas.openxmlformats.org/drawingml/2006/main" noGrp="1"/>
          </p:cNvSpPr>
          <p:nvPr/>
        </p:nvSpPr>
        <p:spPr>
          <a:xfrm xmlns:a="http://schemas.openxmlformats.org/drawingml/2006/main">
            <a:off x="5372100" y="5343525"/>
            <a:ext cx="417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06  E-Commerce Hub</a:t>
            </a:r>
          </a:p>
        </p:txBody>
      </p:sp>
      <p:sp>
        <p:nvSpPr>
          <p:cNvPr id="25" name="text-59">
            <a:extLst xmlns:a="http://schemas.openxmlformats.org/drawingml/2006/main">
              <a:ext uri="{FF2B5EF4-FFF2-40B4-BE49-F238E27FC236}">
                <a16:creationId xmlns:a16="http://schemas.microsoft.com/office/drawing/2014/main" id="{CAC3C1D4-5FBC-4D8D-8743-EAC1B2114228}"/>
              </a:ext>
            </a:extLst>
          </p:cNvPr>
          <p:cNvSpPr>
            <a:spLocks xmlns:a="http://schemas.openxmlformats.org/drawingml/2006/main" noGrp="1"/>
          </p:cNvSpPr>
          <p:nvPr/>
        </p:nvSpPr>
        <p:spPr>
          <a:xfrm xmlns:a="http://schemas.openxmlformats.org/drawingml/2006/main">
            <a:off x="5372100" y="5867400"/>
            <a:ext cx="417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07  Reports &amp; Dashboards</a:t>
            </a:r>
          </a:p>
        </p:txBody>
      </p:sp>
      <p:sp>
        <p:nvSpPr>
          <p:cNvPr id="26" name="rule-60">
            <a:extLst xmlns:a="http://schemas.openxmlformats.org/drawingml/2006/main">
              <a:ext uri="{FF2B5EF4-FFF2-40B4-BE49-F238E27FC236}">
                <a16:creationId xmlns:a16="http://schemas.microsoft.com/office/drawing/2014/main" id="{2CC74313-D443-4E82-86F1-DBBE923DF8F6}"/>
              </a:ext>
            </a:extLst>
          </p:cNvPr>
          <p:cNvSpPr>
            <a:spLocks xmlns:a="http://schemas.openxmlformats.org/drawingml/2006/main" noGrp="1"/>
          </p:cNvSpPr>
          <p:nvPr/>
        </p:nvSpPr>
        <p:spPr>
          <a:xfrm xmlns:a="http://schemas.openxmlformats.org/drawingml/2006/main">
            <a:off x="10058400" y="383857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27" name="text-61">
            <a:extLst xmlns:a="http://schemas.openxmlformats.org/drawingml/2006/main">
              <a:ext uri="{FF2B5EF4-FFF2-40B4-BE49-F238E27FC236}">
                <a16:creationId xmlns:a16="http://schemas.microsoft.com/office/drawing/2014/main" id="{4253EBEA-9F37-4E65-BA63-F3A1F93CAB11}"/>
              </a:ext>
            </a:extLst>
          </p:cNvPr>
          <p:cNvSpPr>
            <a:spLocks xmlns:a="http://schemas.openxmlformats.org/drawingml/2006/main" noGrp="1"/>
          </p:cNvSpPr>
          <p:nvPr/>
        </p:nvSpPr>
        <p:spPr>
          <a:xfrm xmlns:a="http://schemas.openxmlformats.org/drawingml/2006/main">
            <a:off x="10058400" y="4067175"/>
            <a:ext cx="40386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08–09  Optimize</a:t>
            </a:r>
          </a:p>
        </p:txBody>
      </p:sp>
      <p:sp>
        <p:nvSpPr>
          <p:cNvPr id="28" name="text-62">
            <a:extLst xmlns:a="http://schemas.openxmlformats.org/drawingml/2006/main">
              <a:ext uri="{FF2B5EF4-FFF2-40B4-BE49-F238E27FC236}">
                <a16:creationId xmlns:a16="http://schemas.microsoft.com/office/drawing/2014/main" id="{98A46AAA-1D6C-4741-94A4-4EA208285A83}"/>
              </a:ext>
            </a:extLst>
          </p:cNvPr>
          <p:cNvSpPr>
            <a:spLocks xmlns:a="http://schemas.openxmlformats.org/drawingml/2006/main" noGrp="1"/>
          </p:cNvSpPr>
          <p:nvPr/>
        </p:nvSpPr>
        <p:spPr>
          <a:xfrm xmlns:a="http://schemas.openxmlformats.org/drawingml/2006/main">
            <a:off x="10058400" y="4819650"/>
            <a:ext cx="417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08  Smart Demand Forecasting</a:t>
            </a:r>
          </a:p>
        </p:txBody>
      </p:sp>
      <p:sp>
        <p:nvSpPr>
          <p:cNvPr id="29" name="text-63">
            <a:extLst xmlns:a="http://schemas.openxmlformats.org/drawingml/2006/main">
              <a:ext uri="{FF2B5EF4-FFF2-40B4-BE49-F238E27FC236}">
                <a16:creationId xmlns:a16="http://schemas.microsoft.com/office/drawing/2014/main" id="{97EF1932-A1DB-4682-B933-3CBDF670CC4B}"/>
              </a:ext>
            </a:extLst>
          </p:cNvPr>
          <p:cNvSpPr>
            <a:spLocks xmlns:a="http://schemas.openxmlformats.org/drawingml/2006/main" noGrp="1"/>
          </p:cNvSpPr>
          <p:nvPr/>
        </p:nvSpPr>
        <p:spPr>
          <a:xfrm xmlns:a="http://schemas.openxmlformats.org/drawingml/2006/main">
            <a:off x="10058400" y="5343525"/>
            <a:ext cx="417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09  Accounting &amp; Finance</a:t>
            </a:r>
          </a:p>
        </p:txBody>
      </p:sp>
    </p:spTree>
    <p:extLst>
      <p:ext uri="{BB962C8B-B14F-4D97-AF65-F5344CB8AC3E}">
        <p14:creationId xmlns:p14="http://schemas.microsoft.com/office/powerpoint/2010/main" val="606639494"/>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8" name="text-64">
            <a:extLst xmlns:a="http://schemas.openxmlformats.org/drawingml/2006/main">
              <a:ext uri="{FF2B5EF4-FFF2-40B4-BE49-F238E27FC236}">
                <a16:creationId xmlns:a16="http://schemas.microsoft.com/office/drawing/2014/main" id="{DBBAD01A-9947-4A60-9980-5735A60F8638}"/>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DEMO STATUS / SCOPE CLARITY</a:t>
            </a:r>
          </a:p>
        </p:txBody>
      </p:sp>
      <p:sp>
        <p:nvSpPr>
          <p:cNvPr id="2" name="text-65">
            <a:extLst xmlns:a="http://schemas.openxmlformats.org/drawingml/2006/main">
              <a:ext uri="{FF2B5EF4-FFF2-40B4-BE49-F238E27FC236}">
                <a16:creationId xmlns:a16="http://schemas.microsoft.com/office/drawing/2014/main" id="{57DCC327-F6B1-4EF5-AFDC-21A808BA97FB}"/>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What you can see today—and what comes next</a:t>
            </a:r>
          </a:p>
        </p:txBody>
      </p:sp>
      <p:sp>
        <p:nvSpPr>
          <p:cNvPr id="3" name="rule-66">
            <a:extLst xmlns:a="http://schemas.openxmlformats.org/drawingml/2006/main">
              <a:ext uri="{FF2B5EF4-FFF2-40B4-BE49-F238E27FC236}">
                <a16:creationId xmlns:a16="http://schemas.microsoft.com/office/drawing/2014/main" id="{03E4BDCD-5839-43F0-8877-0EB896222284}"/>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67">
            <a:extLst xmlns:a="http://schemas.openxmlformats.org/drawingml/2006/main">
              <a:ext uri="{FF2B5EF4-FFF2-40B4-BE49-F238E27FC236}">
                <a16:creationId xmlns:a16="http://schemas.microsoft.com/office/drawing/2014/main" id="{74879839-2124-4F28-8DD1-F1EC2073D18E}"/>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68">
            <a:extLst xmlns:a="http://schemas.openxmlformats.org/drawingml/2006/main">
              <a:ext uri="{FF2B5EF4-FFF2-40B4-BE49-F238E27FC236}">
                <a16:creationId xmlns:a16="http://schemas.microsoft.com/office/drawing/2014/main" id="{C2874E7E-7E51-4B2A-B0E9-3CCB489FA05B}"/>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04</a:t>
            </a:r>
          </a:p>
        </p:txBody>
      </p:sp>
      <p:sp>
        <p:nvSpPr>
          <p:cNvPr id="6" name="text-69">
            <a:extLst xmlns:a="http://schemas.openxmlformats.org/drawingml/2006/main">
              <a:ext uri="{FF2B5EF4-FFF2-40B4-BE49-F238E27FC236}">
                <a16:creationId xmlns:a16="http://schemas.microsoft.com/office/drawing/2014/main" id="{642CADD4-622C-4891-B8B7-DFCBF611A858}"/>
              </a:ext>
            </a:extLst>
          </p:cNvPr>
          <p:cNvSpPr>
            <a:spLocks xmlns:a="http://schemas.openxmlformats.org/drawingml/2006/main" noGrp="1"/>
          </p:cNvSpPr>
          <p:nvPr/>
        </p:nvSpPr>
        <p:spPr>
          <a:xfrm xmlns:a="http://schemas.openxmlformats.org/drawingml/2006/main">
            <a:off x="685800" y="2314575"/>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3716D"/>
                </a:solidFill>
                <a:latin typeface="Aptos"/>
                <a:ea typeface="Aptos"/>
                <a:cs typeface="Aptos"/>
              </a:defRPr>
            </a:pPr>
            <a:r>
              <a:rPr sz="2175" b="1">
                <a:solidFill>
                  <a:srgbClr val="23716D"/>
                </a:solidFill>
                <a:latin typeface="Aptos"/>
                <a:ea typeface="Aptos"/>
                <a:cs typeface="Aptos"/>
              </a:rPr>
              <a:t>TODAY’S DEMONSTRATION</a:t>
            </a:r>
          </a:p>
        </p:txBody>
      </p:sp>
      <p:sp>
        <p:nvSpPr>
          <p:cNvPr id="7" name="text-70">
            <a:extLst xmlns:a="http://schemas.openxmlformats.org/drawingml/2006/main">
              <a:ext uri="{FF2B5EF4-FFF2-40B4-BE49-F238E27FC236}">
                <a16:creationId xmlns:a16="http://schemas.microsoft.com/office/drawing/2014/main" id="{CB690EC2-E8EE-4AEF-9F62-1998002CD644}"/>
              </a:ext>
            </a:extLst>
          </p:cNvPr>
          <p:cNvSpPr>
            <a:spLocks xmlns:a="http://schemas.openxmlformats.org/drawingml/2006/main" noGrp="1"/>
          </p:cNvSpPr>
          <p:nvPr/>
        </p:nvSpPr>
        <p:spPr>
          <a:xfrm xmlns:a="http://schemas.openxmlformats.org/drawingml/2006/main">
            <a:off x="8096250" y="231457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B28B4E"/>
                </a:solidFill>
                <a:latin typeface="Aptos"/>
                <a:ea typeface="Aptos"/>
                <a:cs typeface="Aptos"/>
              </a:defRPr>
            </a:pPr>
            <a:r>
              <a:rPr sz="2175" b="1">
                <a:solidFill>
                  <a:srgbClr val="B28B4E"/>
                </a:solidFill>
                <a:latin typeface="Aptos"/>
                <a:ea typeface="Aptos"/>
                <a:cs typeface="Aptos"/>
              </a:rPr>
              <a:t>COMPLETED ERP VISION</a:t>
            </a:r>
          </a:p>
        </p:txBody>
      </p:sp>
      <p:sp>
        <p:nvSpPr>
          <p:cNvPr id="8" name="rule-71">
            <a:extLst xmlns:a="http://schemas.openxmlformats.org/drawingml/2006/main">
              <a:ext uri="{FF2B5EF4-FFF2-40B4-BE49-F238E27FC236}">
                <a16:creationId xmlns:a16="http://schemas.microsoft.com/office/drawing/2014/main" id="{77E77F4C-6D72-41D3-A4CF-6506A8DBAAB2}"/>
              </a:ext>
            </a:extLst>
          </p:cNvPr>
          <p:cNvSpPr>
            <a:spLocks xmlns:a="http://schemas.openxmlformats.org/drawingml/2006/main" noGrp="1"/>
          </p:cNvSpPr>
          <p:nvPr/>
        </p:nvSpPr>
        <p:spPr>
          <a:xfrm xmlns:a="http://schemas.openxmlformats.org/drawingml/2006/main">
            <a:off x="685800" y="2895600"/>
            <a:ext cx="62865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9" name="rule-72">
            <a:extLst xmlns:a="http://schemas.openxmlformats.org/drawingml/2006/main">
              <a:ext uri="{FF2B5EF4-FFF2-40B4-BE49-F238E27FC236}">
                <a16:creationId xmlns:a16="http://schemas.microsoft.com/office/drawing/2014/main" id="{D33E4295-8C7C-4E46-907C-2C9D8E5BA2CC}"/>
              </a:ext>
            </a:extLst>
          </p:cNvPr>
          <p:cNvSpPr>
            <a:spLocks xmlns:a="http://schemas.openxmlformats.org/drawingml/2006/main" noGrp="1"/>
          </p:cNvSpPr>
          <p:nvPr/>
        </p:nvSpPr>
        <p:spPr>
          <a:xfrm xmlns:a="http://schemas.openxmlformats.org/drawingml/2006/main">
            <a:off x="8096250" y="2895600"/>
            <a:ext cx="645795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10" name="text-73">
            <a:extLst xmlns:a="http://schemas.openxmlformats.org/drawingml/2006/main">
              <a:ext uri="{FF2B5EF4-FFF2-40B4-BE49-F238E27FC236}">
                <a16:creationId xmlns:a16="http://schemas.microsoft.com/office/drawing/2014/main" id="{120AE70B-918C-4897-A9BA-37A9C87076B1}"/>
              </a:ext>
            </a:extLst>
          </p:cNvPr>
          <p:cNvSpPr>
            <a:spLocks xmlns:a="http://schemas.openxmlformats.org/drawingml/2006/main" noGrp="1"/>
          </p:cNvSpPr>
          <p:nvPr/>
        </p:nvSpPr>
        <p:spPr>
          <a:xfrm xmlns:a="http://schemas.openxmlformats.org/drawingml/2006/main">
            <a:off x="685800" y="3209925"/>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Core Setup &amp; sign-in</a:t>
            </a:r>
          </a:p>
        </p:txBody>
      </p:sp>
      <p:sp>
        <p:nvSpPr>
          <p:cNvPr id="11" name="text-74">
            <a:extLst xmlns:a="http://schemas.openxmlformats.org/drawingml/2006/main">
              <a:ext uri="{FF2B5EF4-FFF2-40B4-BE49-F238E27FC236}">
                <a16:creationId xmlns:a16="http://schemas.microsoft.com/office/drawing/2014/main" id="{91374033-1F63-4348-A5D4-98615180BB9B}"/>
              </a:ext>
            </a:extLst>
          </p:cNvPr>
          <p:cNvSpPr>
            <a:spLocks xmlns:a="http://schemas.openxmlformats.org/drawingml/2006/main" noGrp="1"/>
          </p:cNvSpPr>
          <p:nvPr/>
        </p:nvSpPr>
        <p:spPr>
          <a:xfrm xmlns:a="http://schemas.openxmlformats.org/drawingml/2006/main">
            <a:off x="685800" y="3800475"/>
            <a:ext cx="628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Location, staff and policy demos; real login roles.</a:t>
            </a:r>
          </a:p>
        </p:txBody>
      </p:sp>
      <p:sp>
        <p:nvSpPr>
          <p:cNvPr id="12" name="text-75">
            <a:extLst xmlns:a="http://schemas.openxmlformats.org/drawingml/2006/main">
              <a:ext uri="{FF2B5EF4-FFF2-40B4-BE49-F238E27FC236}">
                <a16:creationId xmlns:a16="http://schemas.microsoft.com/office/drawing/2014/main" id="{A592D522-E276-4A6A-91BA-39216C0DC947}"/>
              </a:ext>
            </a:extLst>
          </p:cNvPr>
          <p:cNvSpPr>
            <a:spLocks xmlns:a="http://schemas.openxmlformats.org/drawingml/2006/main" noGrp="1"/>
          </p:cNvSpPr>
          <p:nvPr/>
        </p:nvSpPr>
        <p:spPr>
          <a:xfrm xmlns:a="http://schemas.openxmlformats.org/drawingml/2006/main">
            <a:off x="685800" y="4933950"/>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Inventory + Retail POS</a:t>
            </a:r>
          </a:p>
        </p:txBody>
      </p:sp>
      <p:sp>
        <p:nvSpPr>
          <p:cNvPr id="13" name="text-76">
            <a:extLst xmlns:a="http://schemas.openxmlformats.org/drawingml/2006/main">
              <a:ext uri="{FF2B5EF4-FFF2-40B4-BE49-F238E27FC236}">
                <a16:creationId xmlns:a16="http://schemas.microsoft.com/office/drawing/2014/main" id="{56CBEB44-7334-4FF3-A976-F5525F5BBAE4}"/>
              </a:ext>
            </a:extLst>
          </p:cNvPr>
          <p:cNvSpPr>
            <a:spLocks xmlns:a="http://schemas.openxmlformats.org/drawingml/2006/main" noGrp="1"/>
          </p:cNvSpPr>
          <p:nvPr/>
        </p:nvSpPr>
        <p:spPr>
          <a:xfrm xmlns:a="http://schemas.openxmlformats.org/drawingml/2006/main">
            <a:off x="685800" y="5524500"/>
            <a:ext cx="6286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Catalog, stock operations, sales, returns,</a:t>
            </a:r>
          </a:p>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customer credit and shift reconciliation.</a:t>
            </a:r>
          </a:p>
        </p:txBody>
      </p:sp>
      <p:sp>
        <p:nvSpPr>
          <p:cNvPr id="14" name="text-77">
            <a:extLst xmlns:a="http://schemas.openxmlformats.org/drawingml/2006/main">
              <a:ext uri="{FF2B5EF4-FFF2-40B4-BE49-F238E27FC236}">
                <a16:creationId xmlns:a16="http://schemas.microsoft.com/office/drawing/2014/main" id="{D3B7BF77-DC31-4BA3-AFD4-BF572FB66738}"/>
              </a:ext>
            </a:extLst>
          </p:cNvPr>
          <p:cNvSpPr>
            <a:spLocks xmlns:a="http://schemas.openxmlformats.org/drawingml/2006/main" noGrp="1"/>
          </p:cNvSpPr>
          <p:nvPr/>
        </p:nvSpPr>
        <p:spPr>
          <a:xfrm xmlns:a="http://schemas.openxmlformats.org/drawingml/2006/main">
            <a:off x="8096250" y="3209925"/>
            <a:ext cx="6457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Modules 04–09</a:t>
            </a:r>
          </a:p>
        </p:txBody>
      </p:sp>
      <p:sp>
        <p:nvSpPr>
          <p:cNvPr id="15" name="text-78">
            <a:extLst xmlns:a="http://schemas.openxmlformats.org/drawingml/2006/main">
              <a:ext uri="{FF2B5EF4-FFF2-40B4-BE49-F238E27FC236}">
                <a16:creationId xmlns:a16="http://schemas.microsoft.com/office/drawing/2014/main" id="{7EFCC72A-BED6-47A3-B70E-78982771A79D}"/>
              </a:ext>
            </a:extLst>
          </p:cNvPr>
          <p:cNvSpPr>
            <a:spLocks xmlns:a="http://schemas.openxmlformats.org/drawingml/2006/main" noGrp="1"/>
          </p:cNvSpPr>
          <p:nvPr/>
        </p:nvSpPr>
        <p:spPr>
          <a:xfrm xmlns:a="http://schemas.openxmlformats.org/drawingml/2006/main">
            <a:off x="8096250" y="3800475"/>
            <a:ext cx="6457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Purchasing, B2B, online channels, reports,</a:t>
            </a:r>
          </a:p>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forecasting and finance remain planned.</a:t>
            </a:r>
          </a:p>
        </p:txBody>
      </p:sp>
      <p:sp>
        <p:nvSpPr>
          <p:cNvPr id="16" name="text-79">
            <a:extLst xmlns:a="http://schemas.openxmlformats.org/drawingml/2006/main">
              <a:ext uri="{FF2B5EF4-FFF2-40B4-BE49-F238E27FC236}">
                <a16:creationId xmlns:a16="http://schemas.microsoft.com/office/drawing/2014/main" id="{EC9A7A6C-8833-4882-99AE-A85D8B582C23}"/>
              </a:ext>
            </a:extLst>
          </p:cNvPr>
          <p:cNvSpPr>
            <a:spLocks xmlns:a="http://schemas.openxmlformats.org/drawingml/2006/main" noGrp="1"/>
          </p:cNvSpPr>
          <p:nvPr/>
        </p:nvSpPr>
        <p:spPr>
          <a:xfrm xmlns:a="http://schemas.openxmlformats.org/drawingml/2006/main">
            <a:off x="8096250" y="5248275"/>
            <a:ext cx="6457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Production rollout</a:t>
            </a:r>
          </a:p>
        </p:txBody>
      </p:sp>
      <p:sp>
        <p:nvSpPr>
          <p:cNvPr id="17" name="text-80">
            <a:extLst xmlns:a="http://schemas.openxmlformats.org/drawingml/2006/main">
              <a:ext uri="{FF2B5EF4-FFF2-40B4-BE49-F238E27FC236}">
                <a16:creationId xmlns:a16="http://schemas.microsoft.com/office/drawing/2014/main" id="{2AB28EE6-A239-4DB7-AF27-51342D44DDBF}"/>
              </a:ext>
            </a:extLst>
          </p:cNvPr>
          <p:cNvSpPr>
            <a:spLocks xmlns:a="http://schemas.openxmlformats.org/drawingml/2006/main" noGrp="1"/>
          </p:cNvSpPr>
          <p:nvPr/>
        </p:nvSpPr>
        <p:spPr>
          <a:xfrm xmlns:a="http://schemas.openxmlformats.org/drawingml/2006/main">
            <a:off x="8096250" y="5838825"/>
            <a:ext cx="6457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Integrations, data migration, operational controls</a:t>
            </a:r>
          </a:p>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and acceptance testing complete the journey.</a:t>
            </a:r>
          </a:p>
        </p:txBody>
      </p:sp>
    </p:spTree>
    <p:extLst>
      <p:ext uri="{BB962C8B-B14F-4D97-AF65-F5344CB8AC3E}">
        <p14:creationId xmlns:p14="http://schemas.microsoft.com/office/powerpoint/2010/main" val="1054218518"/>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4" name="text-81">
            <a:extLst xmlns:a="http://schemas.openxmlformats.org/drawingml/2006/main">
              <a:ext uri="{FF2B5EF4-FFF2-40B4-BE49-F238E27FC236}">
                <a16:creationId xmlns:a16="http://schemas.microsoft.com/office/drawing/2014/main" id="{CAB881A8-9718-4844-990D-20F5074CA52E}"/>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END-TO-END FLOW / COMPLETED ERP VISION</a:t>
            </a:r>
          </a:p>
        </p:txBody>
      </p:sp>
      <p:sp>
        <p:nvSpPr>
          <p:cNvPr id="2" name="text-82">
            <a:extLst xmlns:a="http://schemas.openxmlformats.org/drawingml/2006/main">
              <a:ext uri="{FF2B5EF4-FFF2-40B4-BE49-F238E27FC236}">
                <a16:creationId xmlns:a16="http://schemas.microsoft.com/office/drawing/2014/main" id="{C5B94001-7324-4912-882D-BCB1F02B14D4}"/>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Follow one product through the whole business</a:t>
            </a:r>
          </a:p>
        </p:txBody>
      </p:sp>
      <p:sp>
        <p:nvSpPr>
          <p:cNvPr id="3" name="rule-83">
            <a:extLst xmlns:a="http://schemas.openxmlformats.org/drawingml/2006/main">
              <a:ext uri="{FF2B5EF4-FFF2-40B4-BE49-F238E27FC236}">
                <a16:creationId xmlns:a16="http://schemas.microsoft.com/office/drawing/2014/main" id="{6682CFC1-E7BC-4DE5-A3E6-02D3C6F7C6EB}"/>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84">
            <a:extLst xmlns:a="http://schemas.openxmlformats.org/drawingml/2006/main">
              <a:ext uri="{FF2B5EF4-FFF2-40B4-BE49-F238E27FC236}">
                <a16:creationId xmlns:a16="http://schemas.microsoft.com/office/drawing/2014/main" id="{750E6B4C-7EE5-4245-9474-908D3B6D26C6}"/>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85">
            <a:extLst xmlns:a="http://schemas.openxmlformats.org/drawingml/2006/main">
              <a:ext uri="{FF2B5EF4-FFF2-40B4-BE49-F238E27FC236}">
                <a16:creationId xmlns:a16="http://schemas.microsoft.com/office/drawing/2014/main" id="{70A81FAE-7794-41E6-A1C5-F8AA0B038E2D}"/>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05</a:t>
            </a:r>
          </a:p>
        </p:txBody>
      </p:sp>
      <p:sp>
        <p:nvSpPr>
          <p:cNvPr id="6" name="edge-86">
            <a:extLst xmlns:a="http://schemas.openxmlformats.org/drawingml/2006/main">
              <a:ext uri="{FF2B5EF4-FFF2-40B4-BE49-F238E27FC236}">
                <a16:creationId xmlns:a16="http://schemas.microsoft.com/office/drawing/2014/main" id="{EC145D66-D354-45E7-83A2-3846215E12CF}"/>
              </a:ext>
            </a:extLst>
          </p:cNvPr>
          <p:cNvSpPr>
            <a:spLocks xmlns:a="http://schemas.openxmlformats.org/drawingml/2006/main" noGrp="1"/>
          </p:cNvSpPr>
          <p:nvPr/>
        </p:nvSpPr>
        <p:spPr>
          <a:xfrm xmlns:a="http://schemas.openxmlformats.org/drawingml/2006/main" flipH="0" flipV="0">
            <a:off x="3967163" y="3457575"/>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7" name="text-87">
            <a:extLst xmlns:a="http://schemas.openxmlformats.org/drawingml/2006/main">
              <a:ext uri="{FF2B5EF4-FFF2-40B4-BE49-F238E27FC236}">
                <a16:creationId xmlns:a16="http://schemas.microsoft.com/office/drawing/2014/main" id="{0F21A1D6-CE02-4848-B793-3BA72EBD02F1}"/>
              </a:ext>
            </a:extLst>
          </p:cNvPr>
          <p:cNvSpPr>
            <a:spLocks xmlns:a="http://schemas.openxmlformats.org/drawingml/2006/main" noGrp="1"/>
          </p:cNvSpPr>
          <p:nvPr/>
        </p:nvSpPr>
        <p:spPr>
          <a:xfrm xmlns:a="http://schemas.openxmlformats.org/drawingml/2006/main">
            <a:off x="4014788" y="3248025"/>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8" name="edge-88">
            <a:extLst xmlns:a="http://schemas.openxmlformats.org/drawingml/2006/main">
              <a:ext uri="{FF2B5EF4-FFF2-40B4-BE49-F238E27FC236}">
                <a16:creationId xmlns:a16="http://schemas.microsoft.com/office/drawing/2014/main" id="{3F3D55CC-0789-495C-9815-3EE83567C28A}"/>
              </a:ext>
            </a:extLst>
          </p:cNvPr>
          <p:cNvSpPr>
            <a:spLocks xmlns:a="http://schemas.openxmlformats.org/drawingml/2006/main" noGrp="1"/>
          </p:cNvSpPr>
          <p:nvPr/>
        </p:nvSpPr>
        <p:spPr>
          <a:xfrm xmlns:a="http://schemas.openxmlformats.org/drawingml/2006/main" flipH="0" flipV="0">
            <a:off x="7496175" y="3457575"/>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9" name="text-89">
            <a:extLst xmlns:a="http://schemas.openxmlformats.org/drawingml/2006/main">
              <a:ext uri="{FF2B5EF4-FFF2-40B4-BE49-F238E27FC236}">
                <a16:creationId xmlns:a16="http://schemas.microsoft.com/office/drawing/2014/main" id="{7F0AB2F1-BC9F-4ED4-A2C7-8E47F396BC12}"/>
              </a:ext>
            </a:extLst>
          </p:cNvPr>
          <p:cNvSpPr>
            <a:spLocks xmlns:a="http://schemas.openxmlformats.org/drawingml/2006/main" noGrp="1"/>
          </p:cNvSpPr>
          <p:nvPr/>
        </p:nvSpPr>
        <p:spPr>
          <a:xfrm xmlns:a="http://schemas.openxmlformats.org/drawingml/2006/main">
            <a:off x="7543800" y="3248025"/>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0" name="edge-90">
            <a:extLst xmlns:a="http://schemas.openxmlformats.org/drawingml/2006/main">
              <a:ext uri="{FF2B5EF4-FFF2-40B4-BE49-F238E27FC236}">
                <a16:creationId xmlns:a16="http://schemas.microsoft.com/office/drawing/2014/main" id="{C377272E-A3A2-47A3-9ADE-067C87D5FD4D}"/>
              </a:ext>
            </a:extLst>
          </p:cNvPr>
          <p:cNvSpPr>
            <a:spLocks xmlns:a="http://schemas.openxmlformats.org/drawingml/2006/main" noGrp="1"/>
          </p:cNvSpPr>
          <p:nvPr/>
        </p:nvSpPr>
        <p:spPr>
          <a:xfrm xmlns:a="http://schemas.openxmlformats.org/drawingml/2006/main" flipH="0" flipV="0">
            <a:off x="11025188" y="3457575"/>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1" name="text-91">
            <a:extLst xmlns:a="http://schemas.openxmlformats.org/drawingml/2006/main">
              <a:ext uri="{FF2B5EF4-FFF2-40B4-BE49-F238E27FC236}">
                <a16:creationId xmlns:a16="http://schemas.microsoft.com/office/drawing/2014/main" id="{1C0183BD-8265-437F-BC3B-4742E839987F}"/>
              </a:ext>
            </a:extLst>
          </p:cNvPr>
          <p:cNvSpPr>
            <a:spLocks xmlns:a="http://schemas.openxmlformats.org/drawingml/2006/main" noGrp="1"/>
          </p:cNvSpPr>
          <p:nvPr/>
        </p:nvSpPr>
        <p:spPr>
          <a:xfrm xmlns:a="http://schemas.openxmlformats.org/drawingml/2006/main">
            <a:off x="11072813" y="3248025"/>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2" name="surface-92">
            <a:extLst xmlns:a="http://schemas.openxmlformats.org/drawingml/2006/main">
              <a:ext uri="{FF2B5EF4-FFF2-40B4-BE49-F238E27FC236}">
                <a16:creationId xmlns:a16="http://schemas.microsoft.com/office/drawing/2014/main" id="{6B5381DF-BCC0-4F28-9846-C3125306796D}"/>
              </a:ext>
            </a:extLst>
          </p:cNvPr>
          <p:cNvSpPr>
            <a:spLocks xmlns:a="http://schemas.openxmlformats.org/drawingml/2006/main" noGrp="1"/>
          </p:cNvSpPr>
          <p:nvPr/>
        </p:nvSpPr>
        <p:spPr>
          <a:xfrm xmlns:a="http://schemas.openxmlformats.org/drawingml/2006/main">
            <a:off x="685800" y="2714625"/>
            <a:ext cx="3281363" cy="1485900"/>
          </a:xfrm>
          <a:prstGeom xmlns:a="http://schemas.openxmlformats.org/drawingml/2006/main" prst="rect">
            <a:avLst/>
          </a:prstGeom>
          <a:solidFill xmlns:a="http://schemas.openxmlformats.org/drawingml/2006/main">
            <a:srgbClr val="23716D"/>
          </a:solidFill>
          <a:ln xmlns:a="http://schemas.openxmlformats.org/drawingml/2006/main" w="0">
            <a:noFill/>
            <a:prstDash val="solid"/>
          </a:ln>
        </p:spPr>
      </p:sp>
      <p:sp>
        <p:nvSpPr>
          <p:cNvPr id="13" name="text-93">
            <a:extLst xmlns:a="http://schemas.openxmlformats.org/drawingml/2006/main">
              <a:ext uri="{FF2B5EF4-FFF2-40B4-BE49-F238E27FC236}">
                <a16:creationId xmlns:a16="http://schemas.microsoft.com/office/drawing/2014/main" id="{0CEDA31D-6127-4E61-8A58-DF3958CE38EC}"/>
              </a:ext>
            </a:extLst>
          </p:cNvPr>
          <p:cNvSpPr>
            <a:spLocks xmlns:a="http://schemas.openxmlformats.org/drawingml/2006/main" noGrp="1"/>
          </p:cNvSpPr>
          <p:nvPr/>
        </p:nvSpPr>
        <p:spPr>
          <a:xfrm xmlns:a="http://schemas.openxmlformats.org/drawingml/2006/main">
            <a:off x="895350" y="288607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7F5EE"/>
                </a:solidFill>
                <a:latin typeface="Aptos"/>
                <a:ea typeface="Aptos"/>
                <a:cs typeface="Aptos"/>
              </a:defRPr>
            </a:pPr>
            <a:r>
              <a:rPr sz="2400" b="1">
                <a:solidFill>
                  <a:srgbClr val="F7F5EE"/>
                </a:solidFill>
                <a:latin typeface="Aptos"/>
                <a:ea typeface="Aptos"/>
                <a:cs typeface="Aptos"/>
              </a:rPr>
              <a:t>Set up</a:t>
            </a:r>
          </a:p>
        </p:txBody>
      </p:sp>
      <p:sp>
        <p:nvSpPr>
          <p:cNvPr id="14" name="text-94">
            <a:extLst xmlns:a="http://schemas.openxmlformats.org/drawingml/2006/main">
              <a:ext uri="{FF2B5EF4-FFF2-40B4-BE49-F238E27FC236}">
                <a16:creationId xmlns:a16="http://schemas.microsoft.com/office/drawing/2014/main" id="{7A6BC216-4900-4C17-BC83-ED1157BBE68A}"/>
              </a:ext>
            </a:extLst>
          </p:cNvPr>
          <p:cNvSpPr>
            <a:spLocks xmlns:a="http://schemas.openxmlformats.org/drawingml/2006/main" noGrp="1"/>
          </p:cNvSpPr>
          <p:nvPr/>
        </p:nvSpPr>
        <p:spPr>
          <a:xfrm xmlns:a="http://schemas.openxmlformats.org/drawingml/2006/main">
            <a:off x="895350" y="3333750"/>
            <a:ext cx="28622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People, locations</a:t>
            </a:r>
          </a:p>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and access</a:t>
            </a:r>
          </a:p>
        </p:txBody>
      </p:sp>
      <p:sp>
        <p:nvSpPr>
          <p:cNvPr id="15" name="surface-95">
            <a:extLst xmlns:a="http://schemas.openxmlformats.org/drawingml/2006/main">
              <a:ext uri="{FF2B5EF4-FFF2-40B4-BE49-F238E27FC236}">
                <a16:creationId xmlns:a16="http://schemas.microsoft.com/office/drawing/2014/main" id="{FAD9DC22-D18B-4FD1-84E9-E2CDAD166A70}"/>
              </a:ext>
            </a:extLst>
          </p:cNvPr>
          <p:cNvSpPr>
            <a:spLocks xmlns:a="http://schemas.openxmlformats.org/drawingml/2006/main" noGrp="1"/>
          </p:cNvSpPr>
          <p:nvPr/>
        </p:nvSpPr>
        <p:spPr>
          <a:xfrm xmlns:a="http://schemas.openxmlformats.org/drawingml/2006/main">
            <a:off x="4214813" y="2714625"/>
            <a:ext cx="3281363" cy="14859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16" name="text-96">
            <a:extLst xmlns:a="http://schemas.openxmlformats.org/drawingml/2006/main">
              <a:ext uri="{FF2B5EF4-FFF2-40B4-BE49-F238E27FC236}">
                <a16:creationId xmlns:a16="http://schemas.microsoft.com/office/drawing/2014/main" id="{97A20AA3-BB56-4BFF-B826-3CBFAB51B794}"/>
              </a:ext>
            </a:extLst>
          </p:cNvPr>
          <p:cNvSpPr>
            <a:spLocks xmlns:a="http://schemas.openxmlformats.org/drawingml/2006/main" noGrp="1"/>
          </p:cNvSpPr>
          <p:nvPr/>
        </p:nvSpPr>
        <p:spPr>
          <a:xfrm xmlns:a="http://schemas.openxmlformats.org/drawingml/2006/main">
            <a:off x="4424363" y="288607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Buy &amp; receive</a:t>
            </a:r>
          </a:p>
        </p:txBody>
      </p:sp>
      <p:sp>
        <p:nvSpPr>
          <p:cNvPr id="17" name="text-97">
            <a:extLst xmlns:a="http://schemas.openxmlformats.org/drawingml/2006/main">
              <a:ext uri="{FF2B5EF4-FFF2-40B4-BE49-F238E27FC236}">
                <a16:creationId xmlns:a16="http://schemas.microsoft.com/office/drawing/2014/main" id="{4A782AF8-58B2-4C56-AF6E-774BE03667D2}"/>
              </a:ext>
            </a:extLst>
          </p:cNvPr>
          <p:cNvSpPr>
            <a:spLocks xmlns:a="http://schemas.openxmlformats.org/drawingml/2006/main" noGrp="1"/>
          </p:cNvSpPr>
          <p:nvPr/>
        </p:nvSpPr>
        <p:spPr>
          <a:xfrm xmlns:a="http://schemas.openxmlformats.org/drawingml/2006/main">
            <a:off x="4424363" y="3333750"/>
            <a:ext cx="28622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Vendor order</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to stock</a:t>
            </a:r>
          </a:p>
        </p:txBody>
      </p:sp>
      <p:sp>
        <p:nvSpPr>
          <p:cNvPr id="18" name="surface-98">
            <a:extLst xmlns:a="http://schemas.openxmlformats.org/drawingml/2006/main">
              <a:ext uri="{FF2B5EF4-FFF2-40B4-BE49-F238E27FC236}">
                <a16:creationId xmlns:a16="http://schemas.microsoft.com/office/drawing/2014/main" id="{7EAE8030-20C4-4B03-81CB-9FC16246EFEC}"/>
              </a:ext>
            </a:extLst>
          </p:cNvPr>
          <p:cNvSpPr>
            <a:spLocks xmlns:a="http://schemas.openxmlformats.org/drawingml/2006/main" noGrp="1"/>
          </p:cNvSpPr>
          <p:nvPr/>
        </p:nvSpPr>
        <p:spPr>
          <a:xfrm xmlns:a="http://schemas.openxmlformats.org/drawingml/2006/main">
            <a:off x="7743825" y="2714625"/>
            <a:ext cx="3281363" cy="14859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19" name="text-99">
            <a:extLst xmlns:a="http://schemas.openxmlformats.org/drawingml/2006/main">
              <a:ext uri="{FF2B5EF4-FFF2-40B4-BE49-F238E27FC236}">
                <a16:creationId xmlns:a16="http://schemas.microsoft.com/office/drawing/2014/main" id="{7C7648C5-7FE1-4DB1-AAD0-AFF08C0D28AE}"/>
              </a:ext>
            </a:extLst>
          </p:cNvPr>
          <p:cNvSpPr>
            <a:spLocks xmlns:a="http://schemas.openxmlformats.org/drawingml/2006/main" noGrp="1"/>
          </p:cNvSpPr>
          <p:nvPr/>
        </p:nvSpPr>
        <p:spPr>
          <a:xfrm xmlns:a="http://schemas.openxmlformats.org/drawingml/2006/main">
            <a:off x="7953375" y="288607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Allocate</a:t>
            </a:r>
          </a:p>
        </p:txBody>
      </p:sp>
      <p:sp>
        <p:nvSpPr>
          <p:cNvPr id="20" name="text-100">
            <a:extLst xmlns:a="http://schemas.openxmlformats.org/drawingml/2006/main">
              <a:ext uri="{FF2B5EF4-FFF2-40B4-BE49-F238E27FC236}">
                <a16:creationId xmlns:a16="http://schemas.microsoft.com/office/drawing/2014/main" id="{EFE3CC40-0FF4-4AE8-BF1A-AB4F13921EB5}"/>
              </a:ext>
            </a:extLst>
          </p:cNvPr>
          <p:cNvSpPr>
            <a:spLocks xmlns:a="http://schemas.openxmlformats.org/drawingml/2006/main" noGrp="1"/>
          </p:cNvSpPr>
          <p:nvPr/>
        </p:nvSpPr>
        <p:spPr>
          <a:xfrm xmlns:a="http://schemas.openxmlformats.org/drawingml/2006/main">
            <a:off x="7953375" y="3333750"/>
            <a:ext cx="28622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Store and online</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availability</a:t>
            </a:r>
          </a:p>
        </p:txBody>
      </p:sp>
      <p:sp>
        <p:nvSpPr>
          <p:cNvPr id="21" name="surface-101">
            <a:extLst xmlns:a="http://schemas.openxmlformats.org/drawingml/2006/main">
              <a:ext uri="{FF2B5EF4-FFF2-40B4-BE49-F238E27FC236}">
                <a16:creationId xmlns:a16="http://schemas.microsoft.com/office/drawing/2014/main" id="{123DCC1A-6CF7-48B5-8501-C4B9421B876C}"/>
              </a:ext>
            </a:extLst>
          </p:cNvPr>
          <p:cNvSpPr>
            <a:spLocks xmlns:a="http://schemas.openxmlformats.org/drawingml/2006/main" noGrp="1"/>
          </p:cNvSpPr>
          <p:nvPr/>
        </p:nvSpPr>
        <p:spPr>
          <a:xfrm xmlns:a="http://schemas.openxmlformats.org/drawingml/2006/main">
            <a:off x="11272838" y="2714625"/>
            <a:ext cx="3281363" cy="14859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22" name="text-102">
            <a:extLst xmlns:a="http://schemas.openxmlformats.org/drawingml/2006/main">
              <a:ext uri="{FF2B5EF4-FFF2-40B4-BE49-F238E27FC236}">
                <a16:creationId xmlns:a16="http://schemas.microsoft.com/office/drawing/2014/main" id="{872351D1-4D45-45EF-88B9-182B09B23963}"/>
              </a:ext>
            </a:extLst>
          </p:cNvPr>
          <p:cNvSpPr>
            <a:spLocks xmlns:a="http://schemas.openxmlformats.org/drawingml/2006/main" noGrp="1"/>
          </p:cNvSpPr>
          <p:nvPr/>
        </p:nvSpPr>
        <p:spPr>
          <a:xfrm xmlns:a="http://schemas.openxmlformats.org/drawingml/2006/main">
            <a:off x="11482388" y="288607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Sell</a:t>
            </a:r>
          </a:p>
        </p:txBody>
      </p:sp>
      <p:sp>
        <p:nvSpPr>
          <p:cNvPr id="23" name="text-103">
            <a:extLst xmlns:a="http://schemas.openxmlformats.org/drawingml/2006/main">
              <a:ext uri="{FF2B5EF4-FFF2-40B4-BE49-F238E27FC236}">
                <a16:creationId xmlns:a16="http://schemas.microsoft.com/office/drawing/2014/main" id="{7FC9B35E-69F3-4768-BC21-C95190B924AC}"/>
              </a:ext>
            </a:extLst>
          </p:cNvPr>
          <p:cNvSpPr>
            <a:spLocks xmlns:a="http://schemas.openxmlformats.org/drawingml/2006/main" noGrp="1"/>
          </p:cNvSpPr>
          <p:nvPr/>
        </p:nvSpPr>
        <p:spPr>
          <a:xfrm xmlns:a="http://schemas.openxmlformats.org/drawingml/2006/main">
            <a:off x="11482388" y="3333750"/>
            <a:ext cx="28622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Retail, B2B</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channels</a:t>
            </a:r>
          </a:p>
        </p:txBody>
      </p:sp>
      <p:sp>
        <p:nvSpPr>
          <p:cNvPr id="24" name="edge-104">
            <a:extLst xmlns:a="http://schemas.openxmlformats.org/drawingml/2006/main">
              <a:ext uri="{FF2B5EF4-FFF2-40B4-BE49-F238E27FC236}">
                <a16:creationId xmlns:a16="http://schemas.microsoft.com/office/drawing/2014/main" id="{4400DA06-A491-487D-B71B-04DF79AA1BDD}"/>
              </a:ext>
            </a:extLst>
          </p:cNvPr>
          <p:cNvSpPr>
            <a:spLocks xmlns:a="http://schemas.openxmlformats.org/drawingml/2006/main" noGrp="1"/>
          </p:cNvSpPr>
          <p:nvPr/>
        </p:nvSpPr>
        <p:spPr>
          <a:xfrm xmlns:a="http://schemas.openxmlformats.org/drawingml/2006/main" flipH="0" flipV="0">
            <a:off x="3967163" y="5838825"/>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25" name="text-105">
            <a:extLst xmlns:a="http://schemas.openxmlformats.org/drawingml/2006/main">
              <a:ext uri="{FF2B5EF4-FFF2-40B4-BE49-F238E27FC236}">
                <a16:creationId xmlns:a16="http://schemas.microsoft.com/office/drawing/2014/main" id="{8EAD5925-2058-4D7C-A533-CB64DAF14858}"/>
              </a:ext>
            </a:extLst>
          </p:cNvPr>
          <p:cNvSpPr>
            <a:spLocks xmlns:a="http://schemas.openxmlformats.org/drawingml/2006/main" noGrp="1"/>
          </p:cNvSpPr>
          <p:nvPr/>
        </p:nvSpPr>
        <p:spPr>
          <a:xfrm xmlns:a="http://schemas.openxmlformats.org/drawingml/2006/main">
            <a:off x="4014788" y="5629275"/>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26" name="edge-106">
            <a:extLst xmlns:a="http://schemas.openxmlformats.org/drawingml/2006/main">
              <a:ext uri="{FF2B5EF4-FFF2-40B4-BE49-F238E27FC236}">
                <a16:creationId xmlns:a16="http://schemas.microsoft.com/office/drawing/2014/main" id="{9D097086-7980-4013-8B53-FB4CF5B69185}"/>
              </a:ext>
            </a:extLst>
          </p:cNvPr>
          <p:cNvSpPr>
            <a:spLocks xmlns:a="http://schemas.openxmlformats.org/drawingml/2006/main" noGrp="1"/>
          </p:cNvSpPr>
          <p:nvPr/>
        </p:nvSpPr>
        <p:spPr>
          <a:xfrm xmlns:a="http://schemas.openxmlformats.org/drawingml/2006/main" flipH="0" flipV="0">
            <a:off x="7496175" y="5838825"/>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27" name="text-107">
            <a:extLst xmlns:a="http://schemas.openxmlformats.org/drawingml/2006/main">
              <a:ext uri="{FF2B5EF4-FFF2-40B4-BE49-F238E27FC236}">
                <a16:creationId xmlns:a16="http://schemas.microsoft.com/office/drawing/2014/main" id="{9F395C84-F237-4B2D-8A96-A0D34EC7974C}"/>
              </a:ext>
            </a:extLst>
          </p:cNvPr>
          <p:cNvSpPr>
            <a:spLocks xmlns:a="http://schemas.openxmlformats.org/drawingml/2006/main" noGrp="1"/>
          </p:cNvSpPr>
          <p:nvPr/>
        </p:nvSpPr>
        <p:spPr>
          <a:xfrm xmlns:a="http://schemas.openxmlformats.org/drawingml/2006/main">
            <a:off x="7543800" y="5629275"/>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28" name="edge-108">
            <a:extLst xmlns:a="http://schemas.openxmlformats.org/drawingml/2006/main">
              <a:ext uri="{FF2B5EF4-FFF2-40B4-BE49-F238E27FC236}">
                <a16:creationId xmlns:a16="http://schemas.microsoft.com/office/drawing/2014/main" id="{C85EE265-7607-45F4-B0AC-D5F0BD0D146C}"/>
              </a:ext>
            </a:extLst>
          </p:cNvPr>
          <p:cNvSpPr>
            <a:spLocks xmlns:a="http://schemas.openxmlformats.org/drawingml/2006/main" noGrp="1"/>
          </p:cNvSpPr>
          <p:nvPr/>
        </p:nvSpPr>
        <p:spPr>
          <a:xfrm xmlns:a="http://schemas.openxmlformats.org/drawingml/2006/main" flipH="0" flipV="0">
            <a:off x="11025188" y="5838825"/>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29" name="text-109">
            <a:extLst xmlns:a="http://schemas.openxmlformats.org/drawingml/2006/main">
              <a:ext uri="{FF2B5EF4-FFF2-40B4-BE49-F238E27FC236}">
                <a16:creationId xmlns:a16="http://schemas.microsoft.com/office/drawing/2014/main" id="{8122934D-93D8-4D2B-8510-F09838F7F081}"/>
              </a:ext>
            </a:extLst>
          </p:cNvPr>
          <p:cNvSpPr>
            <a:spLocks xmlns:a="http://schemas.openxmlformats.org/drawingml/2006/main" noGrp="1"/>
          </p:cNvSpPr>
          <p:nvPr/>
        </p:nvSpPr>
        <p:spPr>
          <a:xfrm xmlns:a="http://schemas.openxmlformats.org/drawingml/2006/main">
            <a:off x="11072813" y="5629275"/>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30" name="surface-110">
            <a:extLst xmlns:a="http://schemas.openxmlformats.org/drawingml/2006/main">
              <a:ext uri="{FF2B5EF4-FFF2-40B4-BE49-F238E27FC236}">
                <a16:creationId xmlns:a16="http://schemas.microsoft.com/office/drawing/2014/main" id="{CBA24153-8C1B-41BA-9C1F-092AA582360C}"/>
              </a:ext>
            </a:extLst>
          </p:cNvPr>
          <p:cNvSpPr>
            <a:spLocks xmlns:a="http://schemas.openxmlformats.org/drawingml/2006/main" noGrp="1"/>
          </p:cNvSpPr>
          <p:nvPr/>
        </p:nvSpPr>
        <p:spPr>
          <a:xfrm xmlns:a="http://schemas.openxmlformats.org/drawingml/2006/main">
            <a:off x="685800" y="5095875"/>
            <a:ext cx="3281363" cy="1485900"/>
          </a:xfrm>
          <a:prstGeom xmlns:a="http://schemas.openxmlformats.org/drawingml/2006/main" prst="rect">
            <a:avLst/>
          </a:prstGeom>
          <a:solidFill xmlns:a="http://schemas.openxmlformats.org/drawingml/2006/main">
            <a:srgbClr val="23716D"/>
          </a:solidFill>
          <a:ln xmlns:a="http://schemas.openxmlformats.org/drawingml/2006/main" w="0">
            <a:noFill/>
            <a:prstDash val="solid"/>
          </a:ln>
        </p:spPr>
      </p:sp>
      <p:sp>
        <p:nvSpPr>
          <p:cNvPr id="31" name="text-111">
            <a:extLst xmlns:a="http://schemas.openxmlformats.org/drawingml/2006/main">
              <a:ext uri="{FF2B5EF4-FFF2-40B4-BE49-F238E27FC236}">
                <a16:creationId xmlns:a16="http://schemas.microsoft.com/office/drawing/2014/main" id="{B4259FF6-C06D-4FDB-BCB2-33FBF4F46731}"/>
              </a:ext>
            </a:extLst>
          </p:cNvPr>
          <p:cNvSpPr>
            <a:spLocks xmlns:a="http://schemas.openxmlformats.org/drawingml/2006/main" noGrp="1"/>
          </p:cNvSpPr>
          <p:nvPr/>
        </p:nvSpPr>
        <p:spPr>
          <a:xfrm xmlns:a="http://schemas.openxmlformats.org/drawingml/2006/main">
            <a:off x="895350" y="526732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7F5EE"/>
                </a:solidFill>
                <a:latin typeface="Aptos"/>
                <a:ea typeface="Aptos"/>
                <a:cs typeface="Aptos"/>
              </a:defRPr>
            </a:pPr>
            <a:r>
              <a:rPr sz="2400" b="1">
                <a:solidFill>
                  <a:srgbClr val="F7F5EE"/>
                </a:solidFill>
                <a:latin typeface="Aptos"/>
                <a:ea typeface="Aptos"/>
                <a:cs typeface="Aptos"/>
              </a:rPr>
              <a:t>Return</a:t>
            </a:r>
          </a:p>
        </p:txBody>
      </p:sp>
      <p:sp>
        <p:nvSpPr>
          <p:cNvPr id="32" name="text-112">
            <a:extLst xmlns:a="http://schemas.openxmlformats.org/drawingml/2006/main">
              <a:ext uri="{FF2B5EF4-FFF2-40B4-BE49-F238E27FC236}">
                <a16:creationId xmlns:a16="http://schemas.microsoft.com/office/drawing/2014/main" id="{5A279C9D-D250-4EAD-9351-0F813A8B020D}"/>
              </a:ext>
            </a:extLst>
          </p:cNvPr>
          <p:cNvSpPr>
            <a:spLocks xmlns:a="http://schemas.openxmlformats.org/drawingml/2006/main" noGrp="1"/>
          </p:cNvSpPr>
          <p:nvPr/>
        </p:nvSpPr>
        <p:spPr>
          <a:xfrm xmlns:a="http://schemas.openxmlformats.org/drawingml/2006/main">
            <a:off x="895350" y="5715000"/>
            <a:ext cx="28622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Invoice-linked</a:t>
            </a:r>
          </a:p>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stock and credit</a:t>
            </a:r>
          </a:p>
        </p:txBody>
      </p:sp>
      <p:sp>
        <p:nvSpPr>
          <p:cNvPr id="33" name="surface-113">
            <a:extLst xmlns:a="http://schemas.openxmlformats.org/drawingml/2006/main">
              <a:ext uri="{FF2B5EF4-FFF2-40B4-BE49-F238E27FC236}">
                <a16:creationId xmlns:a16="http://schemas.microsoft.com/office/drawing/2014/main" id="{3AEB1690-439E-4696-A984-A3D06CD707B7}"/>
              </a:ext>
            </a:extLst>
          </p:cNvPr>
          <p:cNvSpPr>
            <a:spLocks xmlns:a="http://schemas.openxmlformats.org/drawingml/2006/main" noGrp="1"/>
          </p:cNvSpPr>
          <p:nvPr/>
        </p:nvSpPr>
        <p:spPr>
          <a:xfrm xmlns:a="http://schemas.openxmlformats.org/drawingml/2006/main">
            <a:off x="4214813" y="5095875"/>
            <a:ext cx="3281363" cy="14859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34" name="text-114">
            <a:extLst xmlns:a="http://schemas.openxmlformats.org/drawingml/2006/main">
              <a:ext uri="{FF2B5EF4-FFF2-40B4-BE49-F238E27FC236}">
                <a16:creationId xmlns:a16="http://schemas.microsoft.com/office/drawing/2014/main" id="{C0058DA3-9F23-4139-BE0E-5F970107DE73}"/>
              </a:ext>
            </a:extLst>
          </p:cNvPr>
          <p:cNvSpPr>
            <a:spLocks xmlns:a="http://schemas.openxmlformats.org/drawingml/2006/main" noGrp="1"/>
          </p:cNvSpPr>
          <p:nvPr/>
        </p:nvSpPr>
        <p:spPr>
          <a:xfrm xmlns:a="http://schemas.openxmlformats.org/drawingml/2006/main">
            <a:off x="4424363" y="526732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Reconcile</a:t>
            </a:r>
          </a:p>
        </p:txBody>
      </p:sp>
      <p:sp>
        <p:nvSpPr>
          <p:cNvPr id="35" name="text-115">
            <a:extLst xmlns:a="http://schemas.openxmlformats.org/drawingml/2006/main">
              <a:ext uri="{FF2B5EF4-FFF2-40B4-BE49-F238E27FC236}">
                <a16:creationId xmlns:a16="http://schemas.microsoft.com/office/drawing/2014/main" id="{D95D3A4F-1D4E-4D6B-90B0-282D84908BA0}"/>
              </a:ext>
            </a:extLst>
          </p:cNvPr>
          <p:cNvSpPr>
            <a:spLocks xmlns:a="http://schemas.openxmlformats.org/drawingml/2006/main" noGrp="1"/>
          </p:cNvSpPr>
          <p:nvPr/>
        </p:nvSpPr>
        <p:spPr>
          <a:xfrm xmlns:a="http://schemas.openxmlformats.org/drawingml/2006/main">
            <a:off x="4424363" y="5715000"/>
            <a:ext cx="28622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Cash, payouts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ledgers</a:t>
            </a:r>
          </a:p>
        </p:txBody>
      </p:sp>
      <p:sp>
        <p:nvSpPr>
          <p:cNvPr id="36" name="surface-116">
            <a:extLst xmlns:a="http://schemas.openxmlformats.org/drawingml/2006/main">
              <a:ext uri="{FF2B5EF4-FFF2-40B4-BE49-F238E27FC236}">
                <a16:creationId xmlns:a16="http://schemas.microsoft.com/office/drawing/2014/main" id="{0FBE3DDC-0890-45BF-A82E-CFF7AFCF4703}"/>
              </a:ext>
            </a:extLst>
          </p:cNvPr>
          <p:cNvSpPr>
            <a:spLocks xmlns:a="http://schemas.openxmlformats.org/drawingml/2006/main" noGrp="1"/>
          </p:cNvSpPr>
          <p:nvPr/>
        </p:nvSpPr>
        <p:spPr>
          <a:xfrm xmlns:a="http://schemas.openxmlformats.org/drawingml/2006/main">
            <a:off x="7743825" y="5095875"/>
            <a:ext cx="3281363" cy="14859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37" name="text-117">
            <a:extLst xmlns:a="http://schemas.openxmlformats.org/drawingml/2006/main">
              <a:ext uri="{FF2B5EF4-FFF2-40B4-BE49-F238E27FC236}">
                <a16:creationId xmlns:a16="http://schemas.microsoft.com/office/drawing/2014/main" id="{46F9B0E0-66ED-4019-9CC6-CB63418BBF20}"/>
              </a:ext>
            </a:extLst>
          </p:cNvPr>
          <p:cNvSpPr>
            <a:spLocks xmlns:a="http://schemas.openxmlformats.org/drawingml/2006/main" noGrp="1"/>
          </p:cNvSpPr>
          <p:nvPr/>
        </p:nvSpPr>
        <p:spPr>
          <a:xfrm xmlns:a="http://schemas.openxmlformats.org/drawingml/2006/main">
            <a:off x="7953375" y="526732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Learn</a:t>
            </a:r>
          </a:p>
        </p:txBody>
      </p:sp>
      <p:sp>
        <p:nvSpPr>
          <p:cNvPr id="38" name="text-118">
            <a:extLst xmlns:a="http://schemas.openxmlformats.org/drawingml/2006/main">
              <a:ext uri="{FF2B5EF4-FFF2-40B4-BE49-F238E27FC236}">
                <a16:creationId xmlns:a16="http://schemas.microsoft.com/office/drawing/2014/main" id="{B4D063A6-AEA5-4ADF-A772-DF2BB15DEB2B}"/>
              </a:ext>
            </a:extLst>
          </p:cNvPr>
          <p:cNvSpPr>
            <a:spLocks xmlns:a="http://schemas.openxmlformats.org/drawingml/2006/main" noGrp="1"/>
          </p:cNvSpPr>
          <p:nvPr/>
        </p:nvSpPr>
        <p:spPr>
          <a:xfrm xmlns:a="http://schemas.openxmlformats.org/drawingml/2006/main">
            <a:off x="7953375" y="5715000"/>
            <a:ext cx="28622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Performance</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demand</a:t>
            </a:r>
          </a:p>
        </p:txBody>
      </p:sp>
      <p:sp>
        <p:nvSpPr>
          <p:cNvPr id="39" name="surface-119">
            <a:extLst xmlns:a="http://schemas.openxmlformats.org/drawingml/2006/main">
              <a:ext uri="{FF2B5EF4-FFF2-40B4-BE49-F238E27FC236}">
                <a16:creationId xmlns:a16="http://schemas.microsoft.com/office/drawing/2014/main" id="{525246B2-0E79-4219-9745-BD17C3F8D10D}"/>
              </a:ext>
            </a:extLst>
          </p:cNvPr>
          <p:cNvSpPr>
            <a:spLocks xmlns:a="http://schemas.openxmlformats.org/drawingml/2006/main" noGrp="1"/>
          </p:cNvSpPr>
          <p:nvPr/>
        </p:nvSpPr>
        <p:spPr>
          <a:xfrm xmlns:a="http://schemas.openxmlformats.org/drawingml/2006/main">
            <a:off x="11272838" y="5095875"/>
            <a:ext cx="3281363" cy="14859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40" name="text-120">
            <a:extLst xmlns:a="http://schemas.openxmlformats.org/drawingml/2006/main">
              <a:ext uri="{FF2B5EF4-FFF2-40B4-BE49-F238E27FC236}">
                <a16:creationId xmlns:a16="http://schemas.microsoft.com/office/drawing/2014/main" id="{E3AB8526-F226-485D-934A-19BBDBE105C2}"/>
              </a:ext>
            </a:extLst>
          </p:cNvPr>
          <p:cNvSpPr>
            <a:spLocks xmlns:a="http://schemas.openxmlformats.org/drawingml/2006/main" noGrp="1"/>
          </p:cNvSpPr>
          <p:nvPr/>
        </p:nvSpPr>
        <p:spPr>
          <a:xfrm xmlns:a="http://schemas.openxmlformats.org/drawingml/2006/main">
            <a:off x="11482388" y="526732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Reorder</a:t>
            </a:r>
          </a:p>
        </p:txBody>
      </p:sp>
      <p:sp>
        <p:nvSpPr>
          <p:cNvPr id="41" name="text-121">
            <a:extLst xmlns:a="http://schemas.openxmlformats.org/drawingml/2006/main">
              <a:ext uri="{FF2B5EF4-FFF2-40B4-BE49-F238E27FC236}">
                <a16:creationId xmlns:a16="http://schemas.microsoft.com/office/drawing/2014/main" id="{B3367A14-E84B-4AF9-BF76-04C3170A206D}"/>
              </a:ext>
            </a:extLst>
          </p:cNvPr>
          <p:cNvSpPr>
            <a:spLocks xmlns:a="http://schemas.openxmlformats.org/drawingml/2006/main" noGrp="1"/>
          </p:cNvSpPr>
          <p:nvPr/>
        </p:nvSpPr>
        <p:spPr>
          <a:xfrm xmlns:a="http://schemas.openxmlformats.org/drawingml/2006/main">
            <a:off x="11482388" y="5715000"/>
            <a:ext cx="28622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Approved</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purchase plan</a:t>
            </a:r>
          </a:p>
        </p:txBody>
      </p:sp>
      <p:sp>
        <p:nvSpPr>
          <p:cNvPr id="42" name="rule-122">
            <a:extLst xmlns:a="http://schemas.openxmlformats.org/drawingml/2006/main">
              <a:ext uri="{FF2B5EF4-FFF2-40B4-BE49-F238E27FC236}">
                <a16:creationId xmlns:a16="http://schemas.microsoft.com/office/drawing/2014/main" id="{EDBC6E21-312A-486A-9558-181DE8B17AF7}"/>
              </a:ext>
            </a:extLst>
          </p:cNvPr>
          <p:cNvSpPr>
            <a:spLocks xmlns:a="http://schemas.openxmlformats.org/drawingml/2006/main" noGrp="1"/>
          </p:cNvSpPr>
          <p:nvPr/>
        </p:nvSpPr>
        <p:spPr>
          <a:xfrm xmlns:a="http://schemas.openxmlformats.org/drawingml/2006/main">
            <a:off x="685800" y="6934200"/>
            <a:ext cx="5715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43" name="text-123">
            <a:extLst xmlns:a="http://schemas.openxmlformats.org/drawingml/2006/main">
              <a:ext uri="{FF2B5EF4-FFF2-40B4-BE49-F238E27FC236}">
                <a16:creationId xmlns:a16="http://schemas.microsoft.com/office/drawing/2014/main" id="{ABF34D12-DCD7-4BD8-ABF4-8FA5543570BB}"/>
              </a:ext>
            </a:extLst>
          </p:cNvPr>
          <p:cNvSpPr>
            <a:spLocks xmlns:a="http://schemas.openxmlformats.org/drawingml/2006/main" noGrp="1"/>
          </p:cNvSpPr>
          <p:nvPr/>
        </p:nvSpPr>
        <p:spPr>
          <a:xfrm xmlns:a="http://schemas.openxmlformats.org/drawingml/2006/main">
            <a:off x="685800" y="7096125"/>
            <a:ext cx="13868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3D43"/>
                </a:solidFill>
                <a:latin typeface="Aptos"/>
                <a:ea typeface="Aptos"/>
                <a:cs typeface="Aptos"/>
              </a:defRPr>
            </a:pPr>
            <a:r>
              <a:rPr sz="2250" b="1">
                <a:solidFill>
                  <a:srgbClr val="103D43"/>
                </a:solidFill>
                <a:latin typeface="Aptos"/>
                <a:ea typeface="Aptos"/>
                <a:cs typeface="Aptos"/>
              </a:rPr>
              <a:t>Every handoff should leave a record the next team can use.</a:t>
            </a:r>
          </a:p>
        </p:txBody>
      </p:sp>
    </p:spTree>
    <p:extLst>
      <p:ext uri="{BB962C8B-B14F-4D97-AF65-F5344CB8AC3E}">
        <p14:creationId xmlns:p14="http://schemas.microsoft.com/office/powerpoint/2010/main" val="961459014"/>
      </p:ext>
    </p:extLst>
  </p:cSld>
</p:sld>
</file>

<file path=ppt/slides/slide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8" name="text-124">
            <a:extLst xmlns:a="http://schemas.openxmlformats.org/drawingml/2006/main">
              <a:ext uri="{FF2B5EF4-FFF2-40B4-BE49-F238E27FC236}">
                <a16:creationId xmlns:a16="http://schemas.microsoft.com/office/drawing/2014/main" id="{52A97022-E890-47AD-A13D-DC4723E9F5C5}"/>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01 / CORE SETUP &amp; ACCESS</a:t>
            </a:r>
          </a:p>
        </p:txBody>
      </p:sp>
      <p:sp>
        <p:nvSpPr>
          <p:cNvPr id="2" name="text-125">
            <a:extLst xmlns:a="http://schemas.openxmlformats.org/drawingml/2006/main">
              <a:ext uri="{FF2B5EF4-FFF2-40B4-BE49-F238E27FC236}">
                <a16:creationId xmlns:a16="http://schemas.microsoft.com/office/drawing/2014/main" id="{DD44CFC0-7364-464F-A3F7-40CCA17E1ABD}"/>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Give each team the right workspace</a:t>
            </a:r>
          </a:p>
        </p:txBody>
      </p:sp>
      <p:sp>
        <p:nvSpPr>
          <p:cNvPr id="3" name="rule-126">
            <a:extLst xmlns:a="http://schemas.openxmlformats.org/drawingml/2006/main">
              <a:ext uri="{FF2B5EF4-FFF2-40B4-BE49-F238E27FC236}">
                <a16:creationId xmlns:a16="http://schemas.microsoft.com/office/drawing/2014/main" id="{E6FA2139-767F-458C-8F38-2EFD899EEAC6}"/>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127">
            <a:extLst xmlns:a="http://schemas.openxmlformats.org/drawingml/2006/main">
              <a:ext uri="{FF2B5EF4-FFF2-40B4-BE49-F238E27FC236}">
                <a16:creationId xmlns:a16="http://schemas.microsoft.com/office/drawing/2014/main" id="{3B8188EE-2B07-4399-BC7F-28A50357F541}"/>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128">
            <a:extLst xmlns:a="http://schemas.openxmlformats.org/drawingml/2006/main">
              <a:ext uri="{FF2B5EF4-FFF2-40B4-BE49-F238E27FC236}">
                <a16:creationId xmlns:a16="http://schemas.microsoft.com/office/drawing/2014/main" id="{FD0C9EA6-DAD8-41C3-AFD3-3E41C131B809}"/>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06</a:t>
            </a:r>
          </a:p>
        </p:txBody>
      </p:sp>
      <p:sp>
        <p:nvSpPr>
          <p:cNvPr id="6" name="edge-129">
            <a:extLst xmlns:a="http://schemas.openxmlformats.org/drawingml/2006/main">
              <a:ext uri="{FF2B5EF4-FFF2-40B4-BE49-F238E27FC236}">
                <a16:creationId xmlns:a16="http://schemas.microsoft.com/office/drawing/2014/main" id="{D89EF154-C01C-4E8F-A4FB-41F7D6A3F0B4}"/>
              </a:ext>
            </a:extLst>
          </p:cNvPr>
          <p:cNvSpPr>
            <a:spLocks xmlns:a="http://schemas.openxmlformats.org/drawingml/2006/main" noGrp="1"/>
          </p:cNvSpPr>
          <p:nvPr/>
        </p:nvSpPr>
        <p:spPr>
          <a:xfrm xmlns:a="http://schemas.openxmlformats.org/drawingml/2006/main" flipH="1" flipV="0">
            <a:off x="52768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7" name="edge-130">
            <a:extLst xmlns:a="http://schemas.openxmlformats.org/drawingml/2006/main">
              <a:ext uri="{FF2B5EF4-FFF2-40B4-BE49-F238E27FC236}">
                <a16:creationId xmlns:a16="http://schemas.microsoft.com/office/drawing/2014/main" id="{CFAF325B-D6E9-4BAF-8536-234C10D09DAD}"/>
              </a:ext>
            </a:extLst>
          </p:cNvPr>
          <p:cNvSpPr>
            <a:spLocks xmlns:a="http://schemas.openxmlformats.org/drawingml/2006/main" noGrp="1"/>
          </p:cNvSpPr>
          <p:nvPr/>
        </p:nvSpPr>
        <p:spPr>
          <a:xfrm xmlns:a="http://schemas.openxmlformats.org/drawingml/2006/main" flipH="0" flipV="1">
            <a:off x="5276850" y="3028950"/>
            <a:ext cx="9525" cy="136207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8" name="edge-131">
            <a:extLst xmlns:a="http://schemas.openxmlformats.org/drawingml/2006/main">
              <a:ext uri="{FF2B5EF4-FFF2-40B4-BE49-F238E27FC236}">
                <a16:creationId xmlns:a16="http://schemas.microsoft.com/office/drawing/2014/main" id="{0993B94F-3FCA-4EE2-91BF-71ACE4C5AFD7}"/>
              </a:ext>
            </a:extLst>
          </p:cNvPr>
          <p:cNvSpPr>
            <a:spLocks xmlns:a="http://schemas.openxmlformats.org/drawingml/2006/main" noGrp="1"/>
          </p:cNvSpPr>
          <p:nvPr/>
        </p:nvSpPr>
        <p:spPr>
          <a:xfrm xmlns:a="http://schemas.openxmlformats.org/drawingml/2006/main" flipH="1" flipV="0">
            <a:off x="4667250" y="30289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9" name="edge-132">
            <a:extLst xmlns:a="http://schemas.openxmlformats.org/drawingml/2006/main">
              <a:ext uri="{FF2B5EF4-FFF2-40B4-BE49-F238E27FC236}">
                <a16:creationId xmlns:a16="http://schemas.microsoft.com/office/drawing/2014/main" id="{DD32F90B-B210-448B-8396-81CF9CD3CEB0}"/>
              </a:ext>
            </a:extLst>
          </p:cNvPr>
          <p:cNvSpPr>
            <a:spLocks xmlns:a="http://schemas.openxmlformats.org/drawingml/2006/main" noGrp="1"/>
          </p:cNvSpPr>
          <p:nvPr/>
        </p:nvSpPr>
        <p:spPr>
          <a:xfrm xmlns:a="http://schemas.openxmlformats.org/drawingml/2006/main" flipH="1" flipV="0">
            <a:off x="52768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0" name="edge-133">
            <a:extLst xmlns:a="http://schemas.openxmlformats.org/drawingml/2006/main">
              <a:ext uri="{FF2B5EF4-FFF2-40B4-BE49-F238E27FC236}">
                <a16:creationId xmlns:a16="http://schemas.microsoft.com/office/drawing/2014/main" id="{919BE9DB-0286-441E-9E91-221E54D4F9A9}"/>
              </a:ext>
            </a:extLst>
          </p:cNvPr>
          <p:cNvSpPr>
            <a:spLocks xmlns:a="http://schemas.openxmlformats.org/drawingml/2006/main" noGrp="1"/>
          </p:cNvSpPr>
          <p:nvPr/>
        </p:nvSpPr>
        <p:spPr>
          <a:xfrm xmlns:a="http://schemas.openxmlformats.org/drawingml/2006/main" flipH="0" flipV="0">
            <a:off x="5276850" y="4391025"/>
            <a:ext cx="9525" cy="17621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1" name="edge-134">
            <a:extLst xmlns:a="http://schemas.openxmlformats.org/drawingml/2006/main">
              <a:ext uri="{FF2B5EF4-FFF2-40B4-BE49-F238E27FC236}">
                <a16:creationId xmlns:a16="http://schemas.microsoft.com/office/drawing/2014/main" id="{91BB64AA-67DF-4228-9F2F-A78630C2DFDD}"/>
              </a:ext>
            </a:extLst>
          </p:cNvPr>
          <p:cNvSpPr>
            <a:spLocks xmlns:a="http://schemas.openxmlformats.org/drawingml/2006/main" noGrp="1"/>
          </p:cNvSpPr>
          <p:nvPr/>
        </p:nvSpPr>
        <p:spPr>
          <a:xfrm xmlns:a="http://schemas.openxmlformats.org/drawingml/2006/main" flipH="1" flipV="0">
            <a:off x="4667250" y="61531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2" name="edge-135">
            <a:extLst xmlns:a="http://schemas.openxmlformats.org/drawingml/2006/main">
              <a:ext uri="{FF2B5EF4-FFF2-40B4-BE49-F238E27FC236}">
                <a16:creationId xmlns:a16="http://schemas.microsoft.com/office/drawing/2014/main" id="{BB098ADA-CAC2-4227-82E5-F4A79EE80B6E}"/>
              </a:ext>
            </a:extLst>
          </p:cNvPr>
          <p:cNvSpPr>
            <a:spLocks xmlns:a="http://schemas.openxmlformats.org/drawingml/2006/main" noGrp="1"/>
          </p:cNvSpPr>
          <p:nvPr/>
        </p:nvSpPr>
        <p:spPr>
          <a:xfrm xmlns:a="http://schemas.openxmlformats.org/drawingml/2006/main" flipH="0" flipV="0">
            <a:off x="93154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3" name="edge-136">
            <a:extLst xmlns:a="http://schemas.openxmlformats.org/drawingml/2006/main">
              <a:ext uri="{FF2B5EF4-FFF2-40B4-BE49-F238E27FC236}">
                <a16:creationId xmlns:a16="http://schemas.microsoft.com/office/drawing/2014/main" id="{5BC0A9AC-E62B-47D0-ABAB-DDA2BC27EA69}"/>
              </a:ext>
            </a:extLst>
          </p:cNvPr>
          <p:cNvSpPr>
            <a:spLocks xmlns:a="http://schemas.openxmlformats.org/drawingml/2006/main" noGrp="1"/>
          </p:cNvSpPr>
          <p:nvPr/>
        </p:nvSpPr>
        <p:spPr>
          <a:xfrm xmlns:a="http://schemas.openxmlformats.org/drawingml/2006/main" flipH="0" flipV="1">
            <a:off x="9963150" y="3028950"/>
            <a:ext cx="9525" cy="136207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4" name="edge-137">
            <a:extLst xmlns:a="http://schemas.openxmlformats.org/drawingml/2006/main">
              <a:ext uri="{FF2B5EF4-FFF2-40B4-BE49-F238E27FC236}">
                <a16:creationId xmlns:a16="http://schemas.microsoft.com/office/drawing/2014/main" id="{3BD06D57-F9B0-4F24-9A49-388D6B69068B}"/>
              </a:ext>
            </a:extLst>
          </p:cNvPr>
          <p:cNvSpPr>
            <a:spLocks xmlns:a="http://schemas.openxmlformats.org/drawingml/2006/main" noGrp="1"/>
          </p:cNvSpPr>
          <p:nvPr/>
        </p:nvSpPr>
        <p:spPr>
          <a:xfrm xmlns:a="http://schemas.openxmlformats.org/drawingml/2006/main" flipH="0" flipV="0">
            <a:off x="9963150" y="30289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5" name="edge-138">
            <a:extLst xmlns:a="http://schemas.openxmlformats.org/drawingml/2006/main">
              <a:ext uri="{FF2B5EF4-FFF2-40B4-BE49-F238E27FC236}">
                <a16:creationId xmlns:a16="http://schemas.microsoft.com/office/drawing/2014/main" id="{9668A167-B208-4B9F-A325-C8EA74A5184E}"/>
              </a:ext>
            </a:extLst>
          </p:cNvPr>
          <p:cNvSpPr>
            <a:spLocks xmlns:a="http://schemas.openxmlformats.org/drawingml/2006/main" noGrp="1"/>
          </p:cNvSpPr>
          <p:nvPr/>
        </p:nvSpPr>
        <p:spPr>
          <a:xfrm xmlns:a="http://schemas.openxmlformats.org/drawingml/2006/main" flipH="0" flipV="0">
            <a:off x="93154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6" name="edge-139">
            <a:extLst xmlns:a="http://schemas.openxmlformats.org/drawingml/2006/main">
              <a:ext uri="{FF2B5EF4-FFF2-40B4-BE49-F238E27FC236}">
                <a16:creationId xmlns:a16="http://schemas.microsoft.com/office/drawing/2014/main" id="{E60F4E94-0180-43D2-802E-93B9F3F420C1}"/>
              </a:ext>
            </a:extLst>
          </p:cNvPr>
          <p:cNvSpPr>
            <a:spLocks xmlns:a="http://schemas.openxmlformats.org/drawingml/2006/main" noGrp="1"/>
          </p:cNvSpPr>
          <p:nvPr/>
        </p:nvSpPr>
        <p:spPr>
          <a:xfrm xmlns:a="http://schemas.openxmlformats.org/drawingml/2006/main" flipH="0" flipV="0">
            <a:off x="9963150" y="4391025"/>
            <a:ext cx="9525" cy="17621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7" name="edge-140">
            <a:extLst xmlns:a="http://schemas.openxmlformats.org/drawingml/2006/main">
              <a:ext uri="{FF2B5EF4-FFF2-40B4-BE49-F238E27FC236}">
                <a16:creationId xmlns:a16="http://schemas.microsoft.com/office/drawing/2014/main" id="{828D4AB5-5180-4564-A4F2-E3389261222D}"/>
              </a:ext>
            </a:extLst>
          </p:cNvPr>
          <p:cNvSpPr>
            <a:spLocks xmlns:a="http://schemas.openxmlformats.org/drawingml/2006/main" noGrp="1"/>
          </p:cNvSpPr>
          <p:nvPr/>
        </p:nvSpPr>
        <p:spPr>
          <a:xfrm xmlns:a="http://schemas.openxmlformats.org/drawingml/2006/main" flipH="0" flipV="0">
            <a:off x="9963150" y="61531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8" name="surface-141">
            <a:extLst xmlns:a="http://schemas.openxmlformats.org/drawingml/2006/main">
              <a:ext uri="{FF2B5EF4-FFF2-40B4-BE49-F238E27FC236}">
                <a16:creationId xmlns:a16="http://schemas.microsoft.com/office/drawing/2014/main" id="{87A46787-6ABE-44E2-AA9D-059C50167076}"/>
              </a:ext>
            </a:extLst>
          </p:cNvPr>
          <p:cNvSpPr>
            <a:spLocks xmlns:a="http://schemas.openxmlformats.org/drawingml/2006/main" noGrp="1"/>
          </p:cNvSpPr>
          <p:nvPr/>
        </p:nvSpPr>
        <p:spPr>
          <a:xfrm xmlns:a="http://schemas.openxmlformats.org/drawingml/2006/main">
            <a:off x="5924550" y="3752850"/>
            <a:ext cx="3390900" cy="1276350"/>
          </a:xfrm>
          <a:prstGeom xmlns:a="http://schemas.openxmlformats.org/drawingml/2006/main" prst="rect">
            <a:avLst/>
          </a:prstGeom>
          <a:solidFill xmlns:a="http://schemas.openxmlformats.org/drawingml/2006/main">
            <a:srgbClr val="103D43"/>
          </a:solidFill>
          <a:ln xmlns:a="http://schemas.openxmlformats.org/drawingml/2006/main" w="0">
            <a:noFill/>
            <a:prstDash val="solid"/>
          </a:ln>
        </p:spPr>
      </p:sp>
      <p:sp>
        <p:nvSpPr>
          <p:cNvPr id="19" name="text-142">
            <a:extLst xmlns:a="http://schemas.openxmlformats.org/drawingml/2006/main">
              <a:ext uri="{FF2B5EF4-FFF2-40B4-BE49-F238E27FC236}">
                <a16:creationId xmlns:a16="http://schemas.microsoft.com/office/drawing/2014/main" id="{4A14C45A-36E3-4ACE-82FE-1870BFBAE3C5}"/>
              </a:ext>
            </a:extLst>
          </p:cNvPr>
          <p:cNvSpPr>
            <a:spLocks xmlns:a="http://schemas.openxmlformats.org/drawingml/2006/main" noGrp="1"/>
          </p:cNvSpPr>
          <p:nvPr/>
        </p:nvSpPr>
        <p:spPr>
          <a:xfrm xmlns:a="http://schemas.openxmlformats.org/drawingml/2006/main">
            <a:off x="6115050" y="4038600"/>
            <a:ext cx="30099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75" b="1">
                <a:solidFill>
                  <a:srgbClr val="F7F5EE"/>
                </a:solidFill>
                <a:latin typeface="Aptos"/>
                <a:ea typeface="Aptos"/>
                <a:cs typeface="Aptos"/>
              </a:defRPr>
            </a:pPr>
            <a:r>
              <a:rPr sz="2775" b="1">
                <a:solidFill>
                  <a:srgbClr val="F7F5EE"/>
                </a:solidFill>
                <a:latin typeface="Aptos"/>
                <a:ea typeface="Aptos"/>
                <a:cs typeface="Aptos"/>
              </a:rPr>
              <a:t>PEOPLE +</a:t>
            </a:r>
          </a:p>
          <a:p xmlns:a="http://schemas.openxmlformats.org/drawingml/2006/main">
            <a:pPr algn="ctr">
              <a:defRPr sz="2775" b="1">
                <a:solidFill>
                  <a:srgbClr val="F7F5EE"/>
                </a:solidFill>
                <a:latin typeface="Aptos"/>
                <a:ea typeface="Aptos"/>
                <a:cs typeface="Aptos"/>
              </a:defRPr>
            </a:pPr>
            <a:r>
              <a:rPr sz="2775" b="1">
                <a:solidFill>
                  <a:srgbClr val="F7F5EE"/>
                </a:solidFill>
                <a:latin typeface="Aptos"/>
                <a:ea typeface="Aptos"/>
                <a:cs typeface="Aptos"/>
              </a:rPr>
              <a:t>LOCATIONS</a:t>
            </a:r>
          </a:p>
        </p:txBody>
      </p:sp>
      <p:sp>
        <p:nvSpPr>
          <p:cNvPr id="20" name="text-143">
            <a:extLst xmlns:a="http://schemas.openxmlformats.org/drawingml/2006/main">
              <a:ext uri="{FF2B5EF4-FFF2-40B4-BE49-F238E27FC236}">
                <a16:creationId xmlns:a16="http://schemas.microsoft.com/office/drawing/2014/main" id="{1202B495-FB2D-4A13-BC3C-C7C045F07744}"/>
              </a:ext>
            </a:extLst>
          </p:cNvPr>
          <p:cNvSpPr>
            <a:spLocks xmlns:a="http://schemas.openxmlformats.org/drawingml/2006/main" noGrp="1"/>
          </p:cNvSpPr>
          <p:nvPr/>
        </p:nvSpPr>
        <p:spPr>
          <a:xfrm xmlns:a="http://schemas.openxmlformats.org/drawingml/2006/main">
            <a:off x="685800" y="25527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Location structure</a:t>
            </a:r>
          </a:p>
        </p:txBody>
      </p:sp>
      <p:sp>
        <p:nvSpPr>
          <p:cNvPr id="21" name="text-144">
            <a:extLst xmlns:a="http://schemas.openxmlformats.org/drawingml/2006/main">
              <a:ext uri="{FF2B5EF4-FFF2-40B4-BE49-F238E27FC236}">
                <a16:creationId xmlns:a16="http://schemas.microsoft.com/office/drawing/2014/main" id="{754A1779-2181-4A6B-B0C2-81DC8E2411CA}"/>
              </a:ext>
            </a:extLst>
          </p:cNvPr>
          <p:cNvSpPr>
            <a:spLocks xmlns:a="http://schemas.openxmlformats.org/drawingml/2006/main" noGrp="1"/>
          </p:cNvSpPr>
          <p:nvPr/>
        </p:nvSpPr>
        <p:spPr>
          <a:xfrm xmlns:a="http://schemas.openxmlformats.org/drawingml/2006/main">
            <a:off x="685800" y="30575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Stores, warehouses and fulfillment hubs</a:t>
            </a:r>
          </a:p>
        </p:txBody>
      </p:sp>
      <p:sp>
        <p:nvSpPr>
          <p:cNvPr id="22" name="text-145">
            <a:extLst xmlns:a="http://schemas.openxmlformats.org/drawingml/2006/main">
              <a:ext uri="{FF2B5EF4-FFF2-40B4-BE49-F238E27FC236}">
                <a16:creationId xmlns:a16="http://schemas.microsoft.com/office/drawing/2014/main" id="{FA502E21-97A7-4141-87E6-79C00C5EEDF5}"/>
              </a:ext>
            </a:extLst>
          </p:cNvPr>
          <p:cNvSpPr>
            <a:spLocks xmlns:a="http://schemas.openxmlformats.org/drawingml/2006/main" noGrp="1"/>
          </p:cNvSpPr>
          <p:nvPr/>
        </p:nvSpPr>
        <p:spPr>
          <a:xfrm xmlns:a="http://schemas.openxmlformats.org/drawingml/2006/main">
            <a:off x="685800" y="56769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Business settings</a:t>
            </a:r>
          </a:p>
        </p:txBody>
      </p:sp>
      <p:sp>
        <p:nvSpPr>
          <p:cNvPr id="23" name="text-146">
            <a:extLst xmlns:a="http://schemas.openxmlformats.org/drawingml/2006/main">
              <a:ext uri="{FF2B5EF4-FFF2-40B4-BE49-F238E27FC236}">
                <a16:creationId xmlns:a16="http://schemas.microsoft.com/office/drawing/2014/main" id="{9220AF2C-8919-4EDB-BE23-9F160ED59CAE}"/>
              </a:ext>
            </a:extLst>
          </p:cNvPr>
          <p:cNvSpPr>
            <a:spLocks xmlns:a="http://schemas.openxmlformats.org/drawingml/2006/main" noGrp="1"/>
          </p:cNvSpPr>
          <p:nvPr/>
        </p:nvSpPr>
        <p:spPr>
          <a:xfrm xmlns:a="http://schemas.openxmlformats.org/drawingml/2006/main">
            <a:off x="685800" y="61817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Company profile and operating preferences</a:t>
            </a:r>
          </a:p>
        </p:txBody>
      </p:sp>
      <p:sp>
        <p:nvSpPr>
          <p:cNvPr id="24" name="text-147">
            <a:extLst xmlns:a="http://schemas.openxmlformats.org/drawingml/2006/main">
              <a:ext uri="{FF2B5EF4-FFF2-40B4-BE49-F238E27FC236}">
                <a16:creationId xmlns:a16="http://schemas.microsoft.com/office/drawing/2014/main" id="{555E273F-0D1C-46E4-B2BD-636047B36F1C}"/>
              </a:ext>
            </a:extLst>
          </p:cNvPr>
          <p:cNvSpPr>
            <a:spLocks xmlns:a="http://schemas.openxmlformats.org/drawingml/2006/main" noGrp="1"/>
          </p:cNvSpPr>
          <p:nvPr/>
        </p:nvSpPr>
        <p:spPr>
          <a:xfrm xmlns:a="http://schemas.openxmlformats.org/drawingml/2006/main">
            <a:off x="10572750" y="25527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Role-based sign-in</a:t>
            </a:r>
          </a:p>
        </p:txBody>
      </p:sp>
      <p:sp>
        <p:nvSpPr>
          <p:cNvPr id="25" name="text-148">
            <a:extLst xmlns:a="http://schemas.openxmlformats.org/drawingml/2006/main">
              <a:ext uri="{FF2B5EF4-FFF2-40B4-BE49-F238E27FC236}">
                <a16:creationId xmlns:a16="http://schemas.microsoft.com/office/drawing/2014/main" id="{2EA9BD1F-2C96-4898-8D31-1DFEADE5692C}"/>
              </a:ext>
            </a:extLst>
          </p:cNvPr>
          <p:cNvSpPr>
            <a:spLocks xmlns:a="http://schemas.openxmlformats.org/drawingml/2006/main" noGrp="1"/>
          </p:cNvSpPr>
          <p:nvPr/>
        </p:nvSpPr>
        <p:spPr>
          <a:xfrm xmlns:a="http://schemas.openxmlformats.org/drawingml/2006/main">
            <a:off x="10572750" y="30575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Admin, inventory, POS manager and cashier</a:t>
            </a:r>
          </a:p>
        </p:txBody>
      </p:sp>
      <p:sp>
        <p:nvSpPr>
          <p:cNvPr id="26" name="text-149">
            <a:extLst xmlns:a="http://schemas.openxmlformats.org/drawingml/2006/main">
              <a:ext uri="{FF2B5EF4-FFF2-40B4-BE49-F238E27FC236}">
                <a16:creationId xmlns:a16="http://schemas.microsoft.com/office/drawing/2014/main" id="{D4B37838-F379-4133-9B72-7C437549BE23}"/>
              </a:ext>
            </a:extLst>
          </p:cNvPr>
          <p:cNvSpPr>
            <a:spLocks xmlns:a="http://schemas.openxmlformats.org/drawingml/2006/main" noGrp="1"/>
          </p:cNvSpPr>
          <p:nvPr/>
        </p:nvSpPr>
        <p:spPr>
          <a:xfrm xmlns:a="http://schemas.openxmlformats.org/drawingml/2006/main">
            <a:off x="10572750" y="56769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Information control</a:t>
            </a:r>
          </a:p>
        </p:txBody>
      </p:sp>
      <p:sp>
        <p:nvSpPr>
          <p:cNvPr id="27" name="text-150">
            <a:extLst xmlns:a="http://schemas.openxmlformats.org/drawingml/2006/main">
              <a:ext uri="{FF2B5EF4-FFF2-40B4-BE49-F238E27FC236}">
                <a16:creationId xmlns:a16="http://schemas.microsoft.com/office/drawing/2014/main" id="{67046816-2658-43E8-9581-558D457DF22F}"/>
              </a:ext>
            </a:extLst>
          </p:cNvPr>
          <p:cNvSpPr>
            <a:spLocks xmlns:a="http://schemas.openxmlformats.org/drawingml/2006/main" noGrp="1"/>
          </p:cNvSpPr>
          <p:nvPr/>
        </p:nvSpPr>
        <p:spPr>
          <a:xfrm xmlns:a="http://schemas.openxmlformats.org/drawingml/2006/main">
            <a:off x="10572750" y="61817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Restricted costs, module access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cashier activity</a:t>
            </a:r>
          </a:p>
        </p:txBody>
      </p:sp>
    </p:spTree>
    <p:extLst>
      <p:ext uri="{BB962C8B-B14F-4D97-AF65-F5344CB8AC3E}">
        <p14:creationId xmlns:p14="http://schemas.microsoft.com/office/powerpoint/2010/main" val="1105829516"/>
      </p:ext>
    </p:extLst>
  </p:cSld>
</p:sld>
</file>

<file path=ppt/slides/slide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4" name="text-151">
            <a:extLst xmlns:a="http://schemas.openxmlformats.org/drawingml/2006/main">
              <a:ext uri="{FF2B5EF4-FFF2-40B4-BE49-F238E27FC236}">
                <a16:creationId xmlns:a16="http://schemas.microsoft.com/office/drawing/2014/main" id="{8861B49A-6EBB-4276-B6DF-129001C48E51}"/>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02 / PRODUCT &amp; INVENTORY</a:t>
            </a:r>
          </a:p>
        </p:txBody>
      </p:sp>
      <p:sp>
        <p:nvSpPr>
          <p:cNvPr id="2" name="text-152">
            <a:extLst xmlns:a="http://schemas.openxmlformats.org/drawingml/2006/main">
              <a:ext uri="{FF2B5EF4-FFF2-40B4-BE49-F238E27FC236}">
                <a16:creationId xmlns:a16="http://schemas.microsoft.com/office/drawing/2014/main" id="{946996BD-CB8D-444F-87CA-CFEDFA63E555}"/>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One catalog connects products, prices and stock</a:t>
            </a:r>
          </a:p>
        </p:txBody>
      </p:sp>
      <p:sp>
        <p:nvSpPr>
          <p:cNvPr id="3" name="text-153">
            <a:extLst xmlns:a="http://schemas.openxmlformats.org/drawingml/2006/main">
              <a:ext uri="{FF2B5EF4-FFF2-40B4-BE49-F238E27FC236}">
                <a16:creationId xmlns:a16="http://schemas.microsoft.com/office/drawing/2014/main" id="{9EADE61E-50BD-4F10-B96C-3FD2358806D1}"/>
              </a:ext>
            </a:extLst>
          </p:cNvPr>
          <p:cNvSpPr>
            <a:spLocks xmlns:a="http://schemas.openxmlformats.org/drawingml/2006/main" noGrp="1"/>
          </p:cNvSpPr>
          <p:nvPr/>
        </p:nvSpPr>
        <p:spPr>
          <a:xfrm xmlns:a="http://schemas.openxmlformats.org/drawingml/2006/main">
            <a:off x="685800" y="1666875"/>
            <a:ext cx="13868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Actual demo interface • illustrative catalog data</a:t>
            </a:r>
          </a:p>
        </p:txBody>
      </p:sp>
      <p:sp>
        <p:nvSpPr>
          <p:cNvPr id="4" name="rule-154">
            <a:extLst xmlns:a="http://schemas.openxmlformats.org/drawingml/2006/main">
              <a:ext uri="{FF2B5EF4-FFF2-40B4-BE49-F238E27FC236}">
                <a16:creationId xmlns:a16="http://schemas.microsoft.com/office/drawing/2014/main" id="{37DAED1C-A357-42CE-8BB8-7813DEBA4F1B}"/>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5" name="text-155">
            <a:extLst xmlns:a="http://schemas.openxmlformats.org/drawingml/2006/main">
              <a:ext uri="{FF2B5EF4-FFF2-40B4-BE49-F238E27FC236}">
                <a16:creationId xmlns:a16="http://schemas.microsoft.com/office/drawing/2014/main" id="{D8D505C9-E1D4-4F3A-BD22-B5E0A96D2C56}"/>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6" name="text-156">
            <a:extLst xmlns:a="http://schemas.openxmlformats.org/drawingml/2006/main">
              <a:ext uri="{FF2B5EF4-FFF2-40B4-BE49-F238E27FC236}">
                <a16:creationId xmlns:a16="http://schemas.microsoft.com/office/drawing/2014/main" id="{64457318-D81B-4E82-88E7-7CB87F1826D1}"/>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07</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a53816b465a4c36"/>
          <a:stretch xmlns:a="http://schemas.openxmlformats.org/drawingml/2006/main"/>
        </p:blipFill>
        <p:spPr>
          <a:xfrm xmlns:a="http://schemas.openxmlformats.org/drawingml/2006/main">
            <a:off x="688609" y="2476500"/>
            <a:ext cx="9138381" cy="5143500"/>
          </a:xfrm>
          <a:prstGeom xmlns:a="http://schemas.openxmlformats.org/drawingml/2006/main" prst="rect">
            <a:avLst/>
          </a:prstGeom>
        </p:spPr>
      </p:pic>
      <p:sp>
        <p:nvSpPr>
          <p:cNvPr id="8" name="text-158">
            <a:extLst xmlns:a="http://schemas.openxmlformats.org/drawingml/2006/main">
              <a:ext uri="{FF2B5EF4-FFF2-40B4-BE49-F238E27FC236}">
                <a16:creationId xmlns:a16="http://schemas.microsoft.com/office/drawing/2014/main" id="{075EB9C5-B0B7-4746-A3DE-9D911AFA8BD9}"/>
              </a:ext>
            </a:extLst>
          </p:cNvPr>
          <p:cNvSpPr>
            <a:spLocks xmlns:a="http://schemas.openxmlformats.org/drawingml/2006/main" noGrp="1"/>
          </p:cNvSpPr>
          <p:nvPr/>
        </p:nvSpPr>
        <p:spPr>
          <a:xfrm xmlns:a="http://schemas.openxmlformats.org/drawingml/2006/main">
            <a:off x="10858500" y="2667000"/>
            <a:ext cx="3695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3D43"/>
                </a:solidFill>
                <a:latin typeface="Aptos"/>
                <a:ea typeface="Aptos"/>
                <a:cs typeface="Aptos"/>
              </a:defRPr>
            </a:pPr>
            <a:r>
              <a:rPr sz="2550" b="1">
                <a:solidFill>
                  <a:srgbClr val="103D43"/>
                </a:solidFill>
                <a:latin typeface="Aptos"/>
                <a:ea typeface="Aptos"/>
                <a:cs typeface="Aptos"/>
              </a:rPr>
              <a:t>Identify</a:t>
            </a:r>
          </a:p>
        </p:txBody>
      </p:sp>
      <p:sp>
        <p:nvSpPr>
          <p:cNvPr id="9" name="text-159">
            <a:extLst xmlns:a="http://schemas.openxmlformats.org/drawingml/2006/main">
              <a:ext uri="{FF2B5EF4-FFF2-40B4-BE49-F238E27FC236}">
                <a16:creationId xmlns:a16="http://schemas.microsoft.com/office/drawing/2014/main" id="{85373702-CFCB-47B4-A5CB-4D6232370B0E}"/>
              </a:ext>
            </a:extLst>
          </p:cNvPr>
          <p:cNvSpPr>
            <a:spLocks xmlns:a="http://schemas.openxmlformats.org/drawingml/2006/main" noGrp="1"/>
          </p:cNvSpPr>
          <p:nvPr/>
        </p:nvSpPr>
        <p:spPr>
          <a:xfrm xmlns:a="http://schemas.openxmlformats.org/drawingml/2006/main">
            <a:off x="10858500" y="3238500"/>
            <a:ext cx="36957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SKU, barcode, brand,</a:t>
            </a:r>
          </a:p>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category and size</a:t>
            </a:r>
          </a:p>
        </p:txBody>
      </p:sp>
      <p:sp>
        <p:nvSpPr>
          <p:cNvPr id="10" name="text-160">
            <a:extLst xmlns:a="http://schemas.openxmlformats.org/drawingml/2006/main">
              <a:ext uri="{FF2B5EF4-FFF2-40B4-BE49-F238E27FC236}">
                <a16:creationId xmlns:a16="http://schemas.microsoft.com/office/drawing/2014/main" id="{EAE88D2A-F9D7-4B28-9EBB-DF45B29A689B}"/>
              </a:ext>
            </a:extLst>
          </p:cNvPr>
          <p:cNvSpPr>
            <a:spLocks xmlns:a="http://schemas.openxmlformats.org/drawingml/2006/main" noGrp="1"/>
          </p:cNvSpPr>
          <p:nvPr/>
        </p:nvSpPr>
        <p:spPr>
          <a:xfrm xmlns:a="http://schemas.openxmlformats.org/drawingml/2006/main">
            <a:off x="10858500" y="4362450"/>
            <a:ext cx="3695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3D43"/>
                </a:solidFill>
                <a:latin typeface="Aptos"/>
                <a:ea typeface="Aptos"/>
                <a:cs typeface="Aptos"/>
              </a:defRPr>
            </a:pPr>
            <a:r>
              <a:rPr sz="2550" b="1">
                <a:solidFill>
                  <a:srgbClr val="103D43"/>
                </a:solidFill>
                <a:latin typeface="Aptos"/>
                <a:ea typeface="Aptos"/>
                <a:cs typeface="Aptos"/>
              </a:rPr>
              <a:t>Price</a:t>
            </a:r>
          </a:p>
        </p:txBody>
      </p:sp>
      <p:sp>
        <p:nvSpPr>
          <p:cNvPr id="11" name="text-161">
            <a:extLst xmlns:a="http://schemas.openxmlformats.org/drawingml/2006/main">
              <a:ext uri="{FF2B5EF4-FFF2-40B4-BE49-F238E27FC236}">
                <a16:creationId xmlns:a16="http://schemas.microsoft.com/office/drawing/2014/main" id="{386206BB-8AC3-48A0-87D2-102612ACB11B}"/>
              </a:ext>
            </a:extLst>
          </p:cNvPr>
          <p:cNvSpPr>
            <a:spLocks xmlns:a="http://schemas.openxmlformats.org/drawingml/2006/main" noGrp="1"/>
          </p:cNvSpPr>
          <p:nvPr/>
        </p:nvSpPr>
        <p:spPr>
          <a:xfrm xmlns:a="http://schemas.openxmlformats.org/drawingml/2006/main">
            <a:off x="10858500" y="4933950"/>
            <a:ext cx="3695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Retail, wholesale,</a:t>
            </a:r>
          </a:p>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VIP and web levels</a:t>
            </a:r>
          </a:p>
        </p:txBody>
      </p:sp>
      <p:sp>
        <p:nvSpPr>
          <p:cNvPr id="12" name="text-162">
            <a:extLst xmlns:a="http://schemas.openxmlformats.org/drawingml/2006/main">
              <a:ext uri="{FF2B5EF4-FFF2-40B4-BE49-F238E27FC236}">
                <a16:creationId xmlns:a16="http://schemas.microsoft.com/office/drawing/2014/main" id="{6D5E0EBC-FBB4-40D6-A9CC-EA9BAB8F56D5}"/>
              </a:ext>
            </a:extLst>
          </p:cNvPr>
          <p:cNvSpPr>
            <a:spLocks xmlns:a="http://schemas.openxmlformats.org/drawingml/2006/main" noGrp="1"/>
          </p:cNvSpPr>
          <p:nvPr/>
        </p:nvSpPr>
        <p:spPr>
          <a:xfrm xmlns:a="http://schemas.openxmlformats.org/drawingml/2006/main">
            <a:off x="10858500" y="6048375"/>
            <a:ext cx="3695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3D43"/>
                </a:solidFill>
                <a:latin typeface="Aptos"/>
                <a:ea typeface="Aptos"/>
                <a:cs typeface="Aptos"/>
              </a:defRPr>
            </a:pPr>
            <a:r>
              <a:rPr sz="2550" b="1">
                <a:solidFill>
                  <a:srgbClr val="103D43"/>
                </a:solidFill>
                <a:latin typeface="Aptos"/>
                <a:ea typeface="Aptos"/>
                <a:cs typeface="Aptos"/>
              </a:rPr>
              <a:t>Control</a:t>
            </a:r>
          </a:p>
        </p:txBody>
      </p:sp>
      <p:sp>
        <p:nvSpPr>
          <p:cNvPr id="13" name="text-163">
            <a:extLst xmlns:a="http://schemas.openxmlformats.org/drawingml/2006/main">
              <a:ext uri="{FF2B5EF4-FFF2-40B4-BE49-F238E27FC236}">
                <a16:creationId xmlns:a16="http://schemas.microsoft.com/office/drawing/2014/main" id="{50E95817-C77A-497D-B909-4EE9A04958EC}"/>
              </a:ext>
            </a:extLst>
          </p:cNvPr>
          <p:cNvSpPr>
            <a:spLocks xmlns:a="http://schemas.openxmlformats.org/drawingml/2006/main" noGrp="1"/>
          </p:cNvSpPr>
          <p:nvPr/>
        </p:nvSpPr>
        <p:spPr>
          <a:xfrm xmlns:a="http://schemas.openxmlformats.org/drawingml/2006/main">
            <a:off x="10858500" y="6619875"/>
            <a:ext cx="3695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Costs, thresholds</a:t>
            </a:r>
          </a:p>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and product status</a:t>
            </a:r>
          </a:p>
        </p:txBody>
      </p:sp>
    </p:spTree>
    <p:extLst>
      <p:ext uri="{BB962C8B-B14F-4D97-AF65-F5344CB8AC3E}">
        <p14:creationId xmlns:p14="http://schemas.microsoft.com/office/powerpoint/2010/main" val="108594685"/>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8" name="text-164">
            <a:extLst xmlns:a="http://schemas.openxmlformats.org/drawingml/2006/main">
              <a:ext uri="{FF2B5EF4-FFF2-40B4-BE49-F238E27FC236}">
                <a16:creationId xmlns:a16="http://schemas.microsoft.com/office/drawing/2014/main" id="{914DC476-3FBF-4363-B146-026C9C1BCE10}"/>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02 / STOCK OPERATIONS</a:t>
            </a:r>
          </a:p>
        </p:txBody>
      </p:sp>
      <p:sp>
        <p:nvSpPr>
          <p:cNvPr id="2" name="text-165">
            <a:extLst xmlns:a="http://schemas.openxmlformats.org/drawingml/2006/main">
              <a:ext uri="{FF2B5EF4-FFF2-40B4-BE49-F238E27FC236}">
                <a16:creationId xmlns:a16="http://schemas.microsoft.com/office/drawing/2014/main" id="{FE907968-507D-4E02-91B4-4106B807037E}"/>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Know what is available—and why it changed</a:t>
            </a:r>
          </a:p>
        </p:txBody>
      </p:sp>
      <p:sp>
        <p:nvSpPr>
          <p:cNvPr id="3" name="rule-166">
            <a:extLst xmlns:a="http://schemas.openxmlformats.org/drawingml/2006/main">
              <a:ext uri="{FF2B5EF4-FFF2-40B4-BE49-F238E27FC236}">
                <a16:creationId xmlns:a16="http://schemas.microsoft.com/office/drawing/2014/main" id="{53304ADD-90E6-41F7-A129-80C04B224A52}"/>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167">
            <a:extLst xmlns:a="http://schemas.openxmlformats.org/drawingml/2006/main">
              <a:ext uri="{FF2B5EF4-FFF2-40B4-BE49-F238E27FC236}">
                <a16:creationId xmlns:a16="http://schemas.microsoft.com/office/drawing/2014/main" id="{168D3CF2-BF1D-4FB7-B76A-E1C0FB46A698}"/>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168">
            <a:extLst xmlns:a="http://schemas.openxmlformats.org/drawingml/2006/main">
              <a:ext uri="{FF2B5EF4-FFF2-40B4-BE49-F238E27FC236}">
                <a16:creationId xmlns:a16="http://schemas.microsoft.com/office/drawing/2014/main" id="{1C5AD767-83B8-405E-96CE-771204354E11}"/>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08</a:t>
            </a:r>
          </a:p>
        </p:txBody>
      </p:sp>
      <p:sp>
        <p:nvSpPr>
          <p:cNvPr id="6" name="edge-169">
            <a:extLst xmlns:a="http://schemas.openxmlformats.org/drawingml/2006/main">
              <a:ext uri="{FF2B5EF4-FFF2-40B4-BE49-F238E27FC236}">
                <a16:creationId xmlns:a16="http://schemas.microsoft.com/office/drawing/2014/main" id="{1F04B50C-BAD7-4B4F-9E8C-F4CECB76DF48}"/>
              </a:ext>
            </a:extLst>
          </p:cNvPr>
          <p:cNvSpPr>
            <a:spLocks xmlns:a="http://schemas.openxmlformats.org/drawingml/2006/main" noGrp="1"/>
          </p:cNvSpPr>
          <p:nvPr/>
        </p:nvSpPr>
        <p:spPr>
          <a:xfrm xmlns:a="http://schemas.openxmlformats.org/drawingml/2006/main" flipH="0" flipV="0">
            <a:off x="3967163" y="3700463"/>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7" name="text-170">
            <a:extLst xmlns:a="http://schemas.openxmlformats.org/drawingml/2006/main">
              <a:ext uri="{FF2B5EF4-FFF2-40B4-BE49-F238E27FC236}">
                <a16:creationId xmlns:a16="http://schemas.microsoft.com/office/drawing/2014/main" id="{325CC9A1-6F9C-4C32-842F-3DA9A3500B83}"/>
              </a:ext>
            </a:extLst>
          </p:cNvPr>
          <p:cNvSpPr>
            <a:spLocks xmlns:a="http://schemas.openxmlformats.org/drawingml/2006/main" noGrp="1"/>
          </p:cNvSpPr>
          <p:nvPr/>
        </p:nvSpPr>
        <p:spPr>
          <a:xfrm xmlns:a="http://schemas.openxmlformats.org/drawingml/2006/main">
            <a:off x="4014788" y="3490913"/>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8" name="edge-171">
            <a:extLst xmlns:a="http://schemas.openxmlformats.org/drawingml/2006/main">
              <a:ext uri="{FF2B5EF4-FFF2-40B4-BE49-F238E27FC236}">
                <a16:creationId xmlns:a16="http://schemas.microsoft.com/office/drawing/2014/main" id="{948114E3-481D-487D-A90B-F1116ED66940}"/>
              </a:ext>
            </a:extLst>
          </p:cNvPr>
          <p:cNvSpPr>
            <a:spLocks xmlns:a="http://schemas.openxmlformats.org/drawingml/2006/main" noGrp="1"/>
          </p:cNvSpPr>
          <p:nvPr/>
        </p:nvSpPr>
        <p:spPr>
          <a:xfrm xmlns:a="http://schemas.openxmlformats.org/drawingml/2006/main" flipH="0" flipV="0">
            <a:off x="7496175" y="3700463"/>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9" name="text-172">
            <a:extLst xmlns:a="http://schemas.openxmlformats.org/drawingml/2006/main">
              <a:ext uri="{FF2B5EF4-FFF2-40B4-BE49-F238E27FC236}">
                <a16:creationId xmlns:a16="http://schemas.microsoft.com/office/drawing/2014/main" id="{6278EAF7-E274-42B2-8F1F-084B6883EB4B}"/>
              </a:ext>
            </a:extLst>
          </p:cNvPr>
          <p:cNvSpPr>
            <a:spLocks xmlns:a="http://schemas.openxmlformats.org/drawingml/2006/main" noGrp="1"/>
          </p:cNvSpPr>
          <p:nvPr/>
        </p:nvSpPr>
        <p:spPr>
          <a:xfrm xmlns:a="http://schemas.openxmlformats.org/drawingml/2006/main">
            <a:off x="7543800" y="3490913"/>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0" name="edge-173">
            <a:extLst xmlns:a="http://schemas.openxmlformats.org/drawingml/2006/main">
              <a:ext uri="{FF2B5EF4-FFF2-40B4-BE49-F238E27FC236}">
                <a16:creationId xmlns:a16="http://schemas.microsoft.com/office/drawing/2014/main" id="{8B6857B3-640B-4AD3-BEA1-B1FB34AE6B08}"/>
              </a:ext>
            </a:extLst>
          </p:cNvPr>
          <p:cNvSpPr>
            <a:spLocks xmlns:a="http://schemas.openxmlformats.org/drawingml/2006/main" noGrp="1"/>
          </p:cNvSpPr>
          <p:nvPr/>
        </p:nvSpPr>
        <p:spPr>
          <a:xfrm xmlns:a="http://schemas.openxmlformats.org/drawingml/2006/main" flipH="0" flipV="0">
            <a:off x="11025188" y="3700463"/>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1" name="text-174">
            <a:extLst xmlns:a="http://schemas.openxmlformats.org/drawingml/2006/main">
              <a:ext uri="{FF2B5EF4-FFF2-40B4-BE49-F238E27FC236}">
                <a16:creationId xmlns:a16="http://schemas.microsoft.com/office/drawing/2014/main" id="{79CD237A-D796-4C54-BB26-B9D712ADEC8C}"/>
              </a:ext>
            </a:extLst>
          </p:cNvPr>
          <p:cNvSpPr>
            <a:spLocks xmlns:a="http://schemas.openxmlformats.org/drawingml/2006/main" noGrp="1"/>
          </p:cNvSpPr>
          <p:nvPr/>
        </p:nvSpPr>
        <p:spPr>
          <a:xfrm xmlns:a="http://schemas.openxmlformats.org/drawingml/2006/main">
            <a:off x="11072813" y="3490913"/>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2" name="surface-175">
            <a:extLst xmlns:a="http://schemas.openxmlformats.org/drawingml/2006/main">
              <a:ext uri="{FF2B5EF4-FFF2-40B4-BE49-F238E27FC236}">
                <a16:creationId xmlns:a16="http://schemas.microsoft.com/office/drawing/2014/main" id="{056A52E4-F261-4C8D-94DB-DE36013F22AB}"/>
              </a:ext>
            </a:extLst>
          </p:cNvPr>
          <p:cNvSpPr>
            <a:spLocks xmlns:a="http://schemas.openxmlformats.org/drawingml/2006/main" noGrp="1"/>
          </p:cNvSpPr>
          <p:nvPr/>
        </p:nvSpPr>
        <p:spPr>
          <a:xfrm xmlns:a="http://schemas.openxmlformats.org/drawingml/2006/main">
            <a:off x="685800" y="2857500"/>
            <a:ext cx="3281363" cy="1685925"/>
          </a:xfrm>
          <a:prstGeom xmlns:a="http://schemas.openxmlformats.org/drawingml/2006/main" prst="rect">
            <a:avLst/>
          </a:prstGeom>
          <a:solidFill xmlns:a="http://schemas.openxmlformats.org/drawingml/2006/main">
            <a:srgbClr val="23716D"/>
          </a:solidFill>
          <a:ln xmlns:a="http://schemas.openxmlformats.org/drawingml/2006/main" w="0">
            <a:noFill/>
            <a:prstDash val="solid"/>
          </a:ln>
        </p:spPr>
      </p:sp>
      <p:sp>
        <p:nvSpPr>
          <p:cNvPr id="13" name="text-176">
            <a:extLst xmlns:a="http://schemas.openxmlformats.org/drawingml/2006/main">
              <a:ext uri="{FF2B5EF4-FFF2-40B4-BE49-F238E27FC236}">
                <a16:creationId xmlns:a16="http://schemas.microsoft.com/office/drawing/2014/main" id="{C19BEF08-3B16-4C51-8D46-96B75DBD6960}"/>
              </a:ext>
            </a:extLst>
          </p:cNvPr>
          <p:cNvSpPr>
            <a:spLocks xmlns:a="http://schemas.openxmlformats.org/drawingml/2006/main" noGrp="1"/>
          </p:cNvSpPr>
          <p:nvPr/>
        </p:nvSpPr>
        <p:spPr>
          <a:xfrm xmlns:a="http://schemas.openxmlformats.org/drawingml/2006/main">
            <a:off x="895350" y="302895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7F5EE"/>
                </a:solidFill>
                <a:latin typeface="Aptos"/>
                <a:ea typeface="Aptos"/>
                <a:cs typeface="Aptos"/>
              </a:defRPr>
            </a:pPr>
            <a:r>
              <a:rPr sz="2400" b="1">
                <a:solidFill>
                  <a:srgbClr val="F7F5EE"/>
                </a:solidFill>
                <a:latin typeface="Aptos"/>
                <a:ea typeface="Aptos"/>
                <a:cs typeface="Aptos"/>
              </a:rPr>
              <a:t>Receive</a:t>
            </a:r>
          </a:p>
        </p:txBody>
      </p:sp>
      <p:sp>
        <p:nvSpPr>
          <p:cNvPr id="14" name="text-177">
            <a:extLst xmlns:a="http://schemas.openxmlformats.org/drawingml/2006/main">
              <a:ext uri="{FF2B5EF4-FFF2-40B4-BE49-F238E27FC236}">
                <a16:creationId xmlns:a16="http://schemas.microsoft.com/office/drawing/2014/main" id="{A8C70C41-A9AB-410B-BF6A-C841C93FF418}"/>
              </a:ext>
            </a:extLst>
          </p:cNvPr>
          <p:cNvSpPr>
            <a:spLocks xmlns:a="http://schemas.openxmlformats.org/drawingml/2006/main" noGrp="1"/>
          </p:cNvSpPr>
          <p:nvPr/>
        </p:nvSpPr>
        <p:spPr>
          <a:xfrm xmlns:a="http://schemas.openxmlformats.org/drawingml/2006/main">
            <a:off x="895350" y="3476625"/>
            <a:ext cx="2862263"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Post goods into</a:t>
            </a:r>
          </a:p>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a location</a:t>
            </a:r>
          </a:p>
        </p:txBody>
      </p:sp>
      <p:sp>
        <p:nvSpPr>
          <p:cNvPr id="15" name="surface-178">
            <a:extLst xmlns:a="http://schemas.openxmlformats.org/drawingml/2006/main">
              <a:ext uri="{FF2B5EF4-FFF2-40B4-BE49-F238E27FC236}">
                <a16:creationId xmlns:a16="http://schemas.microsoft.com/office/drawing/2014/main" id="{15317599-E8AE-4CDA-856F-C539BBC97C45}"/>
              </a:ext>
            </a:extLst>
          </p:cNvPr>
          <p:cNvSpPr>
            <a:spLocks xmlns:a="http://schemas.openxmlformats.org/drawingml/2006/main" noGrp="1"/>
          </p:cNvSpPr>
          <p:nvPr/>
        </p:nvSpPr>
        <p:spPr>
          <a:xfrm xmlns:a="http://schemas.openxmlformats.org/drawingml/2006/main">
            <a:off x="4214813" y="2857500"/>
            <a:ext cx="3281363" cy="1685925"/>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16" name="text-179">
            <a:extLst xmlns:a="http://schemas.openxmlformats.org/drawingml/2006/main">
              <a:ext uri="{FF2B5EF4-FFF2-40B4-BE49-F238E27FC236}">
                <a16:creationId xmlns:a16="http://schemas.microsoft.com/office/drawing/2014/main" id="{E06A8DF3-5941-47F0-9008-B9A4534A0D1F}"/>
              </a:ext>
            </a:extLst>
          </p:cNvPr>
          <p:cNvSpPr>
            <a:spLocks xmlns:a="http://schemas.openxmlformats.org/drawingml/2006/main" noGrp="1"/>
          </p:cNvSpPr>
          <p:nvPr/>
        </p:nvSpPr>
        <p:spPr>
          <a:xfrm xmlns:a="http://schemas.openxmlformats.org/drawingml/2006/main">
            <a:off x="4424363" y="302895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Transfer</a:t>
            </a:r>
          </a:p>
        </p:txBody>
      </p:sp>
      <p:sp>
        <p:nvSpPr>
          <p:cNvPr id="17" name="text-180">
            <a:extLst xmlns:a="http://schemas.openxmlformats.org/drawingml/2006/main">
              <a:ext uri="{FF2B5EF4-FFF2-40B4-BE49-F238E27FC236}">
                <a16:creationId xmlns:a16="http://schemas.microsoft.com/office/drawing/2014/main" id="{6654FEE7-5A3D-4E5A-8A0B-7331FA2794BC}"/>
              </a:ext>
            </a:extLst>
          </p:cNvPr>
          <p:cNvSpPr>
            <a:spLocks xmlns:a="http://schemas.openxmlformats.org/drawingml/2006/main" noGrp="1"/>
          </p:cNvSpPr>
          <p:nvPr/>
        </p:nvSpPr>
        <p:spPr>
          <a:xfrm xmlns:a="http://schemas.openxmlformats.org/drawingml/2006/main">
            <a:off x="4424363" y="3476625"/>
            <a:ext cx="2862263"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Move units between</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locations</a:t>
            </a:r>
          </a:p>
        </p:txBody>
      </p:sp>
      <p:sp>
        <p:nvSpPr>
          <p:cNvPr id="18" name="surface-181">
            <a:extLst xmlns:a="http://schemas.openxmlformats.org/drawingml/2006/main">
              <a:ext uri="{FF2B5EF4-FFF2-40B4-BE49-F238E27FC236}">
                <a16:creationId xmlns:a16="http://schemas.microsoft.com/office/drawing/2014/main" id="{58C3C5B6-7889-462D-AB03-5CD9F4782D51}"/>
              </a:ext>
            </a:extLst>
          </p:cNvPr>
          <p:cNvSpPr>
            <a:spLocks xmlns:a="http://schemas.openxmlformats.org/drawingml/2006/main" noGrp="1"/>
          </p:cNvSpPr>
          <p:nvPr/>
        </p:nvSpPr>
        <p:spPr>
          <a:xfrm xmlns:a="http://schemas.openxmlformats.org/drawingml/2006/main">
            <a:off x="7743825" y="2857500"/>
            <a:ext cx="3281363" cy="1685925"/>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19" name="text-182">
            <a:extLst xmlns:a="http://schemas.openxmlformats.org/drawingml/2006/main">
              <a:ext uri="{FF2B5EF4-FFF2-40B4-BE49-F238E27FC236}">
                <a16:creationId xmlns:a16="http://schemas.microsoft.com/office/drawing/2014/main" id="{F590ED20-26E6-49E2-8E04-E00B2D4CE125}"/>
              </a:ext>
            </a:extLst>
          </p:cNvPr>
          <p:cNvSpPr>
            <a:spLocks xmlns:a="http://schemas.openxmlformats.org/drawingml/2006/main" noGrp="1"/>
          </p:cNvSpPr>
          <p:nvPr/>
        </p:nvSpPr>
        <p:spPr>
          <a:xfrm xmlns:a="http://schemas.openxmlformats.org/drawingml/2006/main">
            <a:off x="7953375" y="302895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Count</a:t>
            </a:r>
          </a:p>
        </p:txBody>
      </p:sp>
      <p:sp>
        <p:nvSpPr>
          <p:cNvPr id="20" name="text-183">
            <a:extLst xmlns:a="http://schemas.openxmlformats.org/drawingml/2006/main">
              <a:ext uri="{FF2B5EF4-FFF2-40B4-BE49-F238E27FC236}">
                <a16:creationId xmlns:a16="http://schemas.microsoft.com/office/drawing/2014/main" id="{1E8FB81A-6797-4023-8BA5-43E6F84BA2E4}"/>
              </a:ext>
            </a:extLst>
          </p:cNvPr>
          <p:cNvSpPr>
            <a:spLocks xmlns:a="http://schemas.openxmlformats.org/drawingml/2006/main" noGrp="1"/>
          </p:cNvSpPr>
          <p:nvPr/>
        </p:nvSpPr>
        <p:spPr>
          <a:xfrm xmlns:a="http://schemas.openxmlformats.org/drawingml/2006/main">
            <a:off x="7953375" y="3476625"/>
            <a:ext cx="2862263"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Compare physical</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recorded stock</a:t>
            </a:r>
          </a:p>
        </p:txBody>
      </p:sp>
      <p:sp>
        <p:nvSpPr>
          <p:cNvPr id="21" name="surface-184">
            <a:extLst xmlns:a="http://schemas.openxmlformats.org/drawingml/2006/main">
              <a:ext uri="{FF2B5EF4-FFF2-40B4-BE49-F238E27FC236}">
                <a16:creationId xmlns:a16="http://schemas.microsoft.com/office/drawing/2014/main" id="{AE1D60CC-6767-4EF5-9B37-DCE63CAC970B}"/>
              </a:ext>
            </a:extLst>
          </p:cNvPr>
          <p:cNvSpPr>
            <a:spLocks xmlns:a="http://schemas.openxmlformats.org/drawingml/2006/main" noGrp="1"/>
          </p:cNvSpPr>
          <p:nvPr/>
        </p:nvSpPr>
        <p:spPr>
          <a:xfrm xmlns:a="http://schemas.openxmlformats.org/drawingml/2006/main">
            <a:off x="11272838" y="2857500"/>
            <a:ext cx="3281363" cy="1685925"/>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22" name="text-185">
            <a:extLst xmlns:a="http://schemas.openxmlformats.org/drawingml/2006/main">
              <a:ext uri="{FF2B5EF4-FFF2-40B4-BE49-F238E27FC236}">
                <a16:creationId xmlns:a16="http://schemas.microsoft.com/office/drawing/2014/main" id="{A94FB448-4FE4-4F8C-9769-BD3FD2AD718E}"/>
              </a:ext>
            </a:extLst>
          </p:cNvPr>
          <p:cNvSpPr>
            <a:spLocks xmlns:a="http://schemas.openxmlformats.org/drawingml/2006/main" noGrp="1"/>
          </p:cNvSpPr>
          <p:nvPr/>
        </p:nvSpPr>
        <p:spPr>
          <a:xfrm xmlns:a="http://schemas.openxmlformats.org/drawingml/2006/main">
            <a:off x="11482388" y="302895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Trace</a:t>
            </a:r>
          </a:p>
        </p:txBody>
      </p:sp>
      <p:sp>
        <p:nvSpPr>
          <p:cNvPr id="23" name="text-186">
            <a:extLst xmlns:a="http://schemas.openxmlformats.org/drawingml/2006/main">
              <a:ext uri="{FF2B5EF4-FFF2-40B4-BE49-F238E27FC236}">
                <a16:creationId xmlns:a16="http://schemas.microsoft.com/office/drawing/2014/main" id="{4E4AFAF5-563B-49F5-8610-FCFA36C78BBD}"/>
              </a:ext>
            </a:extLst>
          </p:cNvPr>
          <p:cNvSpPr>
            <a:spLocks xmlns:a="http://schemas.openxmlformats.org/drawingml/2006/main" noGrp="1"/>
          </p:cNvSpPr>
          <p:nvPr/>
        </p:nvSpPr>
        <p:spPr>
          <a:xfrm xmlns:a="http://schemas.openxmlformats.org/drawingml/2006/main">
            <a:off x="11482388" y="3476625"/>
            <a:ext cx="2862263"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Review the</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movement history</a:t>
            </a:r>
          </a:p>
        </p:txBody>
      </p:sp>
      <p:sp>
        <p:nvSpPr>
          <p:cNvPr id="24" name="text-187">
            <a:extLst xmlns:a="http://schemas.openxmlformats.org/drawingml/2006/main">
              <a:ext uri="{FF2B5EF4-FFF2-40B4-BE49-F238E27FC236}">
                <a16:creationId xmlns:a16="http://schemas.microsoft.com/office/drawing/2014/main" id="{0D619C38-A9B6-45D8-8A9D-33DE1CB6EC15}"/>
              </a:ext>
            </a:extLst>
          </p:cNvPr>
          <p:cNvSpPr>
            <a:spLocks xmlns:a="http://schemas.openxmlformats.org/drawingml/2006/main" noGrp="1"/>
          </p:cNvSpPr>
          <p:nvPr/>
        </p:nvSpPr>
        <p:spPr>
          <a:xfrm xmlns:a="http://schemas.openxmlformats.org/drawingml/2006/main">
            <a:off x="685800" y="5286375"/>
            <a:ext cx="561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03D43"/>
                </a:solidFill>
                <a:latin typeface="Aptos"/>
                <a:ea typeface="Aptos"/>
                <a:cs typeface="Aptos"/>
              </a:defRPr>
            </a:pPr>
            <a:r>
              <a:rPr sz="2925" b="1">
                <a:solidFill>
                  <a:srgbClr val="103D43"/>
                </a:solidFill>
                <a:latin typeface="Aptos"/>
                <a:ea typeface="Aptos"/>
                <a:cs typeface="Aptos"/>
              </a:rPr>
              <a:t>Available stock</a:t>
            </a:r>
          </a:p>
        </p:txBody>
      </p:sp>
      <p:sp>
        <p:nvSpPr>
          <p:cNvPr id="25" name="text-188">
            <a:extLst xmlns:a="http://schemas.openxmlformats.org/drawingml/2006/main">
              <a:ext uri="{FF2B5EF4-FFF2-40B4-BE49-F238E27FC236}">
                <a16:creationId xmlns:a16="http://schemas.microsoft.com/office/drawing/2014/main" id="{7019734F-8AAA-4527-B707-D61BD24E27DC}"/>
              </a:ext>
            </a:extLst>
          </p:cNvPr>
          <p:cNvSpPr>
            <a:spLocks xmlns:a="http://schemas.openxmlformats.org/drawingml/2006/main" noGrp="1"/>
          </p:cNvSpPr>
          <p:nvPr/>
        </p:nvSpPr>
        <p:spPr>
          <a:xfrm xmlns:a="http://schemas.openxmlformats.org/drawingml/2006/main">
            <a:off x="685800" y="5905500"/>
            <a:ext cx="676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3716D"/>
                </a:solidFill>
                <a:latin typeface="Aptos"/>
                <a:ea typeface="Aptos"/>
                <a:cs typeface="Aptos"/>
              </a:defRPr>
            </a:pPr>
            <a:r>
              <a:rPr sz="2925" b="1">
                <a:solidFill>
                  <a:srgbClr val="23716D"/>
                </a:solidFill>
                <a:latin typeface="Aptos"/>
                <a:ea typeface="Aptos"/>
                <a:cs typeface="Aptos"/>
              </a:rPr>
              <a:t>On hand − committed − held</a:t>
            </a:r>
          </a:p>
        </p:txBody>
      </p:sp>
      <p:sp>
        <p:nvSpPr>
          <p:cNvPr id="26" name="text-189">
            <a:extLst xmlns:a="http://schemas.openxmlformats.org/drawingml/2006/main">
              <a:ext uri="{FF2B5EF4-FFF2-40B4-BE49-F238E27FC236}">
                <a16:creationId xmlns:a16="http://schemas.microsoft.com/office/drawing/2014/main" id="{838AF752-B794-4286-BF52-BB38A05D31F6}"/>
              </a:ext>
            </a:extLst>
          </p:cNvPr>
          <p:cNvSpPr>
            <a:spLocks xmlns:a="http://schemas.openxmlformats.org/drawingml/2006/main" noGrp="1"/>
          </p:cNvSpPr>
          <p:nvPr/>
        </p:nvSpPr>
        <p:spPr>
          <a:xfrm xmlns:a="http://schemas.openxmlformats.org/drawingml/2006/main">
            <a:off x="8667750" y="5305425"/>
            <a:ext cx="5886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A posted movement preserves</a:t>
            </a:r>
          </a:p>
        </p:txBody>
      </p:sp>
      <p:sp>
        <p:nvSpPr>
          <p:cNvPr id="27" name="text-190">
            <a:extLst xmlns:a="http://schemas.openxmlformats.org/drawingml/2006/main">
              <a:ext uri="{FF2B5EF4-FFF2-40B4-BE49-F238E27FC236}">
                <a16:creationId xmlns:a16="http://schemas.microsoft.com/office/drawing/2014/main" id="{C8E4D76F-C17C-4A39-AB4E-DDCBECA5FAC9}"/>
              </a:ext>
            </a:extLst>
          </p:cNvPr>
          <p:cNvSpPr>
            <a:spLocks xmlns:a="http://schemas.openxmlformats.org/drawingml/2006/main" noGrp="1"/>
          </p:cNvSpPr>
          <p:nvPr/>
        </p:nvSpPr>
        <p:spPr>
          <a:xfrm xmlns:a="http://schemas.openxmlformats.org/drawingml/2006/main">
            <a:off x="8667750" y="5905500"/>
            <a:ext cx="58864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97071"/>
                </a:solidFill>
                <a:latin typeface="Aptos"/>
                <a:ea typeface="Aptos"/>
                <a:cs typeface="Aptos"/>
              </a:defRPr>
            </a:pPr>
            <a:r>
              <a:rPr sz="2250" b="0">
                <a:solidFill>
                  <a:srgbClr val="597071"/>
                </a:solidFill>
                <a:latin typeface="Aptos"/>
                <a:ea typeface="Aptos"/>
                <a:cs typeface="Aptos"/>
              </a:rPr>
              <a:t>Product • quantity • location</a:t>
            </a:r>
          </a:p>
          <a:p xmlns:a="http://schemas.openxmlformats.org/drawingml/2006/main">
            <a:pPr algn="l">
              <a:defRPr sz="2250" b="0">
                <a:solidFill>
                  <a:srgbClr val="597071"/>
                </a:solidFill>
                <a:latin typeface="Aptos"/>
                <a:ea typeface="Aptos"/>
                <a:cs typeface="Aptos"/>
              </a:defRPr>
            </a:pPr>
            <a:r>
              <a:rPr sz="2250" b="0">
                <a:solidFill>
                  <a:srgbClr val="597071"/>
                </a:solidFill>
                <a:latin typeface="Aptos"/>
                <a:ea typeface="Aptos"/>
                <a:cs typeface="Aptos"/>
              </a:rPr>
              <a:t>Reference • actor • date</a:t>
            </a:r>
          </a:p>
        </p:txBody>
      </p:sp>
    </p:spTree>
    <p:extLst>
      <p:ext uri="{BB962C8B-B14F-4D97-AF65-F5344CB8AC3E}">
        <p14:creationId xmlns:p14="http://schemas.microsoft.com/office/powerpoint/2010/main" val="1644483914"/>
      </p:ext>
    </p:extLst>
  </p:cSld>
</p:sld>
</file>

<file path=ppt/slides/slide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4" name="text-191">
            <a:extLst xmlns:a="http://schemas.openxmlformats.org/drawingml/2006/main">
              <a:ext uri="{FF2B5EF4-FFF2-40B4-BE49-F238E27FC236}">
                <a16:creationId xmlns:a16="http://schemas.microsoft.com/office/drawing/2014/main" id="{EBFD2D11-9FD2-4267-A727-D308F0D7467C}"/>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03 / RETAIL POS</a:t>
            </a:r>
          </a:p>
        </p:txBody>
      </p:sp>
      <p:sp>
        <p:nvSpPr>
          <p:cNvPr id="2" name="text-192">
            <a:extLst xmlns:a="http://schemas.openxmlformats.org/drawingml/2006/main">
              <a:ext uri="{FF2B5EF4-FFF2-40B4-BE49-F238E27FC236}">
                <a16:creationId xmlns:a16="http://schemas.microsoft.com/office/drawing/2014/main" id="{C57FF6B5-E7EE-4491-B491-EE7A5E50DA31}"/>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Turn a counter sale into a traceable record</a:t>
            </a:r>
          </a:p>
        </p:txBody>
      </p:sp>
      <p:sp>
        <p:nvSpPr>
          <p:cNvPr id="3" name="text-193">
            <a:extLst xmlns:a="http://schemas.openxmlformats.org/drawingml/2006/main">
              <a:ext uri="{FF2B5EF4-FFF2-40B4-BE49-F238E27FC236}">
                <a16:creationId xmlns:a16="http://schemas.microsoft.com/office/drawing/2014/main" id="{0CDFDA2D-A224-45A2-93F5-5E58229E73E2}"/>
              </a:ext>
            </a:extLst>
          </p:cNvPr>
          <p:cNvSpPr>
            <a:spLocks xmlns:a="http://schemas.openxmlformats.org/drawingml/2006/main" noGrp="1"/>
          </p:cNvSpPr>
          <p:nvPr/>
        </p:nvSpPr>
        <p:spPr>
          <a:xfrm xmlns:a="http://schemas.openxmlformats.org/drawingml/2006/main">
            <a:off x="685800" y="1666875"/>
            <a:ext cx="13868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Actual demo interface • current counter workspace</a:t>
            </a:r>
          </a:p>
        </p:txBody>
      </p:sp>
      <p:sp>
        <p:nvSpPr>
          <p:cNvPr id="4" name="rule-194">
            <a:extLst xmlns:a="http://schemas.openxmlformats.org/drawingml/2006/main">
              <a:ext uri="{FF2B5EF4-FFF2-40B4-BE49-F238E27FC236}">
                <a16:creationId xmlns:a16="http://schemas.microsoft.com/office/drawing/2014/main" id="{BB888887-353C-4A07-9743-C4AA9ADCDFA2}"/>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5" name="text-195">
            <a:extLst xmlns:a="http://schemas.openxmlformats.org/drawingml/2006/main">
              <a:ext uri="{FF2B5EF4-FFF2-40B4-BE49-F238E27FC236}">
                <a16:creationId xmlns:a16="http://schemas.microsoft.com/office/drawing/2014/main" id="{6EB84618-B63C-4247-B3E2-E903F09C33CF}"/>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6" name="text-196">
            <a:extLst xmlns:a="http://schemas.openxmlformats.org/drawingml/2006/main">
              <a:ext uri="{FF2B5EF4-FFF2-40B4-BE49-F238E27FC236}">
                <a16:creationId xmlns:a16="http://schemas.microsoft.com/office/drawing/2014/main" id="{8B7522BF-DE95-4633-AFF5-19B70C0D1673}"/>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09</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91d522b8ca244fb"/>
          <a:stretch xmlns:a="http://schemas.openxmlformats.org/drawingml/2006/main"/>
        </p:blipFill>
        <p:spPr>
          <a:xfrm xmlns:a="http://schemas.openxmlformats.org/drawingml/2006/main">
            <a:off x="688609" y="2476500"/>
            <a:ext cx="9138381" cy="5143500"/>
          </a:xfrm>
          <a:prstGeom xmlns:a="http://schemas.openxmlformats.org/drawingml/2006/main" prst="rect">
            <a:avLst/>
          </a:prstGeom>
        </p:spPr>
      </p:pic>
      <p:sp>
        <p:nvSpPr>
          <p:cNvPr id="8" name="text-198">
            <a:extLst xmlns:a="http://schemas.openxmlformats.org/drawingml/2006/main">
              <a:ext uri="{FF2B5EF4-FFF2-40B4-BE49-F238E27FC236}">
                <a16:creationId xmlns:a16="http://schemas.microsoft.com/office/drawing/2014/main" id="{479263C8-B367-48EF-9C95-1604853FDBBB}"/>
              </a:ext>
            </a:extLst>
          </p:cNvPr>
          <p:cNvSpPr>
            <a:spLocks xmlns:a="http://schemas.openxmlformats.org/drawingml/2006/main" noGrp="1"/>
          </p:cNvSpPr>
          <p:nvPr/>
        </p:nvSpPr>
        <p:spPr>
          <a:xfrm xmlns:a="http://schemas.openxmlformats.org/drawingml/2006/main">
            <a:off x="10858500" y="2686050"/>
            <a:ext cx="3695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3D43"/>
                </a:solidFill>
                <a:latin typeface="Aptos"/>
                <a:ea typeface="Aptos"/>
                <a:cs typeface="Aptos"/>
              </a:defRPr>
            </a:pPr>
            <a:r>
              <a:rPr sz="2550" b="1">
                <a:solidFill>
                  <a:srgbClr val="103D43"/>
                </a:solidFill>
                <a:latin typeface="Aptos"/>
                <a:ea typeface="Aptos"/>
                <a:cs typeface="Aptos"/>
              </a:rPr>
              <a:t>Scan &amp; serve</a:t>
            </a:r>
          </a:p>
        </p:txBody>
      </p:sp>
      <p:sp>
        <p:nvSpPr>
          <p:cNvPr id="9" name="text-199">
            <a:extLst xmlns:a="http://schemas.openxmlformats.org/drawingml/2006/main">
              <a:ext uri="{FF2B5EF4-FFF2-40B4-BE49-F238E27FC236}">
                <a16:creationId xmlns:a16="http://schemas.microsoft.com/office/drawing/2014/main" id="{621D769A-F678-48C7-A700-C7208CD8200C}"/>
              </a:ext>
            </a:extLst>
          </p:cNvPr>
          <p:cNvSpPr>
            <a:spLocks xmlns:a="http://schemas.openxmlformats.org/drawingml/2006/main" noGrp="1"/>
          </p:cNvSpPr>
          <p:nvPr/>
        </p:nvSpPr>
        <p:spPr>
          <a:xfrm xmlns:a="http://schemas.openxmlformats.org/drawingml/2006/main">
            <a:off x="10858500" y="3257550"/>
            <a:ext cx="36957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Find products, attach</a:t>
            </a:r>
          </a:p>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a customer, review price</a:t>
            </a:r>
          </a:p>
        </p:txBody>
      </p:sp>
      <p:sp>
        <p:nvSpPr>
          <p:cNvPr id="10" name="text-200">
            <a:extLst xmlns:a="http://schemas.openxmlformats.org/drawingml/2006/main">
              <a:ext uri="{FF2B5EF4-FFF2-40B4-BE49-F238E27FC236}">
                <a16:creationId xmlns:a16="http://schemas.microsoft.com/office/drawing/2014/main" id="{F484E43C-D116-4089-82EE-9F47B07B84C1}"/>
              </a:ext>
            </a:extLst>
          </p:cNvPr>
          <p:cNvSpPr>
            <a:spLocks xmlns:a="http://schemas.openxmlformats.org/drawingml/2006/main" noGrp="1"/>
          </p:cNvSpPr>
          <p:nvPr/>
        </p:nvSpPr>
        <p:spPr>
          <a:xfrm xmlns:a="http://schemas.openxmlformats.org/drawingml/2006/main">
            <a:off x="10858500" y="4524375"/>
            <a:ext cx="3695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3D43"/>
                </a:solidFill>
                <a:latin typeface="Aptos"/>
                <a:ea typeface="Aptos"/>
                <a:cs typeface="Aptos"/>
              </a:defRPr>
            </a:pPr>
            <a:r>
              <a:rPr sz="2550" b="1">
                <a:solidFill>
                  <a:srgbClr val="103D43"/>
                </a:solidFill>
                <a:latin typeface="Aptos"/>
                <a:ea typeface="Aptos"/>
                <a:cs typeface="Aptos"/>
              </a:rPr>
              <a:t>Confirm &amp; sell</a:t>
            </a:r>
          </a:p>
        </p:txBody>
      </p:sp>
      <p:sp>
        <p:nvSpPr>
          <p:cNvPr id="11" name="text-201">
            <a:extLst xmlns:a="http://schemas.openxmlformats.org/drawingml/2006/main">
              <a:ext uri="{FF2B5EF4-FFF2-40B4-BE49-F238E27FC236}">
                <a16:creationId xmlns:a16="http://schemas.microsoft.com/office/drawing/2014/main" id="{08EB84FC-000B-4396-A733-C40C9E28266E}"/>
              </a:ext>
            </a:extLst>
          </p:cNvPr>
          <p:cNvSpPr>
            <a:spLocks xmlns:a="http://schemas.openxmlformats.org/drawingml/2006/main" noGrp="1"/>
          </p:cNvSpPr>
          <p:nvPr/>
        </p:nvSpPr>
        <p:spPr>
          <a:xfrm xmlns:a="http://schemas.openxmlformats.org/drawingml/2006/main">
            <a:off x="10858500" y="5095875"/>
            <a:ext cx="36957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Record tender and</a:t>
            </a:r>
          </a:p>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issue a receipt</a:t>
            </a:r>
          </a:p>
        </p:txBody>
      </p:sp>
      <p:sp>
        <p:nvSpPr>
          <p:cNvPr id="12" name="text-202">
            <a:extLst xmlns:a="http://schemas.openxmlformats.org/drawingml/2006/main">
              <a:ext uri="{FF2B5EF4-FFF2-40B4-BE49-F238E27FC236}">
                <a16:creationId xmlns:a16="http://schemas.microsoft.com/office/drawing/2014/main" id="{5D7DB7E9-B722-430D-8C70-36D57A1AE73F}"/>
              </a:ext>
            </a:extLst>
          </p:cNvPr>
          <p:cNvSpPr>
            <a:spLocks xmlns:a="http://schemas.openxmlformats.org/drawingml/2006/main" noGrp="1"/>
          </p:cNvSpPr>
          <p:nvPr/>
        </p:nvSpPr>
        <p:spPr>
          <a:xfrm xmlns:a="http://schemas.openxmlformats.org/drawingml/2006/main">
            <a:off x="10858500" y="6267450"/>
            <a:ext cx="3695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3D43"/>
                </a:solidFill>
                <a:latin typeface="Aptos"/>
                <a:ea typeface="Aptos"/>
                <a:cs typeface="Aptos"/>
              </a:defRPr>
            </a:pPr>
            <a:r>
              <a:rPr sz="2550" b="1">
                <a:solidFill>
                  <a:srgbClr val="103D43"/>
                </a:solidFill>
                <a:latin typeface="Aptos"/>
                <a:ea typeface="Aptos"/>
                <a:cs typeface="Aptos"/>
              </a:rPr>
              <a:t>See the result</a:t>
            </a:r>
          </a:p>
        </p:txBody>
      </p:sp>
      <p:sp>
        <p:nvSpPr>
          <p:cNvPr id="13" name="text-203">
            <a:extLst xmlns:a="http://schemas.openxmlformats.org/drawingml/2006/main">
              <a:ext uri="{FF2B5EF4-FFF2-40B4-BE49-F238E27FC236}">
                <a16:creationId xmlns:a16="http://schemas.microsoft.com/office/drawing/2014/main" id="{4BB2AB1A-4210-4752-A694-6ACE869A6944}"/>
              </a:ext>
            </a:extLst>
          </p:cNvPr>
          <p:cNvSpPr>
            <a:spLocks xmlns:a="http://schemas.openxmlformats.org/drawingml/2006/main" noGrp="1"/>
          </p:cNvSpPr>
          <p:nvPr/>
        </p:nvSpPr>
        <p:spPr>
          <a:xfrm xmlns:a="http://schemas.openxmlformats.org/drawingml/2006/main">
            <a:off x="10858500" y="6838950"/>
            <a:ext cx="3695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Sale history and</a:t>
            </a:r>
          </a:p>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updated stock</a:t>
            </a:r>
          </a:p>
        </p:txBody>
      </p:sp>
    </p:spTree>
    <p:extLst>
      <p:ext uri="{BB962C8B-B14F-4D97-AF65-F5344CB8AC3E}">
        <p14:creationId xmlns:p14="http://schemas.microsoft.com/office/powerpoint/2010/main" val="655418758"/>
      </p:ext>
    </p:extLst>
  </p:cSld>
</p:sld>
</file>

<file path=ppt/slides/slide10.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33" name="text-204">
            <a:extLst xmlns:a="http://schemas.openxmlformats.org/drawingml/2006/main">
              <a:ext uri="{FF2B5EF4-FFF2-40B4-BE49-F238E27FC236}">
                <a16:creationId xmlns:a16="http://schemas.microsoft.com/office/drawing/2014/main" id="{65F588F1-FF50-4CCC-893D-1E4E24796A33}"/>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03 / RETURNS, EXCHANGES &amp; STORE CREDIT</a:t>
            </a:r>
          </a:p>
        </p:txBody>
      </p:sp>
      <p:sp>
        <p:nvSpPr>
          <p:cNvPr id="2" name="text-205">
            <a:extLst xmlns:a="http://schemas.openxmlformats.org/drawingml/2006/main">
              <a:ext uri="{FF2B5EF4-FFF2-40B4-BE49-F238E27FC236}">
                <a16:creationId xmlns:a16="http://schemas.microsoft.com/office/drawing/2014/main" id="{B277B95D-2C6B-4E2F-ACC2-9AC1F9B10078}"/>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Returns keep the original sale in view</a:t>
            </a:r>
          </a:p>
        </p:txBody>
      </p:sp>
      <p:sp>
        <p:nvSpPr>
          <p:cNvPr id="3" name="rule-206">
            <a:extLst xmlns:a="http://schemas.openxmlformats.org/drawingml/2006/main">
              <a:ext uri="{FF2B5EF4-FFF2-40B4-BE49-F238E27FC236}">
                <a16:creationId xmlns:a16="http://schemas.microsoft.com/office/drawing/2014/main" id="{70A5A6AE-B2B3-4E86-9298-1E548B4C8D2C}"/>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207">
            <a:extLst xmlns:a="http://schemas.openxmlformats.org/drawingml/2006/main">
              <a:ext uri="{FF2B5EF4-FFF2-40B4-BE49-F238E27FC236}">
                <a16:creationId xmlns:a16="http://schemas.microsoft.com/office/drawing/2014/main" id="{4D2B5EC8-9AE4-4D25-8A91-368516123CE2}"/>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208">
            <a:extLst xmlns:a="http://schemas.openxmlformats.org/drawingml/2006/main">
              <a:ext uri="{FF2B5EF4-FFF2-40B4-BE49-F238E27FC236}">
                <a16:creationId xmlns:a16="http://schemas.microsoft.com/office/drawing/2014/main" id="{91BFD5BA-3A1F-4D4B-A02C-6D3F92F9EC11}"/>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10</a:t>
            </a:r>
          </a:p>
        </p:txBody>
      </p:sp>
      <p:sp>
        <p:nvSpPr>
          <p:cNvPr id="6" name="edge-209">
            <a:extLst xmlns:a="http://schemas.openxmlformats.org/drawingml/2006/main">
              <a:ext uri="{FF2B5EF4-FFF2-40B4-BE49-F238E27FC236}">
                <a16:creationId xmlns:a16="http://schemas.microsoft.com/office/drawing/2014/main" id="{ED5E6A92-226C-4721-AAD9-5A06548198C1}"/>
              </a:ext>
            </a:extLst>
          </p:cNvPr>
          <p:cNvSpPr>
            <a:spLocks xmlns:a="http://schemas.openxmlformats.org/drawingml/2006/main" noGrp="1"/>
          </p:cNvSpPr>
          <p:nvPr/>
        </p:nvSpPr>
        <p:spPr>
          <a:xfrm xmlns:a="http://schemas.openxmlformats.org/drawingml/2006/main" flipH="0" flipV="0">
            <a:off x="3967163" y="3810000"/>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7" name="text-210">
            <a:extLst xmlns:a="http://schemas.openxmlformats.org/drawingml/2006/main">
              <a:ext uri="{FF2B5EF4-FFF2-40B4-BE49-F238E27FC236}">
                <a16:creationId xmlns:a16="http://schemas.microsoft.com/office/drawing/2014/main" id="{AA8E75CE-6E79-44BB-89D5-33C5845BAC6E}"/>
              </a:ext>
            </a:extLst>
          </p:cNvPr>
          <p:cNvSpPr>
            <a:spLocks xmlns:a="http://schemas.openxmlformats.org/drawingml/2006/main" noGrp="1"/>
          </p:cNvSpPr>
          <p:nvPr/>
        </p:nvSpPr>
        <p:spPr>
          <a:xfrm xmlns:a="http://schemas.openxmlformats.org/drawingml/2006/main">
            <a:off x="4014788" y="3600450"/>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8" name="edge-211">
            <a:extLst xmlns:a="http://schemas.openxmlformats.org/drawingml/2006/main">
              <a:ext uri="{FF2B5EF4-FFF2-40B4-BE49-F238E27FC236}">
                <a16:creationId xmlns:a16="http://schemas.microsoft.com/office/drawing/2014/main" id="{5ED9AF2B-FCF8-4D5C-ADE4-3CB6C9D5442F}"/>
              </a:ext>
            </a:extLst>
          </p:cNvPr>
          <p:cNvSpPr>
            <a:spLocks xmlns:a="http://schemas.openxmlformats.org/drawingml/2006/main" noGrp="1"/>
          </p:cNvSpPr>
          <p:nvPr/>
        </p:nvSpPr>
        <p:spPr>
          <a:xfrm xmlns:a="http://schemas.openxmlformats.org/drawingml/2006/main" flipH="0" flipV="0">
            <a:off x="7496175" y="3810000"/>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9" name="text-212">
            <a:extLst xmlns:a="http://schemas.openxmlformats.org/drawingml/2006/main">
              <a:ext uri="{FF2B5EF4-FFF2-40B4-BE49-F238E27FC236}">
                <a16:creationId xmlns:a16="http://schemas.microsoft.com/office/drawing/2014/main" id="{A3B82E73-EA4F-4719-9EE7-1CC3284AF54C}"/>
              </a:ext>
            </a:extLst>
          </p:cNvPr>
          <p:cNvSpPr>
            <a:spLocks xmlns:a="http://schemas.openxmlformats.org/drawingml/2006/main" noGrp="1"/>
          </p:cNvSpPr>
          <p:nvPr/>
        </p:nvSpPr>
        <p:spPr>
          <a:xfrm xmlns:a="http://schemas.openxmlformats.org/drawingml/2006/main">
            <a:off x="7543800" y="3600450"/>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0" name="edge-213">
            <a:extLst xmlns:a="http://schemas.openxmlformats.org/drawingml/2006/main">
              <a:ext uri="{FF2B5EF4-FFF2-40B4-BE49-F238E27FC236}">
                <a16:creationId xmlns:a16="http://schemas.microsoft.com/office/drawing/2014/main" id="{ED9873BC-0609-42BF-AA2F-76F5B134DCE6}"/>
              </a:ext>
            </a:extLst>
          </p:cNvPr>
          <p:cNvSpPr>
            <a:spLocks xmlns:a="http://schemas.openxmlformats.org/drawingml/2006/main" noGrp="1"/>
          </p:cNvSpPr>
          <p:nvPr/>
        </p:nvSpPr>
        <p:spPr>
          <a:xfrm xmlns:a="http://schemas.openxmlformats.org/drawingml/2006/main" flipH="0" flipV="0">
            <a:off x="11025188" y="3810000"/>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1" name="text-214">
            <a:extLst xmlns:a="http://schemas.openxmlformats.org/drawingml/2006/main">
              <a:ext uri="{FF2B5EF4-FFF2-40B4-BE49-F238E27FC236}">
                <a16:creationId xmlns:a16="http://schemas.microsoft.com/office/drawing/2014/main" id="{1133A34A-0243-4A5D-B4F3-2650E953D0BE}"/>
              </a:ext>
            </a:extLst>
          </p:cNvPr>
          <p:cNvSpPr>
            <a:spLocks xmlns:a="http://schemas.openxmlformats.org/drawingml/2006/main" noGrp="1"/>
          </p:cNvSpPr>
          <p:nvPr/>
        </p:nvSpPr>
        <p:spPr>
          <a:xfrm xmlns:a="http://schemas.openxmlformats.org/drawingml/2006/main">
            <a:off x="11072813" y="3600450"/>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2" name="surface-215">
            <a:extLst xmlns:a="http://schemas.openxmlformats.org/drawingml/2006/main">
              <a:ext uri="{FF2B5EF4-FFF2-40B4-BE49-F238E27FC236}">
                <a16:creationId xmlns:a16="http://schemas.microsoft.com/office/drawing/2014/main" id="{0C3EFF94-F071-4031-8485-34543A24B267}"/>
              </a:ext>
            </a:extLst>
          </p:cNvPr>
          <p:cNvSpPr>
            <a:spLocks xmlns:a="http://schemas.openxmlformats.org/drawingml/2006/main" noGrp="1"/>
          </p:cNvSpPr>
          <p:nvPr/>
        </p:nvSpPr>
        <p:spPr>
          <a:xfrm xmlns:a="http://schemas.openxmlformats.org/drawingml/2006/main">
            <a:off x="685800" y="2952750"/>
            <a:ext cx="3281363" cy="1714500"/>
          </a:xfrm>
          <a:prstGeom xmlns:a="http://schemas.openxmlformats.org/drawingml/2006/main" prst="rect">
            <a:avLst/>
          </a:prstGeom>
          <a:solidFill xmlns:a="http://schemas.openxmlformats.org/drawingml/2006/main">
            <a:srgbClr val="23716D"/>
          </a:solidFill>
          <a:ln xmlns:a="http://schemas.openxmlformats.org/drawingml/2006/main" w="0">
            <a:noFill/>
            <a:prstDash val="solid"/>
          </a:ln>
        </p:spPr>
      </p:sp>
      <p:sp>
        <p:nvSpPr>
          <p:cNvPr id="13" name="text-216">
            <a:extLst xmlns:a="http://schemas.openxmlformats.org/drawingml/2006/main">
              <a:ext uri="{FF2B5EF4-FFF2-40B4-BE49-F238E27FC236}">
                <a16:creationId xmlns:a16="http://schemas.microsoft.com/office/drawing/2014/main" id="{B8D782C5-296B-41BC-A55B-06C60A35604E}"/>
              </a:ext>
            </a:extLst>
          </p:cNvPr>
          <p:cNvSpPr>
            <a:spLocks xmlns:a="http://schemas.openxmlformats.org/drawingml/2006/main" noGrp="1"/>
          </p:cNvSpPr>
          <p:nvPr/>
        </p:nvSpPr>
        <p:spPr>
          <a:xfrm xmlns:a="http://schemas.openxmlformats.org/drawingml/2006/main">
            <a:off x="895350" y="312420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7F5EE"/>
                </a:solidFill>
                <a:latin typeface="Aptos"/>
                <a:ea typeface="Aptos"/>
                <a:cs typeface="Aptos"/>
              </a:defRPr>
            </a:pPr>
            <a:r>
              <a:rPr sz="2400" b="1">
                <a:solidFill>
                  <a:srgbClr val="F7F5EE"/>
                </a:solidFill>
                <a:latin typeface="Aptos"/>
                <a:ea typeface="Aptos"/>
                <a:cs typeface="Aptos"/>
              </a:rPr>
              <a:t>Find invoice</a:t>
            </a:r>
          </a:p>
        </p:txBody>
      </p:sp>
      <p:sp>
        <p:nvSpPr>
          <p:cNvPr id="14" name="text-217">
            <a:extLst xmlns:a="http://schemas.openxmlformats.org/drawingml/2006/main">
              <a:ext uri="{FF2B5EF4-FFF2-40B4-BE49-F238E27FC236}">
                <a16:creationId xmlns:a16="http://schemas.microsoft.com/office/drawing/2014/main" id="{B5A26AF1-6DAA-42D2-A063-4C44E8B50173}"/>
              </a:ext>
            </a:extLst>
          </p:cNvPr>
          <p:cNvSpPr>
            <a:spLocks xmlns:a="http://schemas.openxmlformats.org/drawingml/2006/main" noGrp="1"/>
          </p:cNvSpPr>
          <p:nvPr/>
        </p:nvSpPr>
        <p:spPr>
          <a:xfrm xmlns:a="http://schemas.openxmlformats.org/drawingml/2006/main">
            <a:off x="895350" y="3571875"/>
            <a:ext cx="2862263"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Select the original</a:t>
            </a:r>
          </a:p>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confirmed sale</a:t>
            </a:r>
          </a:p>
        </p:txBody>
      </p:sp>
      <p:sp>
        <p:nvSpPr>
          <p:cNvPr id="15" name="surface-218">
            <a:extLst xmlns:a="http://schemas.openxmlformats.org/drawingml/2006/main">
              <a:ext uri="{FF2B5EF4-FFF2-40B4-BE49-F238E27FC236}">
                <a16:creationId xmlns:a16="http://schemas.microsoft.com/office/drawing/2014/main" id="{AFEDC95C-E942-4246-B4CF-D6193E3E155D}"/>
              </a:ext>
            </a:extLst>
          </p:cNvPr>
          <p:cNvSpPr>
            <a:spLocks xmlns:a="http://schemas.openxmlformats.org/drawingml/2006/main" noGrp="1"/>
          </p:cNvSpPr>
          <p:nvPr/>
        </p:nvSpPr>
        <p:spPr>
          <a:xfrm xmlns:a="http://schemas.openxmlformats.org/drawingml/2006/main">
            <a:off x="4214813" y="2952750"/>
            <a:ext cx="3281363" cy="17145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16" name="text-219">
            <a:extLst xmlns:a="http://schemas.openxmlformats.org/drawingml/2006/main">
              <a:ext uri="{FF2B5EF4-FFF2-40B4-BE49-F238E27FC236}">
                <a16:creationId xmlns:a16="http://schemas.microsoft.com/office/drawing/2014/main" id="{D687FC49-C6DB-4582-BF9D-7EB83EF159AB}"/>
              </a:ext>
            </a:extLst>
          </p:cNvPr>
          <p:cNvSpPr>
            <a:spLocks xmlns:a="http://schemas.openxmlformats.org/drawingml/2006/main" noGrp="1"/>
          </p:cNvSpPr>
          <p:nvPr/>
        </p:nvSpPr>
        <p:spPr>
          <a:xfrm xmlns:a="http://schemas.openxmlformats.org/drawingml/2006/main">
            <a:off x="4424363" y="312420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Review return</a:t>
            </a:r>
          </a:p>
        </p:txBody>
      </p:sp>
      <p:sp>
        <p:nvSpPr>
          <p:cNvPr id="17" name="text-220">
            <a:extLst xmlns:a="http://schemas.openxmlformats.org/drawingml/2006/main">
              <a:ext uri="{FF2B5EF4-FFF2-40B4-BE49-F238E27FC236}">
                <a16:creationId xmlns:a16="http://schemas.microsoft.com/office/drawing/2014/main" id="{DCA0C1EC-0BAF-46C6-B731-D4E3F7131AA2}"/>
              </a:ext>
            </a:extLst>
          </p:cNvPr>
          <p:cNvSpPr>
            <a:spLocks xmlns:a="http://schemas.openxmlformats.org/drawingml/2006/main" noGrp="1"/>
          </p:cNvSpPr>
          <p:nvPr/>
        </p:nvSpPr>
        <p:spPr>
          <a:xfrm xmlns:a="http://schemas.openxmlformats.org/drawingml/2006/main">
            <a:off x="4424363" y="3571875"/>
            <a:ext cx="2862263"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Choose quantity</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restock decision</a:t>
            </a:r>
          </a:p>
        </p:txBody>
      </p:sp>
      <p:sp>
        <p:nvSpPr>
          <p:cNvPr id="18" name="surface-221">
            <a:extLst xmlns:a="http://schemas.openxmlformats.org/drawingml/2006/main">
              <a:ext uri="{FF2B5EF4-FFF2-40B4-BE49-F238E27FC236}">
                <a16:creationId xmlns:a16="http://schemas.microsoft.com/office/drawing/2014/main" id="{48E26008-2B51-4B99-A15A-858E990EA0FB}"/>
              </a:ext>
            </a:extLst>
          </p:cNvPr>
          <p:cNvSpPr>
            <a:spLocks xmlns:a="http://schemas.openxmlformats.org/drawingml/2006/main" noGrp="1"/>
          </p:cNvSpPr>
          <p:nvPr/>
        </p:nvSpPr>
        <p:spPr>
          <a:xfrm xmlns:a="http://schemas.openxmlformats.org/drawingml/2006/main">
            <a:off x="7743825" y="2952750"/>
            <a:ext cx="3281363" cy="17145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19" name="text-222">
            <a:extLst xmlns:a="http://schemas.openxmlformats.org/drawingml/2006/main">
              <a:ext uri="{FF2B5EF4-FFF2-40B4-BE49-F238E27FC236}">
                <a16:creationId xmlns:a16="http://schemas.microsoft.com/office/drawing/2014/main" id="{D416191E-0FAE-46C5-9585-72515D1DF297}"/>
              </a:ext>
            </a:extLst>
          </p:cNvPr>
          <p:cNvSpPr>
            <a:spLocks xmlns:a="http://schemas.openxmlformats.org/drawingml/2006/main" noGrp="1"/>
          </p:cNvSpPr>
          <p:nvPr/>
        </p:nvSpPr>
        <p:spPr>
          <a:xfrm xmlns:a="http://schemas.openxmlformats.org/drawingml/2006/main">
            <a:off x="7953375" y="312420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Issue credit</a:t>
            </a:r>
          </a:p>
        </p:txBody>
      </p:sp>
      <p:sp>
        <p:nvSpPr>
          <p:cNvPr id="20" name="text-223">
            <a:extLst xmlns:a="http://schemas.openxmlformats.org/drawingml/2006/main">
              <a:ext uri="{FF2B5EF4-FFF2-40B4-BE49-F238E27FC236}">
                <a16:creationId xmlns:a16="http://schemas.microsoft.com/office/drawing/2014/main" id="{0F1AF0F6-9975-490F-8A5F-91EF11DC8FFB}"/>
              </a:ext>
            </a:extLst>
          </p:cNvPr>
          <p:cNvSpPr>
            <a:spLocks xmlns:a="http://schemas.openxmlformats.org/drawingml/2006/main" noGrp="1"/>
          </p:cNvSpPr>
          <p:nvPr/>
        </p:nvSpPr>
        <p:spPr>
          <a:xfrm xmlns:a="http://schemas.openxmlformats.org/drawingml/2006/main">
            <a:off x="7953375" y="3571875"/>
            <a:ext cx="2862263"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Refund within limits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or create store credit</a:t>
            </a:r>
          </a:p>
        </p:txBody>
      </p:sp>
      <p:sp>
        <p:nvSpPr>
          <p:cNvPr id="21" name="surface-224">
            <a:extLst xmlns:a="http://schemas.openxmlformats.org/drawingml/2006/main">
              <a:ext uri="{FF2B5EF4-FFF2-40B4-BE49-F238E27FC236}">
                <a16:creationId xmlns:a16="http://schemas.microsoft.com/office/drawing/2014/main" id="{45E10F9B-241A-4CB4-BA82-4D5726ADF06F}"/>
              </a:ext>
            </a:extLst>
          </p:cNvPr>
          <p:cNvSpPr>
            <a:spLocks xmlns:a="http://schemas.openxmlformats.org/drawingml/2006/main" noGrp="1"/>
          </p:cNvSpPr>
          <p:nvPr/>
        </p:nvSpPr>
        <p:spPr>
          <a:xfrm xmlns:a="http://schemas.openxmlformats.org/drawingml/2006/main">
            <a:off x="11272838" y="2952750"/>
            <a:ext cx="3281363" cy="17145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22" name="text-225">
            <a:extLst xmlns:a="http://schemas.openxmlformats.org/drawingml/2006/main">
              <a:ext uri="{FF2B5EF4-FFF2-40B4-BE49-F238E27FC236}">
                <a16:creationId xmlns:a16="http://schemas.microsoft.com/office/drawing/2014/main" id="{9B8FC471-C3A7-4995-ABE3-AD16E88DE46D}"/>
              </a:ext>
            </a:extLst>
          </p:cNvPr>
          <p:cNvSpPr>
            <a:spLocks xmlns:a="http://schemas.openxmlformats.org/drawingml/2006/main" noGrp="1"/>
          </p:cNvSpPr>
          <p:nvPr/>
        </p:nvSpPr>
        <p:spPr>
          <a:xfrm xmlns:a="http://schemas.openxmlformats.org/drawingml/2006/main">
            <a:off x="11482388" y="312420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Keep history</a:t>
            </a:r>
          </a:p>
        </p:txBody>
      </p:sp>
      <p:sp>
        <p:nvSpPr>
          <p:cNvPr id="23" name="text-226">
            <a:extLst xmlns:a="http://schemas.openxmlformats.org/drawingml/2006/main">
              <a:ext uri="{FF2B5EF4-FFF2-40B4-BE49-F238E27FC236}">
                <a16:creationId xmlns:a16="http://schemas.microsoft.com/office/drawing/2014/main" id="{1D7AC891-C4D7-4D1C-9C18-91050897CC54}"/>
              </a:ext>
            </a:extLst>
          </p:cNvPr>
          <p:cNvSpPr>
            <a:spLocks xmlns:a="http://schemas.openxmlformats.org/drawingml/2006/main" noGrp="1"/>
          </p:cNvSpPr>
          <p:nvPr/>
        </p:nvSpPr>
        <p:spPr>
          <a:xfrm xmlns:a="http://schemas.openxmlformats.org/drawingml/2006/main">
            <a:off x="11482388" y="3571875"/>
            <a:ext cx="2862263"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Retain receipt, return</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credit movement</a:t>
            </a:r>
          </a:p>
        </p:txBody>
      </p:sp>
      <p:sp>
        <p:nvSpPr>
          <p:cNvPr id="24" name="rule-227">
            <a:extLst xmlns:a="http://schemas.openxmlformats.org/drawingml/2006/main">
              <a:ext uri="{FF2B5EF4-FFF2-40B4-BE49-F238E27FC236}">
                <a16:creationId xmlns:a16="http://schemas.microsoft.com/office/drawing/2014/main" id="{779D025F-2D59-48D4-98C4-708B2636306B}"/>
              </a:ext>
            </a:extLst>
          </p:cNvPr>
          <p:cNvSpPr>
            <a:spLocks xmlns:a="http://schemas.openxmlformats.org/drawingml/2006/main" noGrp="1"/>
          </p:cNvSpPr>
          <p:nvPr/>
        </p:nvSpPr>
        <p:spPr>
          <a:xfrm xmlns:a="http://schemas.openxmlformats.org/drawingml/2006/main">
            <a:off x="685800" y="5372100"/>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25" name="text-228">
            <a:extLst xmlns:a="http://schemas.openxmlformats.org/drawingml/2006/main">
              <a:ext uri="{FF2B5EF4-FFF2-40B4-BE49-F238E27FC236}">
                <a16:creationId xmlns:a16="http://schemas.microsoft.com/office/drawing/2014/main" id="{667920EF-DA8D-45AC-807F-30404863CCEE}"/>
              </a:ext>
            </a:extLst>
          </p:cNvPr>
          <p:cNvSpPr>
            <a:spLocks xmlns:a="http://schemas.openxmlformats.org/drawingml/2006/main" noGrp="1"/>
          </p:cNvSpPr>
          <p:nvPr/>
        </p:nvSpPr>
        <p:spPr>
          <a:xfrm xmlns:a="http://schemas.openxmlformats.org/drawingml/2006/main">
            <a:off x="685800" y="5600700"/>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Resellable</a:t>
            </a:r>
          </a:p>
        </p:txBody>
      </p:sp>
      <p:sp>
        <p:nvSpPr>
          <p:cNvPr id="26" name="text-229">
            <a:extLst xmlns:a="http://schemas.openxmlformats.org/drawingml/2006/main">
              <a:ext uri="{FF2B5EF4-FFF2-40B4-BE49-F238E27FC236}">
                <a16:creationId xmlns:a16="http://schemas.microsoft.com/office/drawing/2014/main" id="{361D3146-EC86-4CE7-9DB1-D8F2A443558A}"/>
              </a:ext>
            </a:extLst>
          </p:cNvPr>
          <p:cNvSpPr>
            <a:spLocks xmlns:a="http://schemas.openxmlformats.org/drawingml/2006/main" noGrp="1"/>
          </p:cNvSpPr>
          <p:nvPr/>
        </p:nvSpPr>
        <p:spPr>
          <a:xfrm xmlns:a="http://schemas.openxmlformats.org/drawingml/2006/main">
            <a:off x="685800" y="6600825"/>
            <a:ext cx="40386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Restock returned units</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when appropriate.</a:t>
            </a:r>
          </a:p>
        </p:txBody>
      </p:sp>
      <p:sp>
        <p:nvSpPr>
          <p:cNvPr id="27" name="rule-230">
            <a:extLst xmlns:a="http://schemas.openxmlformats.org/drawingml/2006/main">
              <a:ext uri="{FF2B5EF4-FFF2-40B4-BE49-F238E27FC236}">
                <a16:creationId xmlns:a16="http://schemas.microsoft.com/office/drawing/2014/main" id="{6963DC40-A947-4D5C-8D9D-5A00941DE532}"/>
              </a:ext>
            </a:extLst>
          </p:cNvPr>
          <p:cNvSpPr>
            <a:spLocks xmlns:a="http://schemas.openxmlformats.org/drawingml/2006/main" noGrp="1"/>
          </p:cNvSpPr>
          <p:nvPr/>
        </p:nvSpPr>
        <p:spPr>
          <a:xfrm xmlns:a="http://schemas.openxmlformats.org/drawingml/2006/main">
            <a:off x="5372100" y="5372100"/>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28" name="text-231">
            <a:extLst xmlns:a="http://schemas.openxmlformats.org/drawingml/2006/main">
              <a:ext uri="{FF2B5EF4-FFF2-40B4-BE49-F238E27FC236}">
                <a16:creationId xmlns:a16="http://schemas.microsoft.com/office/drawing/2014/main" id="{925B0A8B-9291-4F8F-85B4-8BC261F2428F}"/>
              </a:ext>
            </a:extLst>
          </p:cNvPr>
          <p:cNvSpPr>
            <a:spLocks xmlns:a="http://schemas.openxmlformats.org/drawingml/2006/main" noGrp="1"/>
          </p:cNvSpPr>
          <p:nvPr/>
        </p:nvSpPr>
        <p:spPr>
          <a:xfrm xmlns:a="http://schemas.openxmlformats.org/drawingml/2006/main">
            <a:off x="5372100" y="5600700"/>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Damaged</a:t>
            </a:r>
          </a:p>
        </p:txBody>
      </p:sp>
      <p:sp>
        <p:nvSpPr>
          <p:cNvPr id="29" name="text-232">
            <a:extLst xmlns:a="http://schemas.openxmlformats.org/drawingml/2006/main">
              <a:ext uri="{FF2B5EF4-FFF2-40B4-BE49-F238E27FC236}">
                <a16:creationId xmlns:a16="http://schemas.microsoft.com/office/drawing/2014/main" id="{BA70350A-5B0A-4752-ACF9-73A4CCACA509}"/>
              </a:ext>
            </a:extLst>
          </p:cNvPr>
          <p:cNvSpPr>
            <a:spLocks xmlns:a="http://schemas.openxmlformats.org/drawingml/2006/main" noGrp="1"/>
          </p:cNvSpPr>
          <p:nvPr/>
        </p:nvSpPr>
        <p:spPr>
          <a:xfrm xmlns:a="http://schemas.openxmlformats.org/drawingml/2006/main">
            <a:off x="5372100" y="6600825"/>
            <a:ext cx="40386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Keep non-resellable goods</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out of sellable stock.</a:t>
            </a:r>
          </a:p>
        </p:txBody>
      </p:sp>
      <p:sp>
        <p:nvSpPr>
          <p:cNvPr id="30" name="rule-233">
            <a:extLst xmlns:a="http://schemas.openxmlformats.org/drawingml/2006/main">
              <a:ext uri="{FF2B5EF4-FFF2-40B4-BE49-F238E27FC236}">
                <a16:creationId xmlns:a16="http://schemas.microsoft.com/office/drawing/2014/main" id="{F6D8AED1-A27D-416D-B871-CCA56FBD5680}"/>
              </a:ext>
            </a:extLst>
          </p:cNvPr>
          <p:cNvSpPr>
            <a:spLocks xmlns:a="http://schemas.openxmlformats.org/drawingml/2006/main" noGrp="1"/>
          </p:cNvSpPr>
          <p:nvPr/>
        </p:nvSpPr>
        <p:spPr>
          <a:xfrm xmlns:a="http://schemas.openxmlformats.org/drawingml/2006/main">
            <a:off x="10058400" y="5372100"/>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31" name="text-234">
            <a:extLst xmlns:a="http://schemas.openxmlformats.org/drawingml/2006/main">
              <a:ext uri="{FF2B5EF4-FFF2-40B4-BE49-F238E27FC236}">
                <a16:creationId xmlns:a16="http://schemas.microsoft.com/office/drawing/2014/main" id="{159663FA-4531-4D4B-B2E6-A08B1BBE6C7C}"/>
              </a:ext>
            </a:extLst>
          </p:cNvPr>
          <p:cNvSpPr>
            <a:spLocks xmlns:a="http://schemas.openxmlformats.org/drawingml/2006/main" noGrp="1"/>
          </p:cNvSpPr>
          <p:nvPr/>
        </p:nvSpPr>
        <p:spPr>
          <a:xfrm xmlns:a="http://schemas.openxmlformats.org/drawingml/2006/main">
            <a:off x="10058400" y="5600700"/>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Exchange</a:t>
            </a:r>
          </a:p>
        </p:txBody>
      </p:sp>
      <p:sp>
        <p:nvSpPr>
          <p:cNvPr id="32" name="text-235">
            <a:extLst xmlns:a="http://schemas.openxmlformats.org/drawingml/2006/main">
              <a:ext uri="{FF2B5EF4-FFF2-40B4-BE49-F238E27FC236}">
                <a16:creationId xmlns:a16="http://schemas.microsoft.com/office/drawing/2014/main" id="{13A0318B-AE35-4D8D-9985-A94DCF401BF5}"/>
              </a:ext>
            </a:extLst>
          </p:cNvPr>
          <p:cNvSpPr>
            <a:spLocks xmlns:a="http://schemas.openxmlformats.org/drawingml/2006/main" noGrp="1"/>
          </p:cNvSpPr>
          <p:nvPr/>
        </p:nvSpPr>
        <p:spPr>
          <a:xfrm xmlns:a="http://schemas.openxmlformats.org/drawingml/2006/main">
            <a:off x="10058400" y="6600825"/>
            <a:ext cx="403860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Return to customer credit,</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then create a new sale.</a:t>
            </a:r>
          </a:p>
        </p:txBody>
      </p:sp>
    </p:spTree>
    <p:extLst>
      <p:ext uri="{BB962C8B-B14F-4D97-AF65-F5344CB8AC3E}">
        <p14:creationId xmlns:p14="http://schemas.microsoft.com/office/powerpoint/2010/main" val="257570708"/>
      </p:ext>
    </p:extLst>
  </p:cSld>
</p:sld>
</file>

<file path=ppt/slides/slide1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8" name="text-236">
            <a:extLst xmlns:a="http://schemas.openxmlformats.org/drawingml/2006/main">
              <a:ext uri="{FF2B5EF4-FFF2-40B4-BE49-F238E27FC236}">
                <a16:creationId xmlns:a16="http://schemas.microsoft.com/office/drawing/2014/main" id="{3F373529-4F93-49E3-98C0-D6EA91C4D249}"/>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03 / SHIFTS &amp; RECONCILIATION</a:t>
            </a:r>
          </a:p>
        </p:txBody>
      </p:sp>
      <p:sp>
        <p:nvSpPr>
          <p:cNvPr id="2" name="text-237">
            <a:extLst xmlns:a="http://schemas.openxmlformats.org/drawingml/2006/main">
              <a:ext uri="{FF2B5EF4-FFF2-40B4-BE49-F238E27FC236}">
                <a16:creationId xmlns:a16="http://schemas.microsoft.com/office/drawing/2014/main" id="{264A203C-C659-47E0-8F32-D40E300B4608}"/>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Close the day with accountable cash control</a:t>
            </a:r>
          </a:p>
        </p:txBody>
      </p:sp>
      <p:sp>
        <p:nvSpPr>
          <p:cNvPr id="3" name="rule-238">
            <a:extLst xmlns:a="http://schemas.openxmlformats.org/drawingml/2006/main">
              <a:ext uri="{FF2B5EF4-FFF2-40B4-BE49-F238E27FC236}">
                <a16:creationId xmlns:a16="http://schemas.microsoft.com/office/drawing/2014/main" id="{4F93654B-2D42-4CA5-9075-6DE1C0998DE9}"/>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239">
            <a:extLst xmlns:a="http://schemas.openxmlformats.org/drawingml/2006/main">
              <a:ext uri="{FF2B5EF4-FFF2-40B4-BE49-F238E27FC236}">
                <a16:creationId xmlns:a16="http://schemas.microsoft.com/office/drawing/2014/main" id="{8D7558F3-E891-401A-BECC-7863B5A3A50D}"/>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240">
            <a:extLst xmlns:a="http://schemas.openxmlformats.org/drawingml/2006/main">
              <a:ext uri="{FF2B5EF4-FFF2-40B4-BE49-F238E27FC236}">
                <a16:creationId xmlns:a16="http://schemas.microsoft.com/office/drawing/2014/main" id="{3BA8B1E2-EF92-4D58-87B7-C6D20A5C05E7}"/>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11</a:t>
            </a:r>
          </a:p>
        </p:txBody>
      </p:sp>
      <p:sp>
        <p:nvSpPr>
          <p:cNvPr id="6" name="edge-241">
            <a:extLst xmlns:a="http://schemas.openxmlformats.org/drawingml/2006/main">
              <a:ext uri="{FF2B5EF4-FFF2-40B4-BE49-F238E27FC236}">
                <a16:creationId xmlns:a16="http://schemas.microsoft.com/office/drawing/2014/main" id="{6E97651D-A2F5-4918-A925-99232A3E2285}"/>
              </a:ext>
            </a:extLst>
          </p:cNvPr>
          <p:cNvSpPr>
            <a:spLocks xmlns:a="http://schemas.openxmlformats.org/drawingml/2006/main" noGrp="1"/>
          </p:cNvSpPr>
          <p:nvPr/>
        </p:nvSpPr>
        <p:spPr>
          <a:xfrm xmlns:a="http://schemas.openxmlformats.org/drawingml/2006/main" flipH="0" flipV="0">
            <a:off x="3967163" y="3829050"/>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7" name="text-242">
            <a:extLst xmlns:a="http://schemas.openxmlformats.org/drawingml/2006/main">
              <a:ext uri="{FF2B5EF4-FFF2-40B4-BE49-F238E27FC236}">
                <a16:creationId xmlns:a16="http://schemas.microsoft.com/office/drawing/2014/main" id="{3B3C5D37-C950-4FF1-B8EE-C57F508424C6}"/>
              </a:ext>
            </a:extLst>
          </p:cNvPr>
          <p:cNvSpPr>
            <a:spLocks xmlns:a="http://schemas.openxmlformats.org/drawingml/2006/main" noGrp="1"/>
          </p:cNvSpPr>
          <p:nvPr/>
        </p:nvSpPr>
        <p:spPr>
          <a:xfrm xmlns:a="http://schemas.openxmlformats.org/drawingml/2006/main">
            <a:off x="4014788" y="3619500"/>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8" name="edge-243">
            <a:extLst xmlns:a="http://schemas.openxmlformats.org/drawingml/2006/main">
              <a:ext uri="{FF2B5EF4-FFF2-40B4-BE49-F238E27FC236}">
                <a16:creationId xmlns:a16="http://schemas.microsoft.com/office/drawing/2014/main" id="{84C16C7A-6DD6-409A-9732-A9E1012D4055}"/>
              </a:ext>
            </a:extLst>
          </p:cNvPr>
          <p:cNvSpPr>
            <a:spLocks xmlns:a="http://schemas.openxmlformats.org/drawingml/2006/main" noGrp="1"/>
          </p:cNvSpPr>
          <p:nvPr/>
        </p:nvSpPr>
        <p:spPr>
          <a:xfrm xmlns:a="http://schemas.openxmlformats.org/drawingml/2006/main" flipH="0" flipV="0">
            <a:off x="7496175" y="3829050"/>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9" name="text-244">
            <a:extLst xmlns:a="http://schemas.openxmlformats.org/drawingml/2006/main">
              <a:ext uri="{FF2B5EF4-FFF2-40B4-BE49-F238E27FC236}">
                <a16:creationId xmlns:a16="http://schemas.microsoft.com/office/drawing/2014/main" id="{D3BD5687-F809-46C4-BD68-DF2C2BA08EA9}"/>
              </a:ext>
            </a:extLst>
          </p:cNvPr>
          <p:cNvSpPr>
            <a:spLocks xmlns:a="http://schemas.openxmlformats.org/drawingml/2006/main" noGrp="1"/>
          </p:cNvSpPr>
          <p:nvPr/>
        </p:nvSpPr>
        <p:spPr>
          <a:xfrm xmlns:a="http://schemas.openxmlformats.org/drawingml/2006/main">
            <a:off x="7543800" y="3619500"/>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0" name="edge-245">
            <a:extLst xmlns:a="http://schemas.openxmlformats.org/drawingml/2006/main">
              <a:ext uri="{FF2B5EF4-FFF2-40B4-BE49-F238E27FC236}">
                <a16:creationId xmlns:a16="http://schemas.microsoft.com/office/drawing/2014/main" id="{D0A1D5B5-6B86-4058-86B2-5DA649B80A9B}"/>
              </a:ext>
            </a:extLst>
          </p:cNvPr>
          <p:cNvSpPr>
            <a:spLocks xmlns:a="http://schemas.openxmlformats.org/drawingml/2006/main" noGrp="1"/>
          </p:cNvSpPr>
          <p:nvPr/>
        </p:nvSpPr>
        <p:spPr>
          <a:xfrm xmlns:a="http://schemas.openxmlformats.org/drawingml/2006/main" flipH="0" flipV="0">
            <a:off x="11025188" y="3829050"/>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1" name="text-246">
            <a:extLst xmlns:a="http://schemas.openxmlformats.org/drawingml/2006/main">
              <a:ext uri="{FF2B5EF4-FFF2-40B4-BE49-F238E27FC236}">
                <a16:creationId xmlns:a16="http://schemas.microsoft.com/office/drawing/2014/main" id="{513CD8EE-B55A-44C6-A4D6-A8415AC5356A}"/>
              </a:ext>
            </a:extLst>
          </p:cNvPr>
          <p:cNvSpPr>
            <a:spLocks xmlns:a="http://schemas.openxmlformats.org/drawingml/2006/main" noGrp="1"/>
          </p:cNvSpPr>
          <p:nvPr/>
        </p:nvSpPr>
        <p:spPr>
          <a:xfrm xmlns:a="http://schemas.openxmlformats.org/drawingml/2006/main">
            <a:off x="11072813" y="3619500"/>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2" name="surface-247">
            <a:extLst xmlns:a="http://schemas.openxmlformats.org/drawingml/2006/main">
              <a:ext uri="{FF2B5EF4-FFF2-40B4-BE49-F238E27FC236}">
                <a16:creationId xmlns:a16="http://schemas.microsoft.com/office/drawing/2014/main" id="{16B6DC33-1D0F-467A-88D7-9FD006CFBAEF}"/>
              </a:ext>
            </a:extLst>
          </p:cNvPr>
          <p:cNvSpPr>
            <a:spLocks xmlns:a="http://schemas.openxmlformats.org/drawingml/2006/main" noGrp="1"/>
          </p:cNvSpPr>
          <p:nvPr/>
        </p:nvSpPr>
        <p:spPr>
          <a:xfrm xmlns:a="http://schemas.openxmlformats.org/drawingml/2006/main">
            <a:off x="685800" y="2952750"/>
            <a:ext cx="3281363" cy="1752600"/>
          </a:xfrm>
          <a:prstGeom xmlns:a="http://schemas.openxmlformats.org/drawingml/2006/main" prst="rect">
            <a:avLst/>
          </a:prstGeom>
          <a:solidFill xmlns:a="http://schemas.openxmlformats.org/drawingml/2006/main">
            <a:srgbClr val="23716D"/>
          </a:solidFill>
          <a:ln xmlns:a="http://schemas.openxmlformats.org/drawingml/2006/main" w="0">
            <a:noFill/>
            <a:prstDash val="solid"/>
          </a:ln>
        </p:spPr>
      </p:sp>
      <p:sp>
        <p:nvSpPr>
          <p:cNvPr id="13" name="text-248">
            <a:extLst xmlns:a="http://schemas.openxmlformats.org/drawingml/2006/main">
              <a:ext uri="{FF2B5EF4-FFF2-40B4-BE49-F238E27FC236}">
                <a16:creationId xmlns:a16="http://schemas.microsoft.com/office/drawing/2014/main" id="{C81664DC-2B23-4079-85AE-656535795DD7}"/>
              </a:ext>
            </a:extLst>
          </p:cNvPr>
          <p:cNvSpPr>
            <a:spLocks xmlns:a="http://schemas.openxmlformats.org/drawingml/2006/main" noGrp="1"/>
          </p:cNvSpPr>
          <p:nvPr/>
        </p:nvSpPr>
        <p:spPr>
          <a:xfrm xmlns:a="http://schemas.openxmlformats.org/drawingml/2006/main">
            <a:off x="895350" y="312420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7F5EE"/>
                </a:solidFill>
                <a:latin typeface="Aptos"/>
                <a:ea typeface="Aptos"/>
                <a:cs typeface="Aptos"/>
              </a:defRPr>
            </a:pPr>
            <a:r>
              <a:rPr sz="2400" b="1">
                <a:solidFill>
                  <a:srgbClr val="F7F5EE"/>
                </a:solidFill>
                <a:latin typeface="Aptos"/>
                <a:ea typeface="Aptos"/>
                <a:cs typeface="Aptos"/>
              </a:rPr>
              <a:t>Open shift</a:t>
            </a:r>
          </a:p>
        </p:txBody>
      </p:sp>
      <p:sp>
        <p:nvSpPr>
          <p:cNvPr id="14" name="text-249">
            <a:extLst xmlns:a="http://schemas.openxmlformats.org/drawingml/2006/main">
              <a:ext uri="{FF2B5EF4-FFF2-40B4-BE49-F238E27FC236}">
                <a16:creationId xmlns:a16="http://schemas.microsoft.com/office/drawing/2014/main" id="{B739C1EB-1BDA-420B-89DF-A2CE80F9479A}"/>
              </a:ext>
            </a:extLst>
          </p:cNvPr>
          <p:cNvSpPr>
            <a:spLocks xmlns:a="http://schemas.openxmlformats.org/drawingml/2006/main" noGrp="1"/>
          </p:cNvSpPr>
          <p:nvPr/>
        </p:nvSpPr>
        <p:spPr>
          <a:xfrm xmlns:a="http://schemas.openxmlformats.org/drawingml/2006/main">
            <a:off x="895350" y="3571875"/>
            <a:ext cx="2862263"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Cashier, register</a:t>
            </a:r>
          </a:p>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and opening float</a:t>
            </a:r>
          </a:p>
        </p:txBody>
      </p:sp>
      <p:sp>
        <p:nvSpPr>
          <p:cNvPr id="15" name="surface-250">
            <a:extLst xmlns:a="http://schemas.openxmlformats.org/drawingml/2006/main">
              <a:ext uri="{FF2B5EF4-FFF2-40B4-BE49-F238E27FC236}">
                <a16:creationId xmlns:a16="http://schemas.microsoft.com/office/drawing/2014/main" id="{F4A8BD7E-AD2E-47A7-B6A9-6D78A9384D2B}"/>
              </a:ext>
            </a:extLst>
          </p:cNvPr>
          <p:cNvSpPr>
            <a:spLocks xmlns:a="http://schemas.openxmlformats.org/drawingml/2006/main" noGrp="1"/>
          </p:cNvSpPr>
          <p:nvPr/>
        </p:nvSpPr>
        <p:spPr>
          <a:xfrm xmlns:a="http://schemas.openxmlformats.org/drawingml/2006/main">
            <a:off x="4214813" y="2952750"/>
            <a:ext cx="3281363" cy="17526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16" name="text-251">
            <a:extLst xmlns:a="http://schemas.openxmlformats.org/drawingml/2006/main">
              <a:ext uri="{FF2B5EF4-FFF2-40B4-BE49-F238E27FC236}">
                <a16:creationId xmlns:a16="http://schemas.microsoft.com/office/drawing/2014/main" id="{700AF621-4FD5-432C-8FD0-52825BE03C40}"/>
              </a:ext>
            </a:extLst>
          </p:cNvPr>
          <p:cNvSpPr>
            <a:spLocks xmlns:a="http://schemas.openxmlformats.org/drawingml/2006/main" noGrp="1"/>
          </p:cNvSpPr>
          <p:nvPr/>
        </p:nvSpPr>
        <p:spPr>
          <a:xfrm xmlns:a="http://schemas.openxmlformats.org/drawingml/2006/main">
            <a:off x="4424363" y="312420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Record activity</a:t>
            </a:r>
          </a:p>
        </p:txBody>
      </p:sp>
      <p:sp>
        <p:nvSpPr>
          <p:cNvPr id="17" name="text-252">
            <a:extLst xmlns:a="http://schemas.openxmlformats.org/drawingml/2006/main">
              <a:ext uri="{FF2B5EF4-FFF2-40B4-BE49-F238E27FC236}">
                <a16:creationId xmlns:a16="http://schemas.microsoft.com/office/drawing/2014/main" id="{541B2028-CEBE-4DFE-8A6F-D48B3D8AA991}"/>
              </a:ext>
            </a:extLst>
          </p:cNvPr>
          <p:cNvSpPr>
            <a:spLocks xmlns:a="http://schemas.openxmlformats.org/drawingml/2006/main" noGrp="1"/>
          </p:cNvSpPr>
          <p:nvPr/>
        </p:nvSpPr>
        <p:spPr>
          <a:xfrm xmlns:a="http://schemas.openxmlformats.org/drawingml/2006/main">
            <a:off x="4424363" y="3571875"/>
            <a:ext cx="2862263"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Cash sales, refunds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cash movements</a:t>
            </a:r>
          </a:p>
        </p:txBody>
      </p:sp>
      <p:sp>
        <p:nvSpPr>
          <p:cNvPr id="18" name="surface-253">
            <a:extLst xmlns:a="http://schemas.openxmlformats.org/drawingml/2006/main">
              <a:ext uri="{FF2B5EF4-FFF2-40B4-BE49-F238E27FC236}">
                <a16:creationId xmlns:a16="http://schemas.microsoft.com/office/drawing/2014/main" id="{F3F726E4-977A-401C-97B8-96708B63D79A}"/>
              </a:ext>
            </a:extLst>
          </p:cNvPr>
          <p:cNvSpPr>
            <a:spLocks xmlns:a="http://schemas.openxmlformats.org/drawingml/2006/main" noGrp="1"/>
          </p:cNvSpPr>
          <p:nvPr/>
        </p:nvSpPr>
        <p:spPr>
          <a:xfrm xmlns:a="http://schemas.openxmlformats.org/drawingml/2006/main">
            <a:off x="7743825" y="2952750"/>
            <a:ext cx="3281363" cy="17526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19" name="text-254">
            <a:extLst xmlns:a="http://schemas.openxmlformats.org/drawingml/2006/main">
              <a:ext uri="{FF2B5EF4-FFF2-40B4-BE49-F238E27FC236}">
                <a16:creationId xmlns:a16="http://schemas.microsoft.com/office/drawing/2014/main" id="{E6FD376B-57FF-4F17-86ED-8EF87C344712}"/>
              </a:ext>
            </a:extLst>
          </p:cNvPr>
          <p:cNvSpPr>
            <a:spLocks xmlns:a="http://schemas.openxmlformats.org/drawingml/2006/main" noGrp="1"/>
          </p:cNvSpPr>
          <p:nvPr/>
        </p:nvSpPr>
        <p:spPr>
          <a:xfrm xmlns:a="http://schemas.openxmlformats.org/drawingml/2006/main">
            <a:off x="7953375" y="312420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Count &amp; close</a:t>
            </a:r>
          </a:p>
        </p:txBody>
      </p:sp>
      <p:sp>
        <p:nvSpPr>
          <p:cNvPr id="20" name="text-255">
            <a:extLst xmlns:a="http://schemas.openxmlformats.org/drawingml/2006/main">
              <a:ext uri="{FF2B5EF4-FFF2-40B4-BE49-F238E27FC236}">
                <a16:creationId xmlns:a16="http://schemas.microsoft.com/office/drawing/2014/main" id="{32C2A6BF-BBD8-44B5-BDE6-0E38712C0C5F}"/>
              </a:ext>
            </a:extLst>
          </p:cNvPr>
          <p:cNvSpPr>
            <a:spLocks xmlns:a="http://schemas.openxmlformats.org/drawingml/2006/main" noGrp="1"/>
          </p:cNvSpPr>
          <p:nvPr/>
        </p:nvSpPr>
        <p:spPr>
          <a:xfrm xmlns:a="http://schemas.openxmlformats.org/drawingml/2006/main">
            <a:off x="7953375" y="3571875"/>
            <a:ext cx="2862263"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Physical cash count</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with variance reason</a:t>
            </a:r>
          </a:p>
        </p:txBody>
      </p:sp>
      <p:sp>
        <p:nvSpPr>
          <p:cNvPr id="21" name="surface-256">
            <a:extLst xmlns:a="http://schemas.openxmlformats.org/drawingml/2006/main">
              <a:ext uri="{FF2B5EF4-FFF2-40B4-BE49-F238E27FC236}">
                <a16:creationId xmlns:a16="http://schemas.microsoft.com/office/drawing/2014/main" id="{890D93A8-C54E-4C4E-B2F1-9B45D878C1EC}"/>
              </a:ext>
            </a:extLst>
          </p:cNvPr>
          <p:cNvSpPr>
            <a:spLocks xmlns:a="http://schemas.openxmlformats.org/drawingml/2006/main" noGrp="1"/>
          </p:cNvSpPr>
          <p:nvPr/>
        </p:nvSpPr>
        <p:spPr>
          <a:xfrm xmlns:a="http://schemas.openxmlformats.org/drawingml/2006/main">
            <a:off x="11272838" y="2952750"/>
            <a:ext cx="3281363" cy="17526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22" name="text-257">
            <a:extLst xmlns:a="http://schemas.openxmlformats.org/drawingml/2006/main">
              <a:ext uri="{FF2B5EF4-FFF2-40B4-BE49-F238E27FC236}">
                <a16:creationId xmlns:a16="http://schemas.microsoft.com/office/drawing/2014/main" id="{90711FDE-6DF7-4414-8BCB-94FCC8A735B2}"/>
              </a:ext>
            </a:extLst>
          </p:cNvPr>
          <p:cNvSpPr>
            <a:spLocks xmlns:a="http://schemas.openxmlformats.org/drawingml/2006/main" noGrp="1"/>
          </p:cNvSpPr>
          <p:nvPr/>
        </p:nvSpPr>
        <p:spPr>
          <a:xfrm xmlns:a="http://schemas.openxmlformats.org/drawingml/2006/main">
            <a:off x="11482388" y="3124200"/>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Review</a:t>
            </a:r>
          </a:p>
        </p:txBody>
      </p:sp>
      <p:sp>
        <p:nvSpPr>
          <p:cNvPr id="23" name="text-258">
            <a:extLst xmlns:a="http://schemas.openxmlformats.org/drawingml/2006/main">
              <a:ext uri="{FF2B5EF4-FFF2-40B4-BE49-F238E27FC236}">
                <a16:creationId xmlns:a16="http://schemas.microsoft.com/office/drawing/2014/main" id="{14ED1F57-88EC-4965-AFA0-CB06BC7B1743}"/>
              </a:ext>
            </a:extLst>
          </p:cNvPr>
          <p:cNvSpPr>
            <a:spLocks xmlns:a="http://schemas.openxmlformats.org/drawingml/2006/main" noGrp="1"/>
          </p:cNvSpPr>
          <p:nvPr/>
        </p:nvSpPr>
        <p:spPr>
          <a:xfrm xmlns:a="http://schemas.openxmlformats.org/drawingml/2006/main">
            <a:off x="11482388" y="3571875"/>
            <a:ext cx="2862263"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Frozen closing record</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manager export</a:t>
            </a:r>
          </a:p>
        </p:txBody>
      </p:sp>
      <p:sp>
        <p:nvSpPr>
          <p:cNvPr id="24" name="text-259">
            <a:extLst xmlns:a="http://schemas.openxmlformats.org/drawingml/2006/main">
              <a:ext uri="{FF2B5EF4-FFF2-40B4-BE49-F238E27FC236}">
                <a16:creationId xmlns:a16="http://schemas.microsoft.com/office/drawing/2014/main" id="{4373BE01-DBE8-4B1E-ABE5-1EFBB3FBEFB6}"/>
              </a:ext>
            </a:extLst>
          </p:cNvPr>
          <p:cNvSpPr>
            <a:spLocks xmlns:a="http://schemas.openxmlformats.org/drawingml/2006/main" noGrp="1"/>
          </p:cNvSpPr>
          <p:nvPr/>
        </p:nvSpPr>
        <p:spPr>
          <a:xfrm xmlns:a="http://schemas.openxmlformats.org/drawingml/2006/main">
            <a:off x="685800" y="5476875"/>
            <a:ext cx="647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03D43"/>
                </a:solidFill>
                <a:latin typeface="Aptos"/>
                <a:ea typeface="Aptos"/>
                <a:cs typeface="Aptos"/>
              </a:defRPr>
            </a:pPr>
            <a:r>
              <a:rPr sz="2925" b="1">
                <a:solidFill>
                  <a:srgbClr val="103D43"/>
                </a:solidFill>
                <a:latin typeface="Aptos"/>
                <a:ea typeface="Aptos"/>
                <a:cs typeface="Aptos"/>
              </a:rPr>
              <a:t>Expected cash</a:t>
            </a:r>
          </a:p>
        </p:txBody>
      </p:sp>
      <p:sp>
        <p:nvSpPr>
          <p:cNvPr id="25" name="text-260">
            <a:extLst xmlns:a="http://schemas.openxmlformats.org/drawingml/2006/main">
              <a:ext uri="{FF2B5EF4-FFF2-40B4-BE49-F238E27FC236}">
                <a16:creationId xmlns:a16="http://schemas.microsoft.com/office/drawing/2014/main" id="{B7FB94E7-1149-4846-AF37-1E2AE2EF3F74}"/>
              </a:ext>
            </a:extLst>
          </p:cNvPr>
          <p:cNvSpPr>
            <a:spLocks xmlns:a="http://schemas.openxmlformats.org/drawingml/2006/main" noGrp="1"/>
          </p:cNvSpPr>
          <p:nvPr/>
        </p:nvSpPr>
        <p:spPr>
          <a:xfrm xmlns:a="http://schemas.openxmlformats.org/drawingml/2006/main">
            <a:off x="685800" y="6124575"/>
            <a:ext cx="828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3716D"/>
                </a:solidFill>
                <a:latin typeface="Aptos"/>
                <a:ea typeface="Aptos"/>
                <a:cs typeface="Aptos"/>
              </a:defRPr>
            </a:pPr>
            <a:r>
              <a:rPr sz="2775" b="1">
                <a:solidFill>
                  <a:srgbClr val="23716D"/>
                </a:solidFill>
                <a:latin typeface="Aptos"/>
                <a:ea typeface="Aptos"/>
                <a:cs typeface="Aptos"/>
              </a:rPr>
              <a:t>Opening float + net cash activity</a:t>
            </a:r>
          </a:p>
        </p:txBody>
      </p:sp>
      <p:sp>
        <p:nvSpPr>
          <p:cNvPr id="26" name="text-261">
            <a:extLst xmlns:a="http://schemas.openxmlformats.org/drawingml/2006/main">
              <a:ext uri="{FF2B5EF4-FFF2-40B4-BE49-F238E27FC236}">
                <a16:creationId xmlns:a16="http://schemas.microsoft.com/office/drawing/2014/main" id="{B53A5EB2-DE81-4893-ACEF-3A2ABC6BF2B4}"/>
              </a:ext>
            </a:extLst>
          </p:cNvPr>
          <p:cNvSpPr>
            <a:spLocks xmlns:a="http://schemas.openxmlformats.org/drawingml/2006/main" noGrp="1"/>
          </p:cNvSpPr>
          <p:nvPr/>
        </p:nvSpPr>
        <p:spPr>
          <a:xfrm xmlns:a="http://schemas.openxmlformats.org/drawingml/2006/main">
            <a:off x="10191750" y="5476875"/>
            <a:ext cx="436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03D43"/>
                </a:solidFill>
                <a:latin typeface="Aptos"/>
                <a:ea typeface="Aptos"/>
                <a:cs typeface="Aptos"/>
              </a:defRPr>
            </a:pPr>
            <a:r>
              <a:rPr sz="2925" b="1">
                <a:solidFill>
                  <a:srgbClr val="103D43"/>
                </a:solidFill>
                <a:latin typeface="Aptos"/>
                <a:ea typeface="Aptos"/>
                <a:cs typeface="Aptos"/>
              </a:rPr>
              <a:t>Variance</a:t>
            </a:r>
          </a:p>
        </p:txBody>
      </p:sp>
      <p:sp>
        <p:nvSpPr>
          <p:cNvPr id="27" name="text-262">
            <a:extLst xmlns:a="http://schemas.openxmlformats.org/drawingml/2006/main">
              <a:ext uri="{FF2B5EF4-FFF2-40B4-BE49-F238E27FC236}">
                <a16:creationId xmlns:a16="http://schemas.microsoft.com/office/drawing/2014/main" id="{FDFFC61B-362A-4420-BE67-BC1331F9CB9A}"/>
              </a:ext>
            </a:extLst>
          </p:cNvPr>
          <p:cNvSpPr>
            <a:spLocks xmlns:a="http://schemas.openxmlformats.org/drawingml/2006/main" noGrp="1"/>
          </p:cNvSpPr>
          <p:nvPr/>
        </p:nvSpPr>
        <p:spPr>
          <a:xfrm xmlns:a="http://schemas.openxmlformats.org/drawingml/2006/main">
            <a:off x="10191750" y="6124575"/>
            <a:ext cx="43624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3716D"/>
                </a:solidFill>
                <a:latin typeface="Aptos"/>
                <a:ea typeface="Aptos"/>
                <a:cs typeface="Aptos"/>
              </a:defRPr>
            </a:pPr>
            <a:r>
              <a:rPr sz="2475" b="1">
                <a:solidFill>
                  <a:srgbClr val="23716D"/>
                </a:solidFill>
                <a:latin typeface="Aptos"/>
                <a:ea typeface="Aptos"/>
                <a:cs typeface="Aptos"/>
              </a:rPr>
              <a:t>Counted − expected</a:t>
            </a:r>
          </a:p>
        </p:txBody>
      </p:sp>
    </p:spTree>
    <p:extLst>
      <p:ext uri="{BB962C8B-B14F-4D97-AF65-F5344CB8AC3E}">
        <p14:creationId xmlns:p14="http://schemas.microsoft.com/office/powerpoint/2010/main" val="860761909"/>
      </p:ext>
    </p:extLst>
  </p:cSld>
</p:sld>
</file>

<file path=ppt/slides/slide1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8" name="text-263">
            <a:extLst xmlns:a="http://schemas.openxmlformats.org/drawingml/2006/main">
              <a:ext uri="{FF2B5EF4-FFF2-40B4-BE49-F238E27FC236}">
                <a16:creationId xmlns:a16="http://schemas.microsoft.com/office/drawing/2014/main" id="{235532B8-1327-4CE2-87C9-BC0F47B9E61D}"/>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04 + 05 / PROPOSED NEXT CAPABILITIES</a:t>
            </a:r>
          </a:p>
        </p:txBody>
      </p:sp>
      <p:sp>
        <p:nvSpPr>
          <p:cNvPr id="2" name="text-264">
            <a:extLst xmlns:a="http://schemas.openxmlformats.org/drawingml/2006/main">
              <a:ext uri="{FF2B5EF4-FFF2-40B4-BE49-F238E27FC236}">
                <a16:creationId xmlns:a16="http://schemas.microsoft.com/office/drawing/2014/main" id="{8245E6B4-4E17-45A5-BB3B-7276D27D2494}"/>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Connect replenishment and reseller sales</a:t>
            </a:r>
          </a:p>
        </p:txBody>
      </p:sp>
      <p:sp>
        <p:nvSpPr>
          <p:cNvPr id="3" name="rule-265">
            <a:extLst xmlns:a="http://schemas.openxmlformats.org/drawingml/2006/main">
              <a:ext uri="{FF2B5EF4-FFF2-40B4-BE49-F238E27FC236}">
                <a16:creationId xmlns:a16="http://schemas.microsoft.com/office/drawing/2014/main" id="{94477398-69BF-4146-A534-9D85CACEAA25}"/>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266">
            <a:extLst xmlns:a="http://schemas.openxmlformats.org/drawingml/2006/main">
              <a:ext uri="{FF2B5EF4-FFF2-40B4-BE49-F238E27FC236}">
                <a16:creationId xmlns:a16="http://schemas.microsoft.com/office/drawing/2014/main" id="{1847898D-F952-48DB-A945-07B80A966C13}"/>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267">
            <a:extLst xmlns:a="http://schemas.openxmlformats.org/drawingml/2006/main">
              <a:ext uri="{FF2B5EF4-FFF2-40B4-BE49-F238E27FC236}">
                <a16:creationId xmlns:a16="http://schemas.microsoft.com/office/drawing/2014/main" id="{BC01F2A9-D587-4647-9378-E6EEA16F1937}"/>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12</a:t>
            </a:r>
          </a:p>
        </p:txBody>
      </p:sp>
      <p:sp>
        <p:nvSpPr>
          <p:cNvPr id="6" name="text-268">
            <a:extLst xmlns:a="http://schemas.openxmlformats.org/drawingml/2006/main">
              <a:ext uri="{FF2B5EF4-FFF2-40B4-BE49-F238E27FC236}">
                <a16:creationId xmlns:a16="http://schemas.microsoft.com/office/drawing/2014/main" id="{0CD8FFBC-23B9-4A0E-9656-1C50CE8A4A36}"/>
              </a:ext>
            </a:extLst>
          </p:cNvPr>
          <p:cNvSpPr>
            <a:spLocks xmlns:a="http://schemas.openxmlformats.org/drawingml/2006/main" noGrp="1"/>
          </p:cNvSpPr>
          <p:nvPr/>
        </p:nvSpPr>
        <p:spPr>
          <a:xfrm xmlns:a="http://schemas.openxmlformats.org/drawingml/2006/main">
            <a:off x="685800" y="2476500"/>
            <a:ext cx="647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3716D"/>
                </a:solidFill>
                <a:latin typeface="Aptos"/>
                <a:ea typeface="Aptos"/>
                <a:cs typeface="Aptos"/>
              </a:defRPr>
            </a:pPr>
            <a:r>
              <a:rPr sz="2250" b="1">
                <a:solidFill>
                  <a:srgbClr val="23716D"/>
                </a:solidFill>
                <a:latin typeface="Aptos"/>
                <a:ea typeface="Aptos"/>
                <a:cs typeface="Aptos"/>
              </a:rPr>
              <a:t>PURCHASING &amp; VENDORS</a:t>
            </a:r>
          </a:p>
        </p:txBody>
      </p:sp>
      <p:sp>
        <p:nvSpPr>
          <p:cNvPr id="7" name="text-269">
            <a:extLst xmlns:a="http://schemas.openxmlformats.org/drawingml/2006/main">
              <a:ext uri="{FF2B5EF4-FFF2-40B4-BE49-F238E27FC236}">
                <a16:creationId xmlns:a16="http://schemas.microsoft.com/office/drawing/2014/main" id="{ADE4586B-4876-4E2D-9DA0-21CAB94DBF08}"/>
              </a:ext>
            </a:extLst>
          </p:cNvPr>
          <p:cNvSpPr>
            <a:spLocks xmlns:a="http://schemas.openxmlformats.org/drawingml/2006/main" noGrp="1"/>
          </p:cNvSpPr>
          <p:nvPr/>
        </p:nvSpPr>
        <p:spPr>
          <a:xfrm xmlns:a="http://schemas.openxmlformats.org/drawingml/2006/main">
            <a:off x="8286750" y="2476500"/>
            <a:ext cx="6267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B28B4E"/>
                </a:solidFill>
                <a:latin typeface="Aptos"/>
                <a:ea typeface="Aptos"/>
                <a:cs typeface="Aptos"/>
              </a:defRPr>
            </a:pPr>
            <a:r>
              <a:rPr sz="2250" b="1">
                <a:solidFill>
                  <a:srgbClr val="B28B4E"/>
                </a:solidFill>
                <a:latin typeface="Aptos"/>
                <a:ea typeface="Aptos"/>
                <a:cs typeface="Aptos"/>
              </a:rPr>
              <a:t>WHOLESALE &amp; B2B PORTAL</a:t>
            </a:r>
          </a:p>
        </p:txBody>
      </p:sp>
      <p:sp>
        <p:nvSpPr>
          <p:cNvPr id="8" name="edge-270">
            <a:extLst xmlns:a="http://schemas.openxmlformats.org/drawingml/2006/main">
              <a:ext uri="{FF2B5EF4-FFF2-40B4-BE49-F238E27FC236}">
                <a16:creationId xmlns:a16="http://schemas.microsoft.com/office/drawing/2014/main" id="{AF61B056-44F2-40A3-B4AE-04D4513EAD3C}"/>
              </a:ext>
            </a:extLst>
          </p:cNvPr>
          <p:cNvSpPr>
            <a:spLocks xmlns:a="http://schemas.openxmlformats.org/drawingml/2006/main" noGrp="1"/>
          </p:cNvSpPr>
          <p:nvPr/>
        </p:nvSpPr>
        <p:spPr>
          <a:xfrm xmlns:a="http://schemas.openxmlformats.org/drawingml/2006/main" flipH="0" flipV="0">
            <a:off x="3810000" y="4119563"/>
            <a:ext cx="228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9" name="text-271">
            <a:extLst xmlns:a="http://schemas.openxmlformats.org/drawingml/2006/main">
              <a:ext uri="{FF2B5EF4-FFF2-40B4-BE49-F238E27FC236}">
                <a16:creationId xmlns:a16="http://schemas.microsoft.com/office/drawing/2014/main" id="{E21AC2D2-982E-4327-B206-3F2A429232FF}"/>
              </a:ext>
            </a:extLst>
          </p:cNvPr>
          <p:cNvSpPr>
            <a:spLocks xmlns:a="http://schemas.openxmlformats.org/drawingml/2006/main" noGrp="1"/>
          </p:cNvSpPr>
          <p:nvPr/>
        </p:nvSpPr>
        <p:spPr>
          <a:xfrm xmlns:a="http://schemas.openxmlformats.org/drawingml/2006/main">
            <a:off x="3857625" y="3910013"/>
            <a:ext cx="19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0" name="surface-272">
            <a:extLst xmlns:a="http://schemas.openxmlformats.org/drawingml/2006/main">
              <a:ext uri="{FF2B5EF4-FFF2-40B4-BE49-F238E27FC236}">
                <a16:creationId xmlns:a16="http://schemas.microsoft.com/office/drawing/2014/main" id="{355F74DD-4B02-4551-8930-8BCAEC41CA38}"/>
              </a:ext>
            </a:extLst>
          </p:cNvPr>
          <p:cNvSpPr>
            <a:spLocks xmlns:a="http://schemas.openxmlformats.org/drawingml/2006/main" noGrp="1"/>
          </p:cNvSpPr>
          <p:nvPr/>
        </p:nvSpPr>
        <p:spPr>
          <a:xfrm xmlns:a="http://schemas.openxmlformats.org/drawingml/2006/main">
            <a:off x="685800" y="3381375"/>
            <a:ext cx="3124200" cy="1476375"/>
          </a:xfrm>
          <a:prstGeom xmlns:a="http://schemas.openxmlformats.org/drawingml/2006/main" prst="rect">
            <a:avLst/>
          </a:prstGeom>
          <a:solidFill xmlns:a="http://schemas.openxmlformats.org/drawingml/2006/main">
            <a:srgbClr val="23716D"/>
          </a:solidFill>
          <a:ln xmlns:a="http://schemas.openxmlformats.org/drawingml/2006/main" w="0">
            <a:noFill/>
            <a:prstDash val="solid"/>
          </a:ln>
        </p:spPr>
      </p:sp>
      <p:sp>
        <p:nvSpPr>
          <p:cNvPr id="11" name="text-273">
            <a:extLst xmlns:a="http://schemas.openxmlformats.org/drawingml/2006/main">
              <a:ext uri="{FF2B5EF4-FFF2-40B4-BE49-F238E27FC236}">
                <a16:creationId xmlns:a16="http://schemas.microsoft.com/office/drawing/2014/main" id="{B5FD9F13-8CEC-4360-8E55-E4EBB7B1C5F9}"/>
              </a:ext>
            </a:extLst>
          </p:cNvPr>
          <p:cNvSpPr>
            <a:spLocks xmlns:a="http://schemas.openxmlformats.org/drawingml/2006/main" noGrp="1"/>
          </p:cNvSpPr>
          <p:nvPr/>
        </p:nvSpPr>
        <p:spPr>
          <a:xfrm xmlns:a="http://schemas.openxmlformats.org/drawingml/2006/main">
            <a:off x="895350" y="3552825"/>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7F5EE"/>
                </a:solidFill>
                <a:latin typeface="Aptos"/>
                <a:ea typeface="Aptos"/>
                <a:cs typeface="Aptos"/>
              </a:defRPr>
            </a:pPr>
            <a:r>
              <a:rPr sz="2400" b="1">
                <a:solidFill>
                  <a:srgbClr val="F7F5EE"/>
                </a:solidFill>
                <a:latin typeface="Aptos"/>
                <a:ea typeface="Aptos"/>
                <a:cs typeface="Aptos"/>
              </a:rPr>
              <a:t>Order</a:t>
            </a:r>
          </a:p>
        </p:txBody>
      </p:sp>
      <p:sp>
        <p:nvSpPr>
          <p:cNvPr id="12" name="text-274">
            <a:extLst xmlns:a="http://schemas.openxmlformats.org/drawingml/2006/main">
              <a:ext uri="{FF2B5EF4-FFF2-40B4-BE49-F238E27FC236}">
                <a16:creationId xmlns:a16="http://schemas.microsoft.com/office/drawing/2014/main" id="{7B0F0413-1DFA-45B3-B054-BBBD020D2132}"/>
              </a:ext>
            </a:extLst>
          </p:cNvPr>
          <p:cNvSpPr>
            <a:spLocks xmlns:a="http://schemas.openxmlformats.org/drawingml/2006/main" noGrp="1"/>
          </p:cNvSpPr>
          <p:nvPr/>
        </p:nvSpPr>
        <p:spPr>
          <a:xfrm xmlns:a="http://schemas.openxmlformats.org/drawingml/2006/main">
            <a:off x="895350" y="4000500"/>
            <a:ext cx="27051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Vendor pricing</a:t>
            </a:r>
          </a:p>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and terms</a:t>
            </a:r>
          </a:p>
        </p:txBody>
      </p:sp>
      <p:sp>
        <p:nvSpPr>
          <p:cNvPr id="13" name="surface-275">
            <a:extLst xmlns:a="http://schemas.openxmlformats.org/drawingml/2006/main">
              <a:ext uri="{FF2B5EF4-FFF2-40B4-BE49-F238E27FC236}">
                <a16:creationId xmlns:a16="http://schemas.microsoft.com/office/drawing/2014/main" id="{DFD4330F-698C-4B3B-9D34-75CD25D11244}"/>
              </a:ext>
            </a:extLst>
          </p:cNvPr>
          <p:cNvSpPr>
            <a:spLocks xmlns:a="http://schemas.openxmlformats.org/drawingml/2006/main" noGrp="1"/>
          </p:cNvSpPr>
          <p:nvPr/>
        </p:nvSpPr>
        <p:spPr>
          <a:xfrm xmlns:a="http://schemas.openxmlformats.org/drawingml/2006/main">
            <a:off x="4038600" y="3381375"/>
            <a:ext cx="3124200" cy="1476375"/>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14" name="text-276">
            <a:extLst xmlns:a="http://schemas.openxmlformats.org/drawingml/2006/main">
              <a:ext uri="{FF2B5EF4-FFF2-40B4-BE49-F238E27FC236}">
                <a16:creationId xmlns:a16="http://schemas.microsoft.com/office/drawing/2014/main" id="{B5CA9E92-4E66-4BF2-9B99-F6B59D11D38A}"/>
              </a:ext>
            </a:extLst>
          </p:cNvPr>
          <p:cNvSpPr>
            <a:spLocks xmlns:a="http://schemas.openxmlformats.org/drawingml/2006/main" noGrp="1"/>
          </p:cNvSpPr>
          <p:nvPr/>
        </p:nvSpPr>
        <p:spPr>
          <a:xfrm xmlns:a="http://schemas.openxmlformats.org/drawingml/2006/main">
            <a:off x="4248150" y="3552825"/>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Receive</a:t>
            </a:r>
          </a:p>
        </p:txBody>
      </p:sp>
      <p:sp>
        <p:nvSpPr>
          <p:cNvPr id="15" name="text-277">
            <a:extLst xmlns:a="http://schemas.openxmlformats.org/drawingml/2006/main">
              <a:ext uri="{FF2B5EF4-FFF2-40B4-BE49-F238E27FC236}">
                <a16:creationId xmlns:a16="http://schemas.microsoft.com/office/drawing/2014/main" id="{76D83532-A5A2-4273-86D7-AFB246241B63}"/>
              </a:ext>
            </a:extLst>
          </p:cNvPr>
          <p:cNvSpPr>
            <a:spLocks xmlns:a="http://schemas.openxmlformats.org/drawingml/2006/main" noGrp="1"/>
          </p:cNvSpPr>
          <p:nvPr/>
        </p:nvSpPr>
        <p:spPr>
          <a:xfrm xmlns:a="http://schemas.openxmlformats.org/drawingml/2006/main">
            <a:off x="4248150" y="4000500"/>
            <a:ext cx="27051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Match goods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to the PO</a:t>
            </a:r>
          </a:p>
        </p:txBody>
      </p:sp>
      <p:sp>
        <p:nvSpPr>
          <p:cNvPr id="16" name="edge-278">
            <a:extLst xmlns:a="http://schemas.openxmlformats.org/drawingml/2006/main">
              <a:ext uri="{FF2B5EF4-FFF2-40B4-BE49-F238E27FC236}">
                <a16:creationId xmlns:a16="http://schemas.microsoft.com/office/drawing/2014/main" id="{D03E6122-2F6D-4D7B-9112-97B9367B6B1F}"/>
              </a:ext>
            </a:extLst>
          </p:cNvPr>
          <p:cNvSpPr>
            <a:spLocks xmlns:a="http://schemas.openxmlformats.org/drawingml/2006/main" noGrp="1"/>
          </p:cNvSpPr>
          <p:nvPr/>
        </p:nvSpPr>
        <p:spPr>
          <a:xfrm xmlns:a="http://schemas.openxmlformats.org/drawingml/2006/main" flipH="0" flipV="0">
            <a:off x="11306175" y="4119563"/>
            <a:ext cx="228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7" name="text-279">
            <a:extLst xmlns:a="http://schemas.openxmlformats.org/drawingml/2006/main">
              <a:ext uri="{FF2B5EF4-FFF2-40B4-BE49-F238E27FC236}">
                <a16:creationId xmlns:a16="http://schemas.microsoft.com/office/drawing/2014/main" id="{EF46D382-3814-4C4F-BCB2-A688DCEB3702}"/>
              </a:ext>
            </a:extLst>
          </p:cNvPr>
          <p:cNvSpPr>
            <a:spLocks xmlns:a="http://schemas.openxmlformats.org/drawingml/2006/main" noGrp="1"/>
          </p:cNvSpPr>
          <p:nvPr/>
        </p:nvSpPr>
        <p:spPr>
          <a:xfrm xmlns:a="http://schemas.openxmlformats.org/drawingml/2006/main">
            <a:off x="11353800" y="3910013"/>
            <a:ext cx="19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8" name="surface-280">
            <a:extLst xmlns:a="http://schemas.openxmlformats.org/drawingml/2006/main">
              <a:ext uri="{FF2B5EF4-FFF2-40B4-BE49-F238E27FC236}">
                <a16:creationId xmlns:a16="http://schemas.microsoft.com/office/drawing/2014/main" id="{F0EC2174-88C5-41EC-AACB-71559A68635A}"/>
              </a:ext>
            </a:extLst>
          </p:cNvPr>
          <p:cNvSpPr>
            <a:spLocks xmlns:a="http://schemas.openxmlformats.org/drawingml/2006/main" noGrp="1"/>
          </p:cNvSpPr>
          <p:nvPr/>
        </p:nvSpPr>
        <p:spPr>
          <a:xfrm xmlns:a="http://schemas.openxmlformats.org/drawingml/2006/main">
            <a:off x="8286750" y="3381375"/>
            <a:ext cx="3019425" cy="1476375"/>
          </a:xfrm>
          <a:prstGeom xmlns:a="http://schemas.openxmlformats.org/drawingml/2006/main" prst="rect">
            <a:avLst/>
          </a:prstGeom>
          <a:solidFill xmlns:a="http://schemas.openxmlformats.org/drawingml/2006/main">
            <a:srgbClr val="23716D"/>
          </a:solidFill>
          <a:ln xmlns:a="http://schemas.openxmlformats.org/drawingml/2006/main" w="0">
            <a:noFill/>
            <a:prstDash val="solid"/>
          </a:ln>
        </p:spPr>
      </p:sp>
      <p:sp>
        <p:nvSpPr>
          <p:cNvPr id="19" name="text-281">
            <a:extLst xmlns:a="http://schemas.openxmlformats.org/drawingml/2006/main">
              <a:ext uri="{FF2B5EF4-FFF2-40B4-BE49-F238E27FC236}">
                <a16:creationId xmlns:a16="http://schemas.microsoft.com/office/drawing/2014/main" id="{8254D7BB-6599-4021-841C-BE1107904A86}"/>
              </a:ext>
            </a:extLst>
          </p:cNvPr>
          <p:cNvSpPr>
            <a:spLocks xmlns:a="http://schemas.openxmlformats.org/drawingml/2006/main" noGrp="1"/>
          </p:cNvSpPr>
          <p:nvPr/>
        </p:nvSpPr>
        <p:spPr>
          <a:xfrm xmlns:a="http://schemas.openxmlformats.org/drawingml/2006/main">
            <a:off x="8496300" y="3552825"/>
            <a:ext cx="26003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7F5EE"/>
                </a:solidFill>
                <a:latin typeface="Aptos"/>
                <a:ea typeface="Aptos"/>
                <a:cs typeface="Aptos"/>
              </a:defRPr>
            </a:pPr>
            <a:r>
              <a:rPr sz="2400" b="1">
                <a:solidFill>
                  <a:srgbClr val="F7F5EE"/>
                </a:solidFill>
                <a:latin typeface="Aptos"/>
                <a:ea typeface="Aptos"/>
                <a:cs typeface="Aptos"/>
              </a:rPr>
              <a:t>Reseller</a:t>
            </a:r>
          </a:p>
        </p:txBody>
      </p:sp>
      <p:sp>
        <p:nvSpPr>
          <p:cNvPr id="20" name="text-282">
            <a:extLst xmlns:a="http://schemas.openxmlformats.org/drawingml/2006/main">
              <a:ext uri="{FF2B5EF4-FFF2-40B4-BE49-F238E27FC236}">
                <a16:creationId xmlns:a16="http://schemas.microsoft.com/office/drawing/2014/main" id="{81BE3E29-6771-4F9F-922A-8C23D0E667A8}"/>
              </a:ext>
            </a:extLst>
          </p:cNvPr>
          <p:cNvSpPr>
            <a:spLocks xmlns:a="http://schemas.openxmlformats.org/drawingml/2006/main" noGrp="1"/>
          </p:cNvSpPr>
          <p:nvPr/>
        </p:nvSpPr>
        <p:spPr>
          <a:xfrm xmlns:a="http://schemas.openxmlformats.org/drawingml/2006/main">
            <a:off x="8496300" y="4000500"/>
            <a:ext cx="26003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Approved access</a:t>
            </a:r>
          </a:p>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and price terms</a:t>
            </a:r>
          </a:p>
        </p:txBody>
      </p:sp>
      <p:sp>
        <p:nvSpPr>
          <p:cNvPr id="21" name="surface-283">
            <a:extLst xmlns:a="http://schemas.openxmlformats.org/drawingml/2006/main">
              <a:ext uri="{FF2B5EF4-FFF2-40B4-BE49-F238E27FC236}">
                <a16:creationId xmlns:a16="http://schemas.microsoft.com/office/drawing/2014/main" id="{8A1FAC1D-3D93-45CD-9E45-18283F5E48C8}"/>
              </a:ext>
            </a:extLst>
          </p:cNvPr>
          <p:cNvSpPr>
            <a:spLocks xmlns:a="http://schemas.openxmlformats.org/drawingml/2006/main" noGrp="1"/>
          </p:cNvSpPr>
          <p:nvPr/>
        </p:nvSpPr>
        <p:spPr>
          <a:xfrm xmlns:a="http://schemas.openxmlformats.org/drawingml/2006/main">
            <a:off x="11534775" y="3381375"/>
            <a:ext cx="3019425" cy="1476375"/>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22" name="text-284">
            <a:extLst xmlns:a="http://schemas.openxmlformats.org/drawingml/2006/main">
              <a:ext uri="{FF2B5EF4-FFF2-40B4-BE49-F238E27FC236}">
                <a16:creationId xmlns:a16="http://schemas.microsoft.com/office/drawing/2014/main" id="{B9146C44-7029-46D5-81EF-10938AC7D21B}"/>
              </a:ext>
            </a:extLst>
          </p:cNvPr>
          <p:cNvSpPr>
            <a:spLocks xmlns:a="http://schemas.openxmlformats.org/drawingml/2006/main" noGrp="1"/>
          </p:cNvSpPr>
          <p:nvPr/>
        </p:nvSpPr>
        <p:spPr>
          <a:xfrm xmlns:a="http://schemas.openxmlformats.org/drawingml/2006/main">
            <a:off x="11744325" y="3552825"/>
            <a:ext cx="26003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Order</a:t>
            </a:r>
          </a:p>
        </p:txBody>
      </p:sp>
      <p:sp>
        <p:nvSpPr>
          <p:cNvPr id="23" name="text-285">
            <a:extLst xmlns:a="http://schemas.openxmlformats.org/drawingml/2006/main">
              <a:ext uri="{FF2B5EF4-FFF2-40B4-BE49-F238E27FC236}">
                <a16:creationId xmlns:a16="http://schemas.microsoft.com/office/drawing/2014/main" id="{9BF08A82-333E-464F-A526-8675B7E38D5F}"/>
              </a:ext>
            </a:extLst>
          </p:cNvPr>
          <p:cNvSpPr>
            <a:spLocks xmlns:a="http://schemas.openxmlformats.org/drawingml/2006/main" noGrp="1"/>
          </p:cNvSpPr>
          <p:nvPr/>
        </p:nvSpPr>
        <p:spPr>
          <a:xfrm xmlns:a="http://schemas.openxmlformats.org/drawingml/2006/main">
            <a:off x="11744325" y="4000500"/>
            <a:ext cx="26003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Self-service</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B2B ordering</a:t>
            </a:r>
          </a:p>
        </p:txBody>
      </p:sp>
      <p:sp>
        <p:nvSpPr>
          <p:cNvPr id="24" name="text-286">
            <a:extLst xmlns:a="http://schemas.openxmlformats.org/drawingml/2006/main">
              <a:ext uri="{FF2B5EF4-FFF2-40B4-BE49-F238E27FC236}">
                <a16:creationId xmlns:a16="http://schemas.microsoft.com/office/drawing/2014/main" id="{927305A3-D67E-47CC-9A94-4C38CBACC1C8}"/>
              </a:ext>
            </a:extLst>
          </p:cNvPr>
          <p:cNvSpPr>
            <a:spLocks xmlns:a="http://schemas.openxmlformats.org/drawingml/2006/main" noGrp="1"/>
          </p:cNvSpPr>
          <p:nvPr/>
        </p:nvSpPr>
        <p:spPr>
          <a:xfrm xmlns:a="http://schemas.openxmlformats.org/drawingml/2006/main">
            <a:off x="685800" y="5257800"/>
            <a:ext cx="6477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97071"/>
                </a:solidFill>
                <a:latin typeface="Aptos"/>
                <a:ea typeface="Aptos"/>
                <a:cs typeface="Aptos"/>
              </a:defRPr>
            </a:pPr>
            <a:r>
              <a:rPr sz="2250" b="0">
                <a:solidFill>
                  <a:srgbClr val="597071"/>
                </a:solidFill>
                <a:latin typeface="Aptos"/>
                <a:ea typeface="Aptos"/>
                <a:cs typeface="Aptos"/>
              </a:rPr>
              <a:t>Bills, purchase returns and vendor credits</a:t>
            </a:r>
          </a:p>
          <a:p xmlns:a="http://schemas.openxmlformats.org/drawingml/2006/main">
            <a:pPr algn="l">
              <a:defRPr sz="2250" b="0">
                <a:solidFill>
                  <a:srgbClr val="597071"/>
                </a:solidFill>
                <a:latin typeface="Aptos"/>
                <a:ea typeface="Aptos"/>
                <a:cs typeface="Aptos"/>
              </a:defRPr>
            </a:pPr>
            <a:r>
              <a:rPr sz="2250" b="0">
                <a:solidFill>
                  <a:srgbClr val="597071"/>
                </a:solidFill>
                <a:latin typeface="Aptos"/>
                <a:ea typeface="Aptos"/>
                <a:cs typeface="Aptos"/>
              </a:rPr>
              <a:t>create an accountable buying trail.</a:t>
            </a:r>
          </a:p>
        </p:txBody>
      </p:sp>
      <p:sp>
        <p:nvSpPr>
          <p:cNvPr id="25" name="text-287">
            <a:extLst xmlns:a="http://schemas.openxmlformats.org/drawingml/2006/main">
              <a:ext uri="{FF2B5EF4-FFF2-40B4-BE49-F238E27FC236}">
                <a16:creationId xmlns:a16="http://schemas.microsoft.com/office/drawing/2014/main" id="{56125A79-A383-44F9-8040-FC87B9619255}"/>
              </a:ext>
            </a:extLst>
          </p:cNvPr>
          <p:cNvSpPr>
            <a:spLocks xmlns:a="http://schemas.openxmlformats.org/drawingml/2006/main" noGrp="1"/>
          </p:cNvSpPr>
          <p:nvPr/>
        </p:nvSpPr>
        <p:spPr>
          <a:xfrm xmlns:a="http://schemas.openxmlformats.org/drawingml/2006/main">
            <a:off x="8286750" y="5257800"/>
            <a:ext cx="62674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97071"/>
                </a:solidFill>
                <a:latin typeface="Aptos"/>
                <a:ea typeface="Aptos"/>
                <a:cs typeface="Aptos"/>
              </a:defRPr>
            </a:pPr>
            <a:r>
              <a:rPr sz="2250" b="0">
                <a:solidFill>
                  <a:srgbClr val="597071"/>
                </a:solidFill>
                <a:latin typeface="Aptos"/>
                <a:ea typeface="Aptos"/>
                <a:cs typeface="Aptos"/>
              </a:rPr>
              <a:t>Shared catalog and inventory support</a:t>
            </a:r>
          </a:p>
          <a:p xmlns:a="http://schemas.openxmlformats.org/drawingml/2006/main">
            <a:pPr algn="l">
              <a:defRPr sz="2250" b="0">
                <a:solidFill>
                  <a:srgbClr val="597071"/>
                </a:solidFill>
                <a:latin typeface="Aptos"/>
                <a:ea typeface="Aptos"/>
                <a:cs typeface="Aptos"/>
              </a:defRPr>
            </a:pPr>
            <a:r>
              <a:rPr sz="2250" b="0">
                <a:solidFill>
                  <a:srgbClr val="597071"/>
                </a:solidFill>
                <a:latin typeface="Aptos"/>
                <a:ea typeface="Aptos"/>
                <a:cs typeface="Aptos"/>
              </a:rPr>
              <a:t>a consistent reseller experience.</a:t>
            </a:r>
          </a:p>
        </p:txBody>
      </p:sp>
      <p:sp>
        <p:nvSpPr>
          <p:cNvPr id="26" name="rule-288">
            <a:extLst xmlns:a="http://schemas.openxmlformats.org/drawingml/2006/main">
              <a:ext uri="{FF2B5EF4-FFF2-40B4-BE49-F238E27FC236}">
                <a16:creationId xmlns:a16="http://schemas.microsoft.com/office/drawing/2014/main" id="{4564ECB1-061E-4247-9B41-614881266F7B}"/>
              </a:ext>
            </a:extLst>
          </p:cNvPr>
          <p:cNvSpPr>
            <a:spLocks xmlns:a="http://schemas.openxmlformats.org/drawingml/2006/main" noGrp="1"/>
          </p:cNvSpPr>
          <p:nvPr/>
        </p:nvSpPr>
        <p:spPr>
          <a:xfrm xmlns:a="http://schemas.openxmlformats.org/drawingml/2006/main">
            <a:off x="685800" y="6934200"/>
            <a:ext cx="5715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27" name="text-289">
            <a:extLst xmlns:a="http://schemas.openxmlformats.org/drawingml/2006/main">
              <a:ext uri="{FF2B5EF4-FFF2-40B4-BE49-F238E27FC236}">
                <a16:creationId xmlns:a16="http://schemas.microsoft.com/office/drawing/2014/main" id="{4705648B-01FF-43C2-A79B-633358BBD649}"/>
              </a:ext>
            </a:extLst>
          </p:cNvPr>
          <p:cNvSpPr>
            <a:spLocks xmlns:a="http://schemas.openxmlformats.org/drawingml/2006/main" noGrp="1"/>
          </p:cNvSpPr>
          <p:nvPr/>
        </p:nvSpPr>
        <p:spPr>
          <a:xfrm xmlns:a="http://schemas.openxmlformats.org/drawingml/2006/main">
            <a:off x="685800" y="7096125"/>
            <a:ext cx="13868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3D43"/>
                </a:solidFill>
                <a:latin typeface="Aptos"/>
                <a:ea typeface="Aptos"/>
                <a:cs typeface="Aptos"/>
              </a:defRPr>
            </a:pPr>
            <a:r>
              <a:rPr sz="2250" b="1">
                <a:solidFill>
                  <a:srgbClr val="103D43"/>
                </a:solidFill>
                <a:latin typeface="Aptos"/>
                <a:ea typeface="Aptos"/>
                <a:cs typeface="Aptos"/>
              </a:rPr>
              <a:t>Detailed B2B pricing, approvals and order rules are confirmed during discovery.</a:t>
            </a:r>
          </a:p>
        </p:txBody>
      </p:sp>
    </p:spTree>
    <p:extLst>
      <p:ext uri="{BB962C8B-B14F-4D97-AF65-F5344CB8AC3E}">
        <p14:creationId xmlns:p14="http://schemas.microsoft.com/office/powerpoint/2010/main" val="2043864714"/>
      </p:ext>
    </p:extLst>
  </p:cSld>
</p:sld>
</file>

<file path=ppt/slides/slide1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9" name="text-290">
            <a:extLst xmlns:a="http://schemas.openxmlformats.org/drawingml/2006/main">
              <a:ext uri="{FF2B5EF4-FFF2-40B4-BE49-F238E27FC236}">
                <a16:creationId xmlns:a16="http://schemas.microsoft.com/office/drawing/2014/main" id="{B2D88307-9290-4AFB-9009-8F971A362B22}"/>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06 / E-COMMERCE HUB — PLANNED</a:t>
            </a:r>
          </a:p>
        </p:txBody>
      </p:sp>
      <p:sp>
        <p:nvSpPr>
          <p:cNvPr id="2" name="text-291">
            <a:extLst xmlns:a="http://schemas.openxmlformats.org/drawingml/2006/main">
              <a:ext uri="{FF2B5EF4-FFF2-40B4-BE49-F238E27FC236}">
                <a16:creationId xmlns:a16="http://schemas.microsoft.com/office/drawing/2014/main" id="{BEAFEFB0-F3E7-466C-965C-E79BC0A1CFDA}"/>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Online orders use the same stock foundation</a:t>
            </a:r>
          </a:p>
        </p:txBody>
      </p:sp>
      <p:sp>
        <p:nvSpPr>
          <p:cNvPr id="3" name="rule-292">
            <a:extLst xmlns:a="http://schemas.openxmlformats.org/drawingml/2006/main">
              <a:ext uri="{FF2B5EF4-FFF2-40B4-BE49-F238E27FC236}">
                <a16:creationId xmlns:a16="http://schemas.microsoft.com/office/drawing/2014/main" id="{89506C7B-F96A-4676-B266-CE5DAE7B27B3}"/>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293">
            <a:extLst xmlns:a="http://schemas.openxmlformats.org/drawingml/2006/main">
              <a:ext uri="{FF2B5EF4-FFF2-40B4-BE49-F238E27FC236}">
                <a16:creationId xmlns:a16="http://schemas.microsoft.com/office/drawing/2014/main" id="{F882FD43-F98C-4D3D-A454-388B82A68472}"/>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294">
            <a:extLst xmlns:a="http://schemas.openxmlformats.org/drawingml/2006/main">
              <a:ext uri="{FF2B5EF4-FFF2-40B4-BE49-F238E27FC236}">
                <a16:creationId xmlns:a16="http://schemas.microsoft.com/office/drawing/2014/main" id="{C3A50DBD-4189-4DA2-86EF-E0AA1C79B233}"/>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13</a:t>
            </a:r>
          </a:p>
        </p:txBody>
      </p:sp>
      <p:sp>
        <p:nvSpPr>
          <p:cNvPr id="6" name="text-295">
            <a:extLst xmlns:a="http://schemas.openxmlformats.org/drawingml/2006/main">
              <a:ext uri="{FF2B5EF4-FFF2-40B4-BE49-F238E27FC236}">
                <a16:creationId xmlns:a16="http://schemas.microsoft.com/office/drawing/2014/main" id="{313FE6D8-1354-4466-8AD2-937573BD11FB}"/>
              </a:ext>
            </a:extLst>
          </p:cNvPr>
          <p:cNvSpPr>
            <a:spLocks xmlns:a="http://schemas.openxmlformats.org/drawingml/2006/main" noGrp="1"/>
          </p:cNvSpPr>
          <p:nvPr/>
        </p:nvSpPr>
        <p:spPr>
          <a:xfrm xmlns:a="http://schemas.openxmlformats.org/drawingml/2006/main">
            <a:off x="685800" y="2314575"/>
            <a:ext cx="13868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23716D"/>
                </a:solidFill>
                <a:latin typeface="Aptos"/>
                <a:ea typeface="Aptos"/>
                <a:cs typeface="Aptos"/>
              </a:defRPr>
            </a:pPr>
            <a:r>
              <a:rPr sz="2400" b="1">
                <a:solidFill>
                  <a:srgbClr val="23716D"/>
                </a:solidFill>
                <a:latin typeface="Aptos"/>
                <a:ea typeface="Aptos"/>
                <a:cs typeface="Aptos"/>
              </a:rPr>
              <a:t>Shopify   •   WooCommerce   •   eBay   •   TikTok Shop   •   Whatnot</a:t>
            </a:r>
          </a:p>
        </p:txBody>
      </p:sp>
      <p:sp>
        <p:nvSpPr>
          <p:cNvPr id="7" name="edge-296">
            <a:extLst xmlns:a="http://schemas.openxmlformats.org/drawingml/2006/main">
              <a:ext uri="{FF2B5EF4-FFF2-40B4-BE49-F238E27FC236}">
                <a16:creationId xmlns:a16="http://schemas.microsoft.com/office/drawing/2014/main" id="{98829729-D9EA-402F-BD40-A0A9ED381066}"/>
              </a:ext>
            </a:extLst>
          </p:cNvPr>
          <p:cNvSpPr>
            <a:spLocks xmlns:a="http://schemas.openxmlformats.org/drawingml/2006/main" noGrp="1"/>
          </p:cNvSpPr>
          <p:nvPr/>
        </p:nvSpPr>
        <p:spPr>
          <a:xfrm xmlns:a="http://schemas.openxmlformats.org/drawingml/2006/main" flipH="0" flipV="0">
            <a:off x="3967163" y="4295775"/>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8" name="text-297">
            <a:extLst xmlns:a="http://schemas.openxmlformats.org/drawingml/2006/main">
              <a:ext uri="{FF2B5EF4-FFF2-40B4-BE49-F238E27FC236}">
                <a16:creationId xmlns:a16="http://schemas.microsoft.com/office/drawing/2014/main" id="{A645957F-7C91-4DF8-8FCE-25F0B814E93F}"/>
              </a:ext>
            </a:extLst>
          </p:cNvPr>
          <p:cNvSpPr>
            <a:spLocks xmlns:a="http://schemas.openxmlformats.org/drawingml/2006/main" noGrp="1"/>
          </p:cNvSpPr>
          <p:nvPr/>
        </p:nvSpPr>
        <p:spPr>
          <a:xfrm xmlns:a="http://schemas.openxmlformats.org/drawingml/2006/main">
            <a:off x="4014788" y="4086225"/>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9" name="edge-298">
            <a:extLst xmlns:a="http://schemas.openxmlformats.org/drawingml/2006/main">
              <a:ext uri="{FF2B5EF4-FFF2-40B4-BE49-F238E27FC236}">
                <a16:creationId xmlns:a16="http://schemas.microsoft.com/office/drawing/2014/main" id="{8A2C81AA-82FE-4397-AA76-F21A39F9934A}"/>
              </a:ext>
            </a:extLst>
          </p:cNvPr>
          <p:cNvSpPr>
            <a:spLocks xmlns:a="http://schemas.openxmlformats.org/drawingml/2006/main" noGrp="1"/>
          </p:cNvSpPr>
          <p:nvPr/>
        </p:nvSpPr>
        <p:spPr>
          <a:xfrm xmlns:a="http://schemas.openxmlformats.org/drawingml/2006/main" flipH="0" flipV="0">
            <a:off x="7496175" y="4295775"/>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0" name="text-299">
            <a:extLst xmlns:a="http://schemas.openxmlformats.org/drawingml/2006/main">
              <a:ext uri="{FF2B5EF4-FFF2-40B4-BE49-F238E27FC236}">
                <a16:creationId xmlns:a16="http://schemas.microsoft.com/office/drawing/2014/main" id="{F746C186-C40B-4F73-8E52-BBF1D750CF2A}"/>
              </a:ext>
            </a:extLst>
          </p:cNvPr>
          <p:cNvSpPr>
            <a:spLocks xmlns:a="http://schemas.openxmlformats.org/drawingml/2006/main" noGrp="1"/>
          </p:cNvSpPr>
          <p:nvPr/>
        </p:nvSpPr>
        <p:spPr>
          <a:xfrm xmlns:a="http://schemas.openxmlformats.org/drawingml/2006/main">
            <a:off x="7543800" y="4086225"/>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1" name="edge-300">
            <a:extLst xmlns:a="http://schemas.openxmlformats.org/drawingml/2006/main">
              <a:ext uri="{FF2B5EF4-FFF2-40B4-BE49-F238E27FC236}">
                <a16:creationId xmlns:a16="http://schemas.microsoft.com/office/drawing/2014/main" id="{CC551EC6-A063-4084-B314-1D96792BF380}"/>
              </a:ext>
            </a:extLst>
          </p:cNvPr>
          <p:cNvSpPr>
            <a:spLocks xmlns:a="http://schemas.openxmlformats.org/drawingml/2006/main" noGrp="1"/>
          </p:cNvSpPr>
          <p:nvPr/>
        </p:nvSpPr>
        <p:spPr>
          <a:xfrm xmlns:a="http://schemas.openxmlformats.org/drawingml/2006/main" flipH="0" flipV="0">
            <a:off x="11025188" y="4295775"/>
            <a:ext cx="24765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2" name="text-301">
            <a:extLst xmlns:a="http://schemas.openxmlformats.org/drawingml/2006/main">
              <a:ext uri="{FF2B5EF4-FFF2-40B4-BE49-F238E27FC236}">
                <a16:creationId xmlns:a16="http://schemas.microsoft.com/office/drawing/2014/main" id="{2606CF97-F548-4D05-963B-179336896206}"/>
              </a:ext>
            </a:extLst>
          </p:cNvPr>
          <p:cNvSpPr>
            <a:spLocks xmlns:a="http://schemas.openxmlformats.org/drawingml/2006/main" noGrp="1"/>
          </p:cNvSpPr>
          <p:nvPr/>
        </p:nvSpPr>
        <p:spPr>
          <a:xfrm xmlns:a="http://schemas.openxmlformats.org/drawingml/2006/main">
            <a:off x="11072813" y="4086225"/>
            <a:ext cx="209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B28B4E"/>
                </a:solidFill>
                <a:latin typeface="Aptos"/>
                <a:ea typeface="Aptos"/>
                <a:cs typeface="Aptos"/>
              </a:defRPr>
            </a:pPr>
            <a:r>
              <a:rPr sz="2700" b="1">
                <a:solidFill>
                  <a:srgbClr val="B28B4E"/>
                </a:solidFill>
                <a:latin typeface="Aptos"/>
                <a:ea typeface="Aptos"/>
                <a:cs typeface="Aptos"/>
              </a:rPr>
              <a:t>›</a:t>
            </a:r>
          </a:p>
        </p:txBody>
      </p:sp>
      <p:sp>
        <p:nvSpPr>
          <p:cNvPr id="13" name="surface-302">
            <a:extLst xmlns:a="http://schemas.openxmlformats.org/drawingml/2006/main">
              <a:ext uri="{FF2B5EF4-FFF2-40B4-BE49-F238E27FC236}">
                <a16:creationId xmlns:a16="http://schemas.microsoft.com/office/drawing/2014/main" id="{BB78B38D-CDC2-43F9-BE0E-5F1012203129}"/>
              </a:ext>
            </a:extLst>
          </p:cNvPr>
          <p:cNvSpPr>
            <a:spLocks xmlns:a="http://schemas.openxmlformats.org/drawingml/2006/main" noGrp="1"/>
          </p:cNvSpPr>
          <p:nvPr/>
        </p:nvSpPr>
        <p:spPr>
          <a:xfrm xmlns:a="http://schemas.openxmlformats.org/drawingml/2006/main">
            <a:off x="685800" y="3476625"/>
            <a:ext cx="3281363" cy="1638300"/>
          </a:xfrm>
          <a:prstGeom xmlns:a="http://schemas.openxmlformats.org/drawingml/2006/main" prst="rect">
            <a:avLst/>
          </a:prstGeom>
          <a:solidFill xmlns:a="http://schemas.openxmlformats.org/drawingml/2006/main">
            <a:srgbClr val="23716D"/>
          </a:solidFill>
          <a:ln xmlns:a="http://schemas.openxmlformats.org/drawingml/2006/main" w="0">
            <a:noFill/>
            <a:prstDash val="solid"/>
          </a:ln>
        </p:spPr>
      </p:sp>
      <p:sp>
        <p:nvSpPr>
          <p:cNvPr id="14" name="text-303">
            <a:extLst xmlns:a="http://schemas.openxmlformats.org/drawingml/2006/main">
              <a:ext uri="{FF2B5EF4-FFF2-40B4-BE49-F238E27FC236}">
                <a16:creationId xmlns:a16="http://schemas.microsoft.com/office/drawing/2014/main" id="{E7BF114E-1B67-45B8-8E66-5FD9D292E567}"/>
              </a:ext>
            </a:extLst>
          </p:cNvPr>
          <p:cNvSpPr>
            <a:spLocks xmlns:a="http://schemas.openxmlformats.org/drawingml/2006/main" noGrp="1"/>
          </p:cNvSpPr>
          <p:nvPr/>
        </p:nvSpPr>
        <p:spPr>
          <a:xfrm xmlns:a="http://schemas.openxmlformats.org/drawingml/2006/main">
            <a:off x="895350" y="364807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7F5EE"/>
                </a:solidFill>
                <a:latin typeface="Aptos"/>
                <a:ea typeface="Aptos"/>
                <a:cs typeface="Aptos"/>
              </a:defRPr>
            </a:pPr>
            <a:r>
              <a:rPr sz="2400" b="1">
                <a:solidFill>
                  <a:srgbClr val="F7F5EE"/>
                </a:solidFill>
                <a:latin typeface="Aptos"/>
                <a:ea typeface="Aptos"/>
                <a:cs typeface="Aptos"/>
              </a:rPr>
              <a:t>Channel order</a:t>
            </a:r>
          </a:p>
        </p:txBody>
      </p:sp>
      <p:sp>
        <p:nvSpPr>
          <p:cNvPr id="15" name="text-304">
            <a:extLst xmlns:a="http://schemas.openxmlformats.org/drawingml/2006/main">
              <a:ext uri="{FF2B5EF4-FFF2-40B4-BE49-F238E27FC236}">
                <a16:creationId xmlns:a16="http://schemas.microsoft.com/office/drawing/2014/main" id="{CB6A67AB-C56E-44EF-9F94-DE7F72CBD8B4}"/>
              </a:ext>
            </a:extLst>
          </p:cNvPr>
          <p:cNvSpPr>
            <a:spLocks xmlns:a="http://schemas.openxmlformats.org/drawingml/2006/main" noGrp="1"/>
          </p:cNvSpPr>
          <p:nvPr/>
        </p:nvSpPr>
        <p:spPr>
          <a:xfrm xmlns:a="http://schemas.openxmlformats.org/drawingml/2006/main">
            <a:off x="895350" y="4095750"/>
            <a:ext cx="2862263"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Order, pricing</a:t>
            </a:r>
          </a:p>
          <a:p xmlns:a="http://schemas.openxmlformats.org/drawingml/2006/main">
            <a:pPr algn="l">
              <a:defRPr sz="1875" b="0">
                <a:solidFill>
                  <a:srgbClr val="E4EEEA"/>
                </a:solidFill>
                <a:latin typeface="Aptos"/>
                <a:ea typeface="Aptos"/>
                <a:cs typeface="Aptos"/>
              </a:defRPr>
            </a:pPr>
            <a:r>
              <a:rPr sz="1875" b="0">
                <a:solidFill>
                  <a:srgbClr val="E4EEEA"/>
                </a:solidFill>
                <a:latin typeface="Aptos"/>
                <a:ea typeface="Aptos"/>
                <a:cs typeface="Aptos"/>
              </a:rPr>
              <a:t>and stock signals</a:t>
            </a:r>
          </a:p>
        </p:txBody>
      </p:sp>
      <p:sp>
        <p:nvSpPr>
          <p:cNvPr id="16" name="surface-305">
            <a:extLst xmlns:a="http://schemas.openxmlformats.org/drawingml/2006/main">
              <a:ext uri="{FF2B5EF4-FFF2-40B4-BE49-F238E27FC236}">
                <a16:creationId xmlns:a16="http://schemas.microsoft.com/office/drawing/2014/main" id="{937498EB-E11C-401F-A866-5317A10A326C}"/>
              </a:ext>
            </a:extLst>
          </p:cNvPr>
          <p:cNvSpPr>
            <a:spLocks xmlns:a="http://schemas.openxmlformats.org/drawingml/2006/main" noGrp="1"/>
          </p:cNvSpPr>
          <p:nvPr/>
        </p:nvSpPr>
        <p:spPr>
          <a:xfrm xmlns:a="http://schemas.openxmlformats.org/drawingml/2006/main">
            <a:off x="4214813" y="3476625"/>
            <a:ext cx="3281363" cy="16383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17" name="text-306">
            <a:extLst xmlns:a="http://schemas.openxmlformats.org/drawingml/2006/main">
              <a:ext uri="{FF2B5EF4-FFF2-40B4-BE49-F238E27FC236}">
                <a16:creationId xmlns:a16="http://schemas.microsoft.com/office/drawing/2014/main" id="{3998402E-4C42-4C38-B317-CD1EFB23985E}"/>
              </a:ext>
            </a:extLst>
          </p:cNvPr>
          <p:cNvSpPr>
            <a:spLocks xmlns:a="http://schemas.openxmlformats.org/drawingml/2006/main" noGrp="1"/>
          </p:cNvSpPr>
          <p:nvPr/>
        </p:nvSpPr>
        <p:spPr>
          <a:xfrm xmlns:a="http://schemas.openxmlformats.org/drawingml/2006/main">
            <a:off x="4424363" y="364807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Allocate</a:t>
            </a:r>
          </a:p>
        </p:txBody>
      </p:sp>
      <p:sp>
        <p:nvSpPr>
          <p:cNvPr id="18" name="text-307">
            <a:extLst xmlns:a="http://schemas.openxmlformats.org/drawingml/2006/main">
              <a:ext uri="{FF2B5EF4-FFF2-40B4-BE49-F238E27FC236}">
                <a16:creationId xmlns:a16="http://schemas.microsoft.com/office/drawing/2014/main" id="{FBA69BE7-C171-4B0C-B655-ACFDF2F86EEC}"/>
              </a:ext>
            </a:extLst>
          </p:cNvPr>
          <p:cNvSpPr>
            <a:spLocks xmlns:a="http://schemas.openxmlformats.org/drawingml/2006/main" noGrp="1"/>
          </p:cNvSpPr>
          <p:nvPr/>
        </p:nvSpPr>
        <p:spPr>
          <a:xfrm xmlns:a="http://schemas.openxmlformats.org/drawingml/2006/main">
            <a:off x="4424363" y="4095750"/>
            <a:ext cx="2862263"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Check dedicated</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e-commerce stock</a:t>
            </a:r>
          </a:p>
        </p:txBody>
      </p:sp>
      <p:sp>
        <p:nvSpPr>
          <p:cNvPr id="19" name="surface-308">
            <a:extLst xmlns:a="http://schemas.openxmlformats.org/drawingml/2006/main">
              <a:ext uri="{FF2B5EF4-FFF2-40B4-BE49-F238E27FC236}">
                <a16:creationId xmlns:a16="http://schemas.microsoft.com/office/drawing/2014/main" id="{EC744743-1940-4AE5-B026-31CBBA4E9281}"/>
              </a:ext>
            </a:extLst>
          </p:cNvPr>
          <p:cNvSpPr>
            <a:spLocks xmlns:a="http://schemas.openxmlformats.org/drawingml/2006/main" noGrp="1"/>
          </p:cNvSpPr>
          <p:nvPr/>
        </p:nvSpPr>
        <p:spPr>
          <a:xfrm xmlns:a="http://schemas.openxmlformats.org/drawingml/2006/main">
            <a:off x="7743825" y="3476625"/>
            <a:ext cx="3281363" cy="16383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20" name="text-309">
            <a:extLst xmlns:a="http://schemas.openxmlformats.org/drawingml/2006/main">
              <a:ext uri="{FF2B5EF4-FFF2-40B4-BE49-F238E27FC236}">
                <a16:creationId xmlns:a16="http://schemas.microsoft.com/office/drawing/2014/main" id="{36DA9BDA-AB92-44FE-BC6D-2F1041E44AAE}"/>
              </a:ext>
            </a:extLst>
          </p:cNvPr>
          <p:cNvSpPr>
            <a:spLocks xmlns:a="http://schemas.openxmlformats.org/drawingml/2006/main" noGrp="1"/>
          </p:cNvSpPr>
          <p:nvPr/>
        </p:nvSpPr>
        <p:spPr>
          <a:xfrm xmlns:a="http://schemas.openxmlformats.org/drawingml/2006/main">
            <a:off x="7953375" y="364807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Fallback</a:t>
            </a:r>
          </a:p>
        </p:txBody>
      </p:sp>
      <p:sp>
        <p:nvSpPr>
          <p:cNvPr id="21" name="text-310">
            <a:extLst xmlns:a="http://schemas.openxmlformats.org/drawingml/2006/main">
              <a:ext uri="{FF2B5EF4-FFF2-40B4-BE49-F238E27FC236}">
                <a16:creationId xmlns:a16="http://schemas.microsoft.com/office/drawing/2014/main" id="{C82914C4-BDB5-4865-9978-7965EA0449C1}"/>
              </a:ext>
            </a:extLst>
          </p:cNvPr>
          <p:cNvSpPr>
            <a:spLocks xmlns:a="http://schemas.openxmlformats.org/drawingml/2006/main" noGrp="1"/>
          </p:cNvSpPr>
          <p:nvPr/>
        </p:nvSpPr>
        <p:spPr>
          <a:xfrm xmlns:a="http://schemas.openxmlformats.org/drawingml/2006/main">
            <a:off x="7953375" y="4095750"/>
            <a:ext cx="2862263"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Pull from main</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warehouse if needed</a:t>
            </a:r>
          </a:p>
        </p:txBody>
      </p:sp>
      <p:sp>
        <p:nvSpPr>
          <p:cNvPr id="22" name="surface-311">
            <a:extLst xmlns:a="http://schemas.openxmlformats.org/drawingml/2006/main">
              <a:ext uri="{FF2B5EF4-FFF2-40B4-BE49-F238E27FC236}">
                <a16:creationId xmlns:a16="http://schemas.microsoft.com/office/drawing/2014/main" id="{D05ED36E-E43E-4634-BF94-9343DBC836FA}"/>
              </a:ext>
            </a:extLst>
          </p:cNvPr>
          <p:cNvSpPr>
            <a:spLocks xmlns:a="http://schemas.openxmlformats.org/drawingml/2006/main" noGrp="1"/>
          </p:cNvSpPr>
          <p:nvPr/>
        </p:nvSpPr>
        <p:spPr>
          <a:xfrm xmlns:a="http://schemas.openxmlformats.org/drawingml/2006/main">
            <a:off x="11272838" y="3476625"/>
            <a:ext cx="3281363" cy="1638300"/>
          </a:xfrm>
          <a:prstGeom xmlns:a="http://schemas.openxmlformats.org/drawingml/2006/main" prst="rect">
            <a:avLst/>
          </a:prstGeom>
          <a:solidFill xmlns:a="http://schemas.openxmlformats.org/drawingml/2006/main">
            <a:srgbClr val="E5EEEA"/>
          </a:solidFill>
          <a:ln xmlns:a="http://schemas.openxmlformats.org/drawingml/2006/main" w="0">
            <a:noFill/>
            <a:prstDash val="solid"/>
          </a:ln>
        </p:spPr>
      </p:sp>
      <p:sp>
        <p:nvSpPr>
          <p:cNvPr id="23" name="text-312">
            <a:extLst xmlns:a="http://schemas.openxmlformats.org/drawingml/2006/main">
              <a:ext uri="{FF2B5EF4-FFF2-40B4-BE49-F238E27FC236}">
                <a16:creationId xmlns:a16="http://schemas.microsoft.com/office/drawing/2014/main" id="{3C985D7E-27DF-4990-B45B-B9313B3B1B4E}"/>
              </a:ext>
            </a:extLst>
          </p:cNvPr>
          <p:cNvSpPr>
            <a:spLocks xmlns:a="http://schemas.openxmlformats.org/drawingml/2006/main" noGrp="1"/>
          </p:cNvSpPr>
          <p:nvPr/>
        </p:nvSpPr>
        <p:spPr>
          <a:xfrm xmlns:a="http://schemas.openxmlformats.org/drawingml/2006/main">
            <a:off x="11482388" y="3648075"/>
            <a:ext cx="2862263"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Fulfill &amp; sync</a:t>
            </a:r>
          </a:p>
        </p:txBody>
      </p:sp>
      <p:sp>
        <p:nvSpPr>
          <p:cNvPr id="24" name="text-313">
            <a:extLst xmlns:a="http://schemas.openxmlformats.org/drawingml/2006/main">
              <a:ext uri="{FF2B5EF4-FFF2-40B4-BE49-F238E27FC236}">
                <a16:creationId xmlns:a16="http://schemas.microsoft.com/office/drawing/2014/main" id="{D0619BF1-892C-45F4-99CB-2FF6AD015471}"/>
              </a:ext>
            </a:extLst>
          </p:cNvPr>
          <p:cNvSpPr>
            <a:spLocks xmlns:a="http://schemas.openxmlformats.org/drawingml/2006/main" noGrp="1"/>
          </p:cNvSpPr>
          <p:nvPr/>
        </p:nvSpPr>
        <p:spPr>
          <a:xfrm xmlns:a="http://schemas.openxmlformats.org/drawingml/2006/main">
            <a:off x="11482388" y="4095750"/>
            <a:ext cx="2862263"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Update status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availability</a:t>
            </a:r>
          </a:p>
        </p:txBody>
      </p:sp>
      <p:sp>
        <p:nvSpPr>
          <p:cNvPr id="25" name="text-314">
            <a:extLst xmlns:a="http://schemas.openxmlformats.org/drawingml/2006/main">
              <a:ext uri="{FF2B5EF4-FFF2-40B4-BE49-F238E27FC236}">
                <a16:creationId xmlns:a16="http://schemas.microsoft.com/office/drawing/2014/main" id="{75F01860-5EC2-4586-AD3B-FBA9F28958BF}"/>
              </a:ext>
            </a:extLst>
          </p:cNvPr>
          <p:cNvSpPr>
            <a:spLocks xmlns:a="http://schemas.openxmlformats.org/drawingml/2006/main" noGrp="1"/>
          </p:cNvSpPr>
          <p:nvPr/>
        </p:nvSpPr>
        <p:spPr>
          <a:xfrm xmlns:a="http://schemas.openxmlformats.org/drawingml/2006/main">
            <a:off x="685800" y="5715000"/>
            <a:ext cx="638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03D43"/>
                </a:solidFill>
                <a:latin typeface="Aptos"/>
                <a:ea typeface="Aptos"/>
                <a:cs typeface="Aptos"/>
              </a:defRPr>
            </a:pPr>
            <a:r>
              <a:rPr sz="2625" b="1">
                <a:solidFill>
                  <a:srgbClr val="103D43"/>
                </a:solidFill>
                <a:latin typeface="Aptos"/>
                <a:ea typeface="Aptos"/>
                <a:cs typeface="Aptos"/>
              </a:rPr>
              <a:t>Client-defined allocation rules</a:t>
            </a:r>
          </a:p>
        </p:txBody>
      </p:sp>
      <p:sp>
        <p:nvSpPr>
          <p:cNvPr id="26" name="text-315">
            <a:extLst xmlns:a="http://schemas.openxmlformats.org/drawingml/2006/main">
              <a:ext uri="{FF2B5EF4-FFF2-40B4-BE49-F238E27FC236}">
                <a16:creationId xmlns:a16="http://schemas.microsoft.com/office/drawing/2014/main" id="{37059C26-60B5-42EB-BC7C-D2E565345EB4}"/>
              </a:ext>
            </a:extLst>
          </p:cNvPr>
          <p:cNvSpPr>
            <a:spLocks xmlns:a="http://schemas.openxmlformats.org/drawingml/2006/main" noGrp="1"/>
          </p:cNvSpPr>
          <p:nvPr/>
        </p:nvSpPr>
        <p:spPr>
          <a:xfrm xmlns:a="http://schemas.openxmlformats.org/drawingml/2006/main">
            <a:off x="685800" y="6353175"/>
            <a:ext cx="6762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Decide which SKUs live in each warehouse.</a:t>
            </a:r>
          </a:p>
        </p:txBody>
      </p:sp>
      <p:sp>
        <p:nvSpPr>
          <p:cNvPr id="27" name="text-316">
            <a:extLst xmlns:a="http://schemas.openxmlformats.org/drawingml/2006/main">
              <a:ext uri="{FF2B5EF4-FFF2-40B4-BE49-F238E27FC236}">
                <a16:creationId xmlns:a16="http://schemas.microsoft.com/office/drawing/2014/main" id="{47E3A23A-9A05-407A-929A-791CE944780E}"/>
              </a:ext>
            </a:extLst>
          </p:cNvPr>
          <p:cNvSpPr>
            <a:spLocks xmlns:a="http://schemas.openxmlformats.org/drawingml/2006/main" noGrp="1"/>
          </p:cNvSpPr>
          <p:nvPr/>
        </p:nvSpPr>
        <p:spPr>
          <a:xfrm xmlns:a="http://schemas.openxmlformats.org/drawingml/2006/main">
            <a:off x="8429625" y="5715000"/>
            <a:ext cx="6124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03D43"/>
                </a:solidFill>
                <a:latin typeface="Aptos"/>
                <a:ea typeface="Aptos"/>
                <a:cs typeface="Aptos"/>
              </a:defRPr>
            </a:pPr>
            <a:r>
              <a:rPr sz="2625" b="1">
                <a:solidFill>
                  <a:srgbClr val="103D43"/>
                </a:solidFill>
                <a:latin typeface="Aptos"/>
                <a:ea typeface="Aptos"/>
                <a:cs typeface="Aptos"/>
              </a:rPr>
              <a:t>Connection readiness</a:t>
            </a:r>
          </a:p>
        </p:txBody>
      </p:sp>
      <p:sp>
        <p:nvSpPr>
          <p:cNvPr id="28" name="text-317">
            <a:extLst xmlns:a="http://schemas.openxmlformats.org/drawingml/2006/main">
              <a:ext uri="{FF2B5EF4-FFF2-40B4-BE49-F238E27FC236}">
                <a16:creationId xmlns:a16="http://schemas.microsoft.com/office/drawing/2014/main" id="{B0E919D2-2B50-4366-B5EB-CC94DC534692}"/>
              </a:ext>
            </a:extLst>
          </p:cNvPr>
          <p:cNvSpPr>
            <a:spLocks xmlns:a="http://schemas.openxmlformats.org/drawingml/2006/main" noGrp="1"/>
          </p:cNvSpPr>
          <p:nvPr/>
        </p:nvSpPr>
        <p:spPr>
          <a:xfrm xmlns:a="http://schemas.openxmlformats.org/drawingml/2006/main">
            <a:off x="8429625" y="6353175"/>
            <a:ext cx="61245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Validate seller access and supported sync</a:t>
            </a:r>
          </a:p>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for each channel before rollout.</a:t>
            </a:r>
          </a:p>
        </p:txBody>
      </p:sp>
    </p:spTree>
    <p:extLst>
      <p:ext uri="{BB962C8B-B14F-4D97-AF65-F5344CB8AC3E}">
        <p14:creationId xmlns:p14="http://schemas.microsoft.com/office/powerpoint/2010/main" val="1923457647"/>
      </p:ext>
    </p:extLst>
  </p:cSld>
</p:sld>
</file>

<file path=ppt/slides/slide1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8" name="text-318">
            <a:extLst xmlns:a="http://schemas.openxmlformats.org/drawingml/2006/main">
              <a:ext uri="{FF2B5EF4-FFF2-40B4-BE49-F238E27FC236}">
                <a16:creationId xmlns:a16="http://schemas.microsoft.com/office/drawing/2014/main" id="{971AC555-1617-423B-AA11-450D29D808BD}"/>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07 / REPORTS &amp; DASHBOARDS — PLANNED</a:t>
            </a:r>
          </a:p>
        </p:txBody>
      </p:sp>
      <p:sp>
        <p:nvSpPr>
          <p:cNvPr id="2" name="text-319">
            <a:extLst xmlns:a="http://schemas.openxmlformats.org/drawingml/2006/main">
              <a:ext uri="{FF2B5EF4-FFF2-40B4-BE49-F238E27FC236}">
                <a16:creationId xmlns:a16="http://schemas.microsoft.com/office/drawing/2014/main" id="{C19274C4-0D2A-4ECA-8A27-85E1A6198407}"/>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See what each channel actually contributes</a:t>
            </a:r>
          </a:p>
        </p:txBody>
      </p:sp>
      <p:sp>
        <p:nvSpPr>
          <p:cNvPr id="3" name="rule-320">
            <a:extLst xmlns:a="http://schemas.openxmlformats.org/drawingml/2006/main">
              <a:ext uri="{FF2B5EF4-FFF2-40B4-BE49-F238E27FC236}">
                <a16:creationId xmlns:a16="http://schemas.microsoft.com/office/drawing/2014/main" id="{86070FD3-B462-4012-8672-E23672CF815A}"/>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321">
            <a:extLst xmlns:a="http://schemas.openxmlformats.org/drawingml/2006/main">
              <a:ext uri="{FF2B5EF4-FFF2-40B4-BE49-F238E27FC236}">
                <a16:creationId xmlns:a16="http://schemas.microsoft.com/office/drawing/2014/main" id="{075F4D7D-4DA4-4D64-AD2A-048FC1AB1E49}"/>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322">
            <a:extLst xmlns:a="http://schemas.openxmlformats.org/drawingml/2006/main">
              <a:ext uri="{FF2B5EF4-FFF2-40B4-BE49-F238E27FC236}">
                <a16:creationId xmlns:a16="http://schemas.microsoft.com/office/drawing/2014/main" id="{A9B66BA1-1149-4F5A-A1EC-FD315B73F47E}"/>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14</a:t>
            </a:r>
          </a:p>
        </p:txBody>
      </p:sp>
      <p:sp>
        <p:nvSpPr>
          <p:cNvPr id="6" name="text-323">
            <a:extLst xmlns:a="http://schemas.openxmlformats.org/drawingml/2006/main">
              <a:ext uri="{FF2B5EF4-FFF2-40B4-BE49-F238E27FC236}">
                <a16:creationId xmlns:a16="http://schemas.microsoft.com/office/drawing/2014/main" id="{F48D6ECC-1570-40AE-A0E7-FA766DBBAC13}"/>
              </a:ext>
            </a:extLst>
          </p:cNvPr>
          <p:cNvSpPr>
            <a:spLocks xmlns:a="http://schemas.openxmlformats.org/drawingml/2006/main" noGrp="1"/>
          </p:cNvSpPr>
          <p:nvPr/>
        </p:nvSpPr>
        <p:spPr>
          <a:xfrm xmlns:a="http://schemas.openxmlformats.org/drawingml/2006/main">
            <a:off x="685800" y="2362200"/>
            <a:ext cx="138684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103D43"/>
                </a:solidFill>
                <a:latin typeface="Aptos"/>
                <a:ea typeface="Aptos"/>
                <a:cs typeface="Aptos"/>
              </a:defRPr>
            </a:pPr>
            <a:r>
              <a:rPr sz="3975" b="1">
                <a:solidFill>
                  <a:srgbClr val="103D43"/>
                </a:solidFill>
                <a:latin typeface="Aptos"/>
                <a:ea typeface="Aptos"/>
                <a:cs typeface="Aptos"/>
              </a:rPr>
              <a:t>Order contribution</a:t>
            </a:r>
          </a:p>
        </p:txBody>
      </p:sp>
      <p:sp>
        <p:nvSpPr>
          <p:cNvPr id="7" name="text-324">
            <a:extLst xmlns:a="http://schemas.openxmlformats.org/drawingml/2006/main">
              <a:ext uri="{FF2B5EF4-FFF2-40B4-BE49-F238E27FC236}">
                <a16:creationId xmlns:a16="http://schemas.microsoft.com/office/drawing/2014/main" id="{29AE1EA6-4DCB-402B-8DD0-C5DF630F72C5}"/>
              </a:ext>
            </a:extLst>
          </p:cNvPr>
          <p:cNvSpPr>
            <a:spLocks xmlns:a="http://schemas.openxmlformats.org/drawingml/2006/main" noGrp="1"/>
          </p:cNvSpPr>
          <p:nvPr/>
        </p:nvSpPr>
        <p:spPr>
          <a:xfrm xmlns:a="http://schemas.openxmlformats.org/drawingml/2006/main">
            <a:off x="685800" y="3343275"/>
            <a:ext cx="138684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3716D"/>
                </a:solidFill>
                <a:latin typeface="Aptos"/>
                <a:ea typeface="Aptos"/>
                <a:cs typeface="Aptos"/>
              </a:defRPr>
            </a:pPr>
            <a:r>
              <a:rPr sz="3150" b="1">
                <a:solidFill>
                  <a:srgbClr val="23716D"/>
                </a:solidFill>
                <a:latin typeface="Aptos"/>
                <a:ea typeface="Aptos"/>
                <a:cs typeface="Aptos"/>
              </a:rPr>
              <a:t>Sales − discounts − refunds − channel fees</a:t>
            </a:r>
          </a:p>
          <a:p xmlns:a="http://schemas.openxmlformats.org/drawingml/2006/main">
            <a:pPr algn="l">
              <a:defRPr sz="3150" b="1">
                <a:solidFill>
                  <a:srgbClr val="23716D"/>
                </a:solidFill>
                <a:latin typeface="Aptos"/>
                <a:ea typeface="Aptos"/>
                <a:cs typeface="Aptos"/>
              </a:defRPr>
            </a:pPr>
            <a:r>
              <a:rPr sz="3150" b="1">
                <a:solidFill>
                  <a:srgbClr val="23716D"/>
                </a:solidFill>
                <a:latin typeface="Aptos"/>
                <a:ea typeface="Aptos"/>
                <a:cs typeface="Aptos"/>
              </a:rPr>
              <a:t>− shipping cost − product cost</a:t>
            </a:r>
          </a:p>
        </p:txBody>
      </p:sp>
      <p:sp>
        <p:nvSpPr>
          <p:cNvPr id="8" name="rule-325">
            <a:extLst xmlns:a="http://schemas.openxmlformats.org/drawingml/2006/main">
              <a:ext uri="{FF2B5EF4-FFF2-40B4-BE49-F238E27FC236}">
                <a16:creationId xmlns:a16="http://schemas.microsoft.com/office/drawing/2014/main" id="{729DDB7E-24AA-44D4-B533-2799BB710B96}"/>
              </a:ext>
            </a:extLst>
          </p:cNvPr>
          <p:cNvSpPr>
            <a:spLocks xmlns:a="http://schemas.openxmlformats.org/drawingml/2006/main" noGrp="1"/>
          </p:cNvSpPr>
          <p:nvPr/>
        </p:nvSpPr>
        <p:spPr>
          <a:xfrm xmlns:a="http://schemas.openxmlformats.org/drawingml/2006/main">
            <a:off x="685800" y="4876800"/>
            <a:ext cx="138684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9" name="rule-326">
            <a:extLst xmlns:a="http://schemas.openxmlformats.org/drawingml/2006/main">
              <a:ext uri="{FF2B5EF4-FFF2-40B4-BE49-F238E27FC236}">
                <a16:creationId xmlns:a16="http://schemas.microsoft.com/office/drawing/2014/main" id="{3B7FBF56-546D-4908-A0A3-F6F3052F69F3}"/>
              </a:ext>
            </a:extLst>
          </p:cNvPr>
          <p:cNvSpPr>
            <a:spLocks xmlns:a="http://schemas.openxmlformats.org/drawingml/2006/main" noGrp="1"/>
          </p:cNvSpPr>
          <p:nvPr/>
        </p:nvSpPr>
        <p:spPr>
          <a:xfrm xmlns:a="http://schemas.openxmlformats.org/drawingml/2006/main">
            <a:off x="685800" y="530542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10" name="text-327">
            <a:extLst xmlns:a="http://schemas.openxmlformats.org/drawingml/2006/main">
              <a:ext uri="{FF2B5EF4-FFF2-40B4-BE49-F238E27FC236}">
                <a16:creationId xmlns:a16="http://schemas.microsoft.com/office/drawing/2014/main" id="{55EFFCBB-DC58-44D9-8189-B10B2B485513}"/>
              </a:ext>
            </a:extLst>
          </p:cNvPr>
          <p:cNvSpPr>
            <a:spLocks xmlns:a="http://schemas.openxmlformats.org/drawingml/2006/main" noGrp="1"/>
          </p:cNvSpPr>
          <p:nvPr/>
        </p:nvSpPr>
        <p:spPr>
          <a:xfrm xmlns:a="http://schemas.openxmlformats.org/drawingml/2006/main">
            <a:off x="685800" y="5534025"/>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Compare</a:t>
            </a:r>
          </a:p>
        </p:txBody>
      </p:sp>
      <p:sp>
        <p:nvSpPr>
          <p:cNvPr id="11" name="text-328">
            <a:extLst xmlns:a="http://schemas.openxmlformats.org/drawingml/2006/main">
              <a:ext uri="{FF2B5EF4-FFF2-40B4-BE49-F238E27FC236}">
                <a16:creationId xmlns:a16="http://schemas.microsoft.com/office/drawing/2014/main" id="{7BF77529-01FE-4D19-8B43-5320124A3114}"/>
              </a:ext>
            </a:extLst>
          </p:cNvPr>
          <p:cNvSpPr>
            <a:spLocks xmlns:a="http://schemas.openxmlformats.org/drawingml/2006/main" noGrp="1"/>
          </p:cNvSpPr>
          <p:nvPr/>
        </p:nvSpPr>
        <p:spPr>
          <a:xfrm xmlns:a="http://schemas.openxmlformats.org/drawingml/2006/main">
            <a:off x="685800" y="6534150"/>
            <a:ext cx="4038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Order • channel • brand</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Retail vs. wholesale</a:t>
            </a:r>
          </a:p>
        </p:txBody>
      </p:sp>
      <p:sp>
        <p:nvSpPr>
          <p:cNvPr id="12" name="rule-329">
            <a:extLst xmlns:a="http://schemas.openxmlformats.org/drawingml/2006/main">
              <a:ext uri="{FF2B5EF4-FFF2-40B4-BE49-F238E27FC236}">
                <a16:creationId xmlns:a16="http://schemas.microsoft.com/office/drawing/2014/main" id="{BEB9229F-1337-45EA-B2E6-3386F69AF59B}"/>
              </a:ext>
            </a:extLst>
          </p:cNvPr>
          <p:cNvSpPr>
            <a:spLocks xmlns:a="http://schemas.openxmlformats.org/drawingml/2006/main" noGrp="1"/>
          </p:cNvSpPr>
          <p:nvPr/>
        </p:nvSpPr>
        <p:spPr>
          <a:xfrm xmlns:a="http://schemas.openxmlformats.org/drawingml/2006/main">
            <a:off x="5372100" y="530542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13" name="text-330">
            <a:extLst xmlns:a="http://schemas.openxmlformats.org/drawingml/2006/main">
              <a:ext uri="{FF2B5EF4-FFF2-40B4-BE49-F238E27FC236}">
                <a16:creationId xmlns:a16="http://schemas.microsoft.com/office/drawing/2014/main" id="{B5C7BDC2-82FC-4B6F-9AD7-1619F825B0A2}"/>
              </a:ext>
            </a:extLst>
          </p:cNvPr>
          <p:cNvSpPr>
            <a:spLocks xmlns:a="http://schemas.openxmlformats.org/drawingml/2006/main" noGrp="1"/>
          </p:cNvSpPr>
          <p:nvPr/>
        </p:nvSpPr>
        <p:spPr>
          <a:xfrm xmlns:a="http://schemas.openxmlformats.org/drawingml/2006/main">
            <a:off x="5372100" y="5534025"/>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Spot exceptions</a:t>
            </a:r>
          </a:p>
        </p:txBody>
      </p:sp>
      <p:sp>
        <p:nvSpPr>
          <p:cNvPr id="14" name="text-331">
            <a:extLst xmlns:a="http://schemas.openxmlformats.org/drawingml/2006/main">
              <a:ext uri="{FF2B5EF4-FFF2-40B4-BE49-F238E27FC236}">
                <a16:creationId xmlns:a16="http://schemas.microsoft.com/office/drawing/2014/main" id="{BDCA12C9-1A2A-4240-85FA-02F0FB17D88A}"/>
              </a:ext>
            </a:extLst>
          </p:cNvPr>
          <p:cNvSpPr>
            <a:spLocks xmlns:a="http://schemas.openxmlformats.org/drawingml/2006/main" noGrp="1"/>
          </p:cNvSpPr>
          <p:nvPr/>
        </p:nvSpPr>
        <p:spPr>
          <a:xfrm xmlns:a="http://schemas.openxmlformats.org/drawingml/2006/main">
            <a:off x="5372100" y="6534150"/>
            <a:ext cx="4038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Slow stock • weak contribution</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Returns • reconciliation gaps</a:t>
            </a:r>
          </a:p>
        </p:txBody>
      </p:sp>
      <p:sp>
        <p:nvSpPr>
          <p:cNvPr id="15" name="rule-332">
            <a:extLst xmlns:a="http://schemas.openxmlformats.org/drawingml/2006/main">
              <a:ext uri="{FF2B5EF4-FFF2-40B4-BE49-F238E27FC236}">
                <a16:creationId xmlns:a16="http://schemas.microsoft.com/office/drawing/2014/main" id="{1598891C-DB46-45B2-8791-8A12C01062E4}"/>
              </a:ext>
            </a:extLst>
          </p:cNvPr>
          <p:cNvSpPr>
            <a:spLocks xmlns:a="http://schemas.openxmlformats.org/drawingml/2006/main" noGrp="1"/>
          </p:cNvSpPr>
          <p:nvPr/>
        </p:nvSpPr>
        <p:spPr>
          <a:xfrm xmlns:a="http://schemas.openxmlformats.org/drawingml/2006/main">
            <a:off x="10058400" y="530542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16" name="text-333">
            <a:extLst xmlns:a="http://schemas.openxmlformats.org/drawingml/2006/main">
              <a:ext uri="{FF2B5EF4-FFF2-40B4-BE49-F238E27FC236}">
                <a16:creationId xmlns:a16="http://schemas.microsoft.com/office/drawing/2014/main" id="{F7585984-A074-4DA5-A42C-996487A07FA8}"/>
              </a:ext>
            </a:extLst>
          </p:cNvPr>
          <p:cNvSpPr>
            <a:spLocks xmlns:a="http://schemas.openxmlformats.org/drawingml/2006/main" noGrp="1"/>
          </p:cNvSpPr>
          <p:nvPr/>
        </p:nvSpPr>
        <p:spPr>
          <a:xfrm xmlns:a="http://schemas.openxmlformats.org/drawingml/2006/main">
            <a:off x="10058400" y="5534025"/>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Act</a:t>
            </a:r>
          </a:p>
        </p:txBody>
      </p:sp>
      <p:sp>
        <p:nvSpPr>
          <p:cNvPr id="17" name="text-334">
            <a:extLst xmlns:a="http://schemas.openxmlformats.org/drawingml/2006/main">
              <a:ext uri="{FF2B5EF4-FFF2-40B4-BE49-F238E27FC236}">
                <a16:creationId xmlns:a16="http://schemas.microsoft.com/office/drawing/2014/main" id="{359FDAE4-9EDD-4035-AD91-7C506567B73D}"/>
              </a:ext>
            </a:extLst>
          </p:cNvPr>
          <p:cNvSpPr>
            <a:spLocks xmlns:a="http://schemas.openxmlformats.org/drawingml/2006/main" noGrp="1"/>
          </p:cNvSpPr>
          <p:nvPr/>
        </p:nvSpPr>
        <p:spPr>
          <a:xfrm xmlns:a="http://schemas.openxmlformats.org/drawingml/2006/main">
            <a:off x="10058400" y="6534150"/>
            <a:ext cx="4038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Adjust buying, pricing</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and channel priorities</a:t>
            </a:r>
          </a:p>
        </p:txBody>
      </p:sp>
    </p:spTree>
    <p:extLst>
      <p:ext uri="{BB962C8B-B14F-4D97-AF65-F5344CB8AC3E}">
        <p14:creationId xmlns:p14="http://schemas.microsoft.com/office/powerpoint/2010/main" val="1170615452"/>
      </p:ext>
    </p:extLst>
  </p:cSld>
</p:sld>
</file>

<file path=ppt/slides/slide15.xml><?xml version="1.0" encoding="utf-8"?>
<p:sld xmlns:p="http://schemas.openxmlformats.org/presentationml/2006/main">
  <p:cSld>
    <p:bg>
      <p:bgPr>
        <a:solidFill xmlns:a="http://schemas.openxmlformats.org/drawingml/2006/main">
          <a:srgbClr val="082C34"/>
        </a:solidFill>
      </p:bgPr>
    </p:bg>
    <p:spTree>
      <p:nvGrpSpPr>
        <p:cNvPr id="1" name=""/>
        <p:cNvGrpSpPr/>
        <p:nvPr/>
      </p:nvGrpSpPr>
      <p:grpSpPr>
        <a:xfrm xmlns:a="http://schemas.openxmlformats.org/drawingml/2006/main"/>
      </p:grpSpPr>
      <p:sp>
        <p:nvSpPr>
          <p:cNvPr id="18" name="text-335">
            <a:extLst xmlns:a="http://schemas.openxmlformats.org/drawingml/2006/main">
              <a:ext uri="{FF2B5EF4-FFF2-40B4-BE49-F238E27FC236}">
                <a16:creationId xmlns:a16="http://schemas.microsoft.com/office/drawing/2014/main" id="{7D442CAF-BBE0-4522-AD78-93ADE210FF4F}"/>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B28B4E"/>
                </a:solidFill>
                <a:latin typeface="Aptos"/>
                <a:ea typeface="Aptos"/>
                <a:cs typeface="Aptos"/>
              </a:defRPr>
            </a:pPr>
            <a:r>
              <a:rPr sz="1650" b="1">
                <a:solidFill>
                  <a:srgbClr val="B28B4E"/>
                </a:solidFill>
                <a:latin typeface="Aptos"/>
                <a:ea typeface="Aptos"/>
                <a:cs typeface="Aptos"/>
              </a:rPr>
              <a:t>08 / SMART DEMAND FORECASTING — PLANNED</a:t>
            </a:r>
          </a:p>
        </p:txBody>
      </p:sp>
      <p:sp>
        <p:nvSpPr>
          <p:cNvPr id="2" name="text-336">
            <a:extLst xmlns:a="http://schemas.openxmlformats.org/drawingml/2006/main">
              <a:ext uri="{FF2B5EF4-FFF2-40B4-BE49-F238E27FC236}">
                <a16:creationId xmlns:a16="http://schemas.microsoft.com/office/drawing/2014/main" id="{1829D3B2-D47B-445B-BCCF-8B1378DEE545}"/>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F7F5EE"/>
                </a:solidFill>
                <a:latin typeface="Aptos"/>
                <a:ea typeface="Aptos"/>
                <a:cs typeface="Aptos"/>
              </a:defRPr>
            </a:pPr>
            <a:r>
              <a:rPr sz="3900" b="1">
                <a:solidFill>
                  <a:srgbClr val="F7F5EE"/>
                </a:solidFill>
                <a:latin typeface="Aptos"/>
                <a:ea typeface="Aptos"/>
                <a:cs typeface="Aptos"/>
              </a:rPr>
              <a:t>Turn demand history into a buying plan</a:t>
            </a:r>
          </a:p>
        </p:txBody>
      </p:sp>
      <p:sp>
        <p:nvSpPr>
          <p:cNvPr id="3" name="rule-337">
            <a:extLst xmlns:a="http://schemas.openxmlformats.org/drawingml/2006/main">
              <a:ext uri="{FF2B5EF4-FFF2-40B4-BE49-F238E27FC236}">
                <a16:creationId xmlns:a16="http://schemas.microsoft.com/office/drawing/2014/main" id="{7F8668F2-D764-4245-A327-D6C16D5BA302}"/>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335158"/>
          </a:solidFill>
          <a:ln xmlns:a="http://schemas.openxmlformats.org/drawingml/2006/main" w="0">
            <a:noFill/>
            <a:prstDash val="solid"/>
          </a:ln>
        </p:spPr>
      </p:sp>
      <p:sp>
        <p:nvSpPr>
          <p:cNvPr id="4" name="text-338">
            <a:extLst xmlns:a="http://schemas.openxmlformats.org/drawingml/2006/main">
              <a:ext uri="{FF2B5EF4-FFF2-40B4-BE49-F238E27FC236}">
                <a16:creationId xmlns:a16="http://schemas.microsoft.com/office/drawing/2014/main" id="{5A019FE3-83BB-4FE6-B55C-7FAC67B1C05F}"/>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AFC4C1"/>
                </a:solidFill>
                <a:latin typeface="Aptos"/>
                <a:ea typeface="Aptos"/>
                <a:cs typeface="Aptos"/>
              </a:defRPr>
            </a:pPr>
            <a:r>
              <a:rPr sz="1500" b="1">
                <a:solidFill>
                  <a:srgbClr val="AFC4C1"/>
                </a:solidFill>
                <a:latin typeface="Aptos"/>
                <a:ea typeface="Aptos"/>
                <a:cs typeface="Aptos"/>
              </a:rPr>
              <a:t>FLAIR COSMETIC &amp; FRAGRANCE</a:t>
            </a:r>
          </a:p>
        </p:txBody>
      </p:sp>
      <p:sp>
        <p:nvSpPr>
          <p:cNvPr id="5" name="text-339">
            <a:extLst xmlns:a="http://schemas.openxmlformats.org/drawingml/2006/main">
              <a:ext uri="{FF2B5EF4-FFF2-40B4-BE49-F238E27FC236}">
                <a16:creationId xmlns:a16="http://schemas.microsoft.com/office/drawing/2014/main" id="{00EFE08E-2941-444C-874F-4395E80C2638}"/>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B28B4E"/>
                </a:solidFill>
                <a:latin typeface="Aptos"/>
                <a:ea typeface="Aptos"/>
                <a:cs typeface="Aptos"/>
              </a:defRPr>
            </a:pPr>
            <a:r>
              <a:rPr sz="1950" b="1">
                <a:solidFill>
                  <a:srgbClr val="B28B4E"/>
                </a:solidFill>
                <a:latin typeface="Aptos"/>
                <a:ea typeface="Aptos"/>
                <a:cs typeface="Aptos"/>
              </a:rPr>
              <a:t>15</a:t>
            </a:r>
          </a:p>
        </p:txBody>
      </p:sp>
      <p:sp>
        <p:nvSpPr>
          <p:cNvPr id="6" name="text-340">
            <a:extLst xmlns:a="http://schemas.openxmlformats.org/drawingml/2006/main">
              <a:ext uri="{FF2B5EF4-FFF2-40B4-BE49-F238E27FC236}">
                <a16:creationId xmlns:a16="http://schemas.microsoft.com/office/drawing/2014/main" id="{B0E5C505-72E1-48A6-B5AF-E0096F7CBBEF}"/>
              </a:ext>
            </a:extLst>
          </p:cNvPr>
          <p:cNvSpPr>
            <a:spLocks xmlns:a="http://schemas.openxmlformats.org/drawingml/2006/main" noGrp="1"/>
          </p:cNvSpPr>
          <p:nvPr/>
        </p:nvSpPr>
        <p:spPr>
          <a:xfrm xmlns:a="http://schemas.openxmlformats.org/drawingml/2006/main">
            <a:off x="685800" y="2133600"/>
            <a:ext cx="138684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F7F5EE"/>
                </a:solidFill>
                <a:latin typeface="Aptos"/>
                <a:ea typeface="Aptos"/>
                <a:cs typeface="Aptos"/>
              </a:defRPr>
            </a:pPr>
            <a:r>
              <a:rPr sz="4125" b="1">
                <a:solidFill>
                  <a:srgbClr val="F7F5EE"/>
                </a:solidFill>
                <a:latin typeface="Aptos"/>
                <a:ea typeface="Aptos"/>
                <a:cs typeface="Aptos"/>
              </a:rPr>
              <a:t>What to buy. How much. When.</a:t>
            </a:r>
          </a:p>
        </p:txBody>
      </p:sp>
      <p:sp>
        <p:nvSpPr>
          <p:cNvPr id="7" name="edge-341">
            <a:extLst xmlns:a="http://schemas.openxmlformats.org/drawingml/2006/main">
              <a:ext uri="{FF2B5EF4-FFF2-40B4-BE49-F238E27FC236}">
                <a16:creationId xmlns:a16="http://schemas.microsoft.com/office/drawing/2014/main" id="{415CF8EE-282B-49A6-8A1A-17FD79A498EA}"/>
              </a:ext>
            </a:extLst>
          </p:cNvPr>
          <p:cNvSpPr>
            <a:spLocks xmlns:a="http://schemas.openxmlformats.org/drawingml/2006/main" noGrp="1"/>
          </p:cNvSpPr>
          <p:nvPr/>
        </p:nvSpPr>
        <p:spPr>
          <a:xfrm xmlns:a="http://schemas.openxmlformats.org/drawingml/2006/main" flipH="0" flipV="0">
            <a:off x="685800" y="3705225"/>
            <a:ext cx="138684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8" name="text-342">
            <a:extLst xmlns:a="http://schemas.openxmlformats.org/drawingml/2006/main">
              <a:ext uri="{FF2B5EF4-FFF2-40B4-BE49-F238E27FC236}">
                <a16:creationId xmlns:a16="http://schemas.microsoft.com/office/drawing/2014/main" id="{0CF3FD8D-4422-4DCC-BD7C-7D204B0165C1}"/>
              </a:ext>
            </a:extLst>
          </p:cNvPr>
          <p:cNvSpPr>
            <a:spLocks xmlns:a="http://schemas.openxmlformats.org/drawingml/2006/main" noGrp="1"/>
          </p:cNvSpPr>
          <p:nvPr/>
        </p:nvSpPr>
        <p:spPr>
          <a:xfrm xmlns:a="http://schemas.openxmlformats.org/drawingml/2006/main">
            <a:off x="685800" y="3181350"/>
            <a:ext cx="381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B28B4E"/>
                </a:solidFill>
                <a:latin typeface="Aptos"/>
                <a:ea typeface="Aptos"/>
                <a:cs typeface="Aptos"/>
              </a:defRPr>
            </a:pPr>
            <a:r>
              <a:rPr sz="2700" b="1">
                <a:solidFill>
                  <a:srgbClr val="B28B4E"/>
                </a:solidFill>
                <a:latin typeface="Aptos"/>
                <a:ea typeface="Aptos"/>
                <a:cs typeface="Aptos"/>
              </a:rPr>
              <a:t>01</a:t>
            </a:r>
          </a:p>
        </p:txBody>
      </p:sp>
      <p:sp>
        <p:nvSpPr>
          <p:cNvPr id="9" name="text-343">
            <a:extLst xmlns:a="http://schemas.openxmlformats.org/drawingml/2006/main">
              <a:ext uri="{FF2B5EF4-FFF2-40B4-BE49-F238E27FC236}">
                <a16:creationId xmlns:a16="http://schemas.microsoft.com/office/drawing/2014/main" id="{CE5948FF-96E6-4EA3-B599-CF4BB5CD7FFE}"/>
              </a:ext>
            </a:extLst>
          </p:cNvPr>
          <p:cNvSpPr>
            <a:spLocks xmlns:a="http://schemas.openxmlformats.org/drawingml/2006/main" noGrp="1"/>
          </p:cNvSpPr>
          <p:nvPr/>
        </p:nvSpPr>
        <p:spPr>
          <a:xfrm xmlns:a="http://schemas.openxmlformats.org/drawingml/2006/main">
            <a:off x="685800" y="4124325"/>
            <a:ext cx="4114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7F5EE"/>
                </a:solidFill>
                <a:latin typeface="Aptos"/>
                <a:ea typeface="Aptos"/>
                <a:cs typeface="Aptos"/>
              </a:defRPr>
            </a:pPr>
            <a:r>
              <a:rPr sz="2700" b="1">
                <a:solidFill>
                  <a:srgbClr val="F7F5EE"/>
                </a:solidFill>
                <a:latin typeface="Aptos"/>
                <a:ea typeface="Aptos"/>
                <a:cs typeface="Aptos"/>
              </a:rPr>
              <a:t>Read demand</a:t>
            </a:r>
          </a:p>
        </p:txBody>
      </p:sp>
      <p:sp>
        <p:nvSpPr>
          <p:cNvPr id="10" name="text-344">
            <a:extLst xmlns:a="http://schemas.openxmlformats.org/drawingml/2006/main">
              <a:ext uri="{FF2B5EF4-FFF2-40B4-BE49-F238E27FC236}">
                <a16:creationId xmlns:a16="http://schemas.microsoft.com/office/drawing/2014/main" id="{1181D189-71F7-42CB-975C-0FDB8B55A0B0}"/>
              </a:ext>
            </a:extLst>
          </p:cNvPr>
          <p:cNvSpPr>
            <a:spLocks xmlns:a="http://schemas.openxmlformats.org/drawingml/2006/main" noGrp="1"/>
          </p:cNvSpPr>
          <p:nvPr/>
        </p:nvSpPr>
        <p:spPr>
          <a:xfrm xmlns:a="http://schemas.openxmlformats.org/drawingml/2006/main">
            <a:off x="685800" y="4857750"/>
            <a:ext cx="411480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CBDAD6"/>
                </a:solidFill>
                <a:latin typeface="Aptos"/>
                <a:ea typeface="Aptos"/>
                <a:cs typeface="Aptos"/>
              </a:defRPr>
            </a:pPr>
            <a:r>
              <a:rPr sz="2325" b="0">
                <a:solidFill>
                  <a:srgbClr val="CBDAD6"/>
                </a:solidFill>
                <a:latin typeface="Aptos"/>
                <a:ea typeface="Aptos"/>
                <a:cs typeface="Aptos"/>
              </a:rPr>
              <a:t>30 / 60 / 90-day sales</a:t>
            </a:r>
          </a:p>
          <a:p xmlns:a="http://schemas.openxmlformats.org/drawingml/2006/main">
            <a:pPr algn="l">
              <a:defRPr sz="2325" b="0">
                <a:solidFill>
                  <a:srgbClr val="CBDAD6"/>
                </a:solidFill>
                <a:latin typeface="Aptos"/>
                <a:ea typeface="Aptos"/>
                <a:cs typeface="Aptos"/>
              </a:defRPr>
            </a:pPr>
            <a:r>
              <a:rPr sz="2325" b="0">
                <a:solidFill>
                  <a:srgbClr val="CBDAD6"/>
                </a:solidFill>
                <a:latin typeface="Aptos"/>
                <a:ea typeface="Aptos"/>
                <a:cs typeface="Aptos"/>
              </a:rPr>
              <a:t>and inventory history</a:t>
            </a:r>
          </a:p>
        </p:txBody>
      </p:sp>
      <p:sp>
        <p:nvSpPr>
          <p:cNvPr id="11" name="text-345">
            <a:extLst xmlns:a="http://schemas.openxmlformats.org/drawingml/2006/main">
              <a:ext uri="{FF2B5EF4-FFF2-40B4-BE49-F238E27FC236}">
                <a16:creationId xmlns:a16="http://schemas.microsoft.com/office/drawing/2014/main" id="{169A9858-562F-4BC7-8BB6-B1E29D4AF717}"/>
              </a:ext>
            </a:extLst>
          </p:cNvPr>
          <p:cNvSpPr>
            <a:spLocks xmlns:a="http://schemas.openxmlformats.org/drawingml/2006/main" noGrp="1"/>
          </p:cNvSpPr>
          <p:nvPr/>
        </p:nvSpPr>
        <p:spPr>
          <a:xfrm xmlns:a="http://schemas.openxmlformats.org/drawingml/2006/main">
            <a:off x="5562600" y="3181350"/>
            <a:ext cx="381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B28B4E"/>
                </a:solidFill>
                <a:latin typeface="Aptos"/>
                <a:ea typeface="Aptos"/>
                <a:cs typeface="Aptos"/>
              </a:defRPr>
            </a:pPr>
            <a:r>
              <a:rPr sz="2700" b="1">
                <a:solidFill>
                  <a:srgbClr val="B28B4E"/>
                </a:solidFill>
                <a:latin typeface="Aptos"/>
                <a:ea typeface="Aptos"/>
                <a:cs typeface="Aptos"/>
              </a:rPr>
              <a:t>02</a:t>
            </a:r>
          </a:p>
        </p:txBody>
      </p:sp>
      <p:sp>
        <p:nvSpPr>
          <p:cNvPr id="12" name="text-346">
            <a:extLst xmlns:a="http://schemas.openxmlformats.org/drawingml/2006/main">
              <a:ext uri="{FF2B5EF4-FFF2-40B4-BE49-F238E27FC236}">
                <a16:creationId xmlns:a16="http://schemas.microsoft.com/office/drawing/2014/main" id="{62F70F7C-CE81-414E-A5D1-52E38D2E2F8E}"/>
              </a:ext>
            </a:extLst>
          </p:cNvPr>
          <p:cNvSpPr>
            <a:spLocks xmlns:a="http://schemas.openxmlformats.org/drawingml/2006/main" noGrp="1"/>
          </p:cNvSpPr>
          <p:nvPr/>
        </p:nvSpPr>
        <p:spPr>
          <a:xfrm xmlns:a="http://schemas.openxmlformats.org/drawingml/2006/main">
            <a:off x="5562600" y="4124325"/>
            <a:ext cx="4114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7F5EE"/>
                </a:solidFill>
                <a:latin typeface="Aptos"/>
                <a:ea typeface="Aptos"/>
                <a:cs typeface="Aptos"/>
              </a:defRPr>
            </a:pPr>
            <a:r>
              <a:rPr sz="2700" b="1">
                <a:solidFill>
                  <a:srgbClr val="F7F5EE"/>
                </a:solidFill>
                <a:latin typeface="Aptos"/>
                <a:ea typeface="Aptos"/>
                <a:cs typeface="Aptos"/>
              </a:rPr>
              <a:t>Recommend</a:t>
            </a:r>
          </a:p>
        </p:txBody>
      </p:sp>
      <p:sp>
        <p:nvSpPr>
          <p:cNvPr id="13" name="text-347">
            <a:extLst xmlns:a="http://schemas.openxmlformats.org/drawingml/2006/main">
              <a:ext uri="{FF2B5EF4-FFF2-40B4-BE49-F238E27FC236}">
                <a16:creationId xmlns:a16="http://schemas.microsoft.com/office/drawing/2014/main" id="{D89CBA42-A358-4276-B9B1-3EC6257974FA}"/>
              </a:ext>
            </a:extLst>
          </p:cNvPr>
          <p:cNvSpPr>
            <a:spLocks xmlns:a="http://schemas.openxmlformats.org/drawingml/2006/main" noGrp="1"/>
          </p:cNvSpPr>
          <p:nvPr/>
        </p:nvSpPr>
        <p:spPr>
          <a:xfrm xmlns:a="http://schemas.openxmlformats.org/drawingml/2006/main">
            <a:off x="5562600" y="4857750"/>
            <a:ext cx="411480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CBDAD6"/>
                </a:solidFill>
                <a:latin typeface="Aptos"/>
                <a:ea typeface="Aptos"/>
                <a:cs typeface="Aptos"/>
              </a:defRPr>
            </a:pPr>
            <a:r>
              <a:rPr sz="2325" b="0">
                <a:solidFill>
                  <a:srgbClr val="CBDAD6"/>
                </a:solidFill>
                <a:latin typeface="Aptos"/>
                <a:ea typeface="Aptos"/>
                <a:cs typeface="Aptos"/>
              </a:rPr>
              <a:t>Reorder quantities, safety</a:t>
            </a:r>
          </a:p>
          <a:p xmlns:a="http://schemas.openxmlformats.org/drawingml/2006/main">
            <a:pPr algn="l">
              <a:defRPr sz="2325" b="0">
                <a:solidFill>
                  <a:srgbClr val="CBDAD6"/>
                </a:solidFill>
                <a:latin typeface="Aptos"/>
                <a:ea typeface="Aptos"/>
                <a:cs typeface="Aptos"/>
              </a:defRPr>
            </a:pPr>
            <a:r>
              <a:rPr sz="2325" b="0">
                <a:solidFill>
                  <a:srgbClr val="CBDAD6"/>
                </a:solidFill>
                <a:latin typeface="Aptos"/>
                <a:ea typeface="Aptos"/>
                <a:cs typeface="Aptos"/>
              </a:rPr>
              <a:t>stock and seasonal needs</a:t>
            </a:r>
          </a:p>
        </p:txBody>
      </p:sp>
      <p:sp>
        <p:nvSpPr>
          <p:cNvPr id="14" name="text-348">
            <a:extLst xmlns:a="http://schemas.openxmlformats.org/drawingml/2006/main">
              <a:ext uri="{FF2B5EF4-FFF2-40B4-BE49-F238E27FC236}">
                <a16:creationId xmlns:a16="http://schemas.microsoft.com/office/drawing/2014/main" id="{45801C35-6E86-4DB6-AF3E-8993F00B5E14}"/>
              </a:ext>
            </a:extLst>
          </p:cNvPr>
          <p:cNvSpPr>
            <a:spLocks xmlns:a="http://schemas.openxmlformats.org/drawingml/2006/main" noGrp="1"/>
          </p:cNvSpPr>
          <p:nvPr/>
        </p:nvSpPr>
        <p:spPr>
          <a:xfrm xmlns:a="http://schemas.openxmlformats.org/drawingml/2006/main">
            <a:off x="10439400" y="3181350"/>
            <a:ext cx="381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B28B4E"/>
                </a:solidFill>
                <a:latin typeface="Aptos"/>
                <a:ea typeface="Aptos"/>
                <a:cs typeface="Aptos"/>
              </a:defRPr>
            </a:pPr>
            <a:r>
              <a:rPr sz="2700" b="1">
                <a:solidFill>
                  <a:srgbClr val="B28B4E"/>
                </a:solidFill>
                <a:latin typeface="Aptos"/>
                <a:ea typeface="Aptos"/>
                <a:cs typeface="Aptos"/>
              </a:rPr>
              <a:t>03</a:t>
            </a:r>
          </a:p>
        </p:txBody>
      </p:sp>
      <p:sp>
        <p:nvSpPr>
          <p:cNvPr id="15" name="text-349">
            <a:extLst xmlns:a="http://schemas.openxmlformats.org/drawingml/2006/main">
              <a:ext uri="{FF2B5EF4-FFF2-40B4-BE49-F238E27FC236}">
                <a16:creationId xmlns:a16="http://schemas.microsoft.com/office/drawing/2014/main" id="{6230BBD9-8204-4F04-ACBA-5BD242982FA9}"/>
              </a:ext>
            </a:extLst>
          </p:cNvPr>
          <p:cNvSpPr>
            <a:spLocks xmlns:a="http://schemas.openxmlformats.org/drawingml/2006/main" noGrp="1"/>
          </p:cNvSpPr>
          <p:nvPr/>
        </p:nvSpPr>
        <p:spPr>
          <a:xfrm xmlns:a="http://schemas.openxmlformats.org/drawingml/2006/main">
            <a:off x="10439400" y="4124325"/>
            <a:ext cx="4114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7F5EE"/>
                </a:solidFill>
                <a:latin typeface="Aptos"/>
                <a:ea typeface="Aptos"/>
                <a:cs typeface="Aptos"/>
              </a:defRPr>
            </a:pPr>
            <a:r>
              <a:rPr sz="2700" b="1">
                <a:solidFill>
                  <a:srgbClr val="F7F5EE"/>
                </a:solidFill>
                <a:latin typeface="Aptos"/>
                <a:ea typeface="Aptos"/>
                <a:cs typeface="Aptos"/>
              </a:rPr>
              <a:t>Decide</a:t>
            </a:r>
          </a:p>
        </p:txBody>
      </p:sp>
      <p:sp>
        <p:nvSpPr>
          <p:cNvPr id="16" name="text-350">
            <a:extLst xmlns:a="http://schemas.openxmlformats.org/drawingml/2006/main">
              <a:ext uri="{FF2B5EF4-FFF2-40B4-BE49-F238E27FC236}">
                <a16:creationId xmlns:a16="http://schemas.microsoft.com/office/drawing/2014/main" id="{532CEBD8-08C0-483C-AC82-A5C7EB9477CC}"/>
              </a:ext>
            </a:extLst>
          </p:cNvPr>
          <p:cNvSpPr>
            <a:spLocks xmlns:a="http://schemas.openxmlformats.org/drawingml/2006/main" noGrp="1"/>
          </p:cNvSpPr>
          <p:nvPr/>
        </p:nvSpPr>
        <p:spPr>
          <a:xfrm xmlns:a="http://schemas.openxmlformats.org/drawingml/2006/main">
            <a:off x="10439400" y="4857750"/>
            <a:ext cx="411480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CBDAD6"/>
                </a:solidFill>
                <a:latin typeface="Aptos"/>
                <a:ea typeface="Aptos"/>
                <a:cs typeface="Aptos"/>
              </a:defRPr>
            </a:pPr>
            <a:r>
              <a:rPr sz="2325" b="0">
                <a:solidFill>
                  <a:srgbClr val="CBDAD6"/>
                </a:solidFill>
                <a:latin typeface="Aptos"/>
                <a:ea typeface="Aptos"/>
                <a:cs typeface="Aptos"/>
              </a:rPr>
              <a:t>Buyer reviews and approves</a:t>
            </a:r>
          </a:p>
          <a:p xmlns:a="http://schemas.openxmlformats.org/drawingml/2006/main">
            <a:pPr algn="l">
              <a:defRPr sz="2325" b="0">
                <a:solidFill>
                  <a:srgbClr val="CBDAD6"/>
                </a:solidFill>
                <a:latin typeface="Aptos"/>
                <a:ea typeface="Aptos"/>
                <a:cs typeface="Aptos"/>
              </a:defRPr>
            </a:pPr>
            <a:r>
              <a:rPr sz="2325" b="0">
                <a:solidFill>
                  <a:srgbClr val="CBDAD6"/>
                </a:solidFill>
                <a:latin typeface="Aptos"/>
                <a:ea typeface="Aptos"/>
                <a:cs typeface="Aptos"/>
              </a:rPr>
              <a:t>the replenishment plan</a:t>
            </a:r>
          </a:p>
        </p:txBody>
      </p:sp>
      <p:sp>
        <p:nvSpPr>
          <p:cNvPr id="17" name="text-351">
            <a:extLst xmlns:a="http://schemas.openxmlformats.org/drawingml/2006/main">
              <a:ext uri="{FF2B5EF4-FFF2-40B4-BE49-F238E27FC236}">
                <a16:creationId xmlns:a16="http://schemas.microsoft.com/office/drawing/2014/main" id="{3849049E-8171-4789-92F4-1B3E71471ED8}"/>
              </a:ext>
            </a:extLst>
          </p:cNvPr>
          <p:cNvSpPr>
            <a:spLocks xmlns:a="http://schemas.openxmlformats.org/drawingml/2006/main" noGrp="1"/>
          </p:cNvSpPr>
          <p:nvPr/>
        </p:nvSpPr>
        <p:spPr>
          <a:xfrm xmlns:a="http://schemas.openxmlformats.org/drawingml/2006/main">
            <a:off x="685800" y="6886575"/>
            <a:ext cx="1386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7F5EE"/>
                </a:solidFill>
                <a:latin typeface="Aptos"/>
                <a:ea typeface="Aptos"/>
                <a:cs typeface="Aptos"/>
              </a:defRPr>
            </a:pPr>
            <a:r>
              <a:rPr sz="2400" b="1">
                <a:solidFill>
                  <a:srgbClr val="F7F5EE"/>
                </a:solidFill>
                <a:latin typeface="Aptos"/>
                <a:ea typeface="Aptos"/>
                <a:cs typeface="Aptos"/>
              </a:rPr>
              <a:t>Better recommendations begin with reliable stock and sales-channel data.</a:t>
            </a:r>
          </a:p>
        </p:txBody>
      </p:sp>
    </p:spTree>
    <p:extLst>
      <p:ext uri="{BB962C8B-B14F-4D97-AF65-F5344CB8AC3E}">
        <p14:creationId xmlns:p14="http://schemas.microsoft.com/office/powerpoint/2010/main" val="1128095976"/>
      </p:ext>
    </p:extLst>
  </p:cSld>
</p:sld>
</file>

<file path=ppt/slides/slide1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8" name="text-352">
            <a:extLst xmlns:a="http://schemas.openxmlformats.org/drawingml/2006/main">
              <a:ext uri="{FF2B5EF4-FFF2-40B4-BE49-F238E27FC236}">
                <a16:creationId xmlns:a16="http://schemas.microsoft.com/office/drawing/2014/main" id="{9419CAA2-9A8F-47EE-A417-9D0E77B427D7}"/>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09 / ACCOUNTING &amp; FINANCE — PLANNED</a:t>
            </a:r>
          </a:p>
        </p:txBody>
      </p:sp>
      <p:sp>
        <p:nvSpPr>
          <p:cNvPr id="2" name="text-353">
            <a:extLst xmlns:a="http://schemas.openxmlformats.org/drawingml/2006/main">
              <a:ext uri="{FF2B5EF4-FFF2-40B4-BE49-F238E27FC236}">
                <a16:creationId xmlns:a16="http://schemas.microsoft.com/office/drawing/2014/main" id="{85CE4FF6-7A7A-47A7-9C5D-BC703D636430}"/>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Bring finance closer to daily operations</a:t>
            </a:r>
          </a:p>
        </p:txBody>
      </p:sp>
      <p:sp>
        <p:nvSpPr>
          <p:cNvPr id="3" name="rule-354">
            <a:extLst xmlns:a="http://schemas.openxmlformats.org/drawingml/2006/main">
              <a:ext uri="{FF2B5EF4-FFF2-40B4-BE49-F238E27FC236}">
                <a16:creationId xmlns:a16="http://schemas.microsoft.com/office/drawing/2014/main" id="{9B1EC7C2-426F-4850-9905-4DDC3DE6055B}"/>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355">
            <a:extLst xmlns:a="http://schemas.openxmlformats.org/drawingml/2006/main">
              <a:ext uri="{FF2B5EF4-FFF2-40B4-BE49-F238E27FC236}">
                <a16:creationId xmlns:a16="http://schemas.microsoft.com/office/drawing/2014/main" id="{ECCA1AD6-7301-41B6-9EB5-1726F5FBA36D}"/>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356">
            <a:extLst xmlns:a="http://schemas.openxmlformats.org/drawingml/2006/main">
              <a:ext uri="{FF2B5EF4-FFF2-40B4-BE49-F238E27FC236}">
                <a16:creationId xmlns:a16="http://schemas.microsoft.com/office/drawing/2014/main" id="{E5C34E8A-E6FA-41EC-84A1-14B3B9F00A33}"/>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16</a:t>
            </a:r>
          </a:p>
        </p:txBody>
      </p:sp>
      <p:sp>
        <p:nvSpPr>
          <p:cNvPr id="6" name="edge-357">
            <a:extLst xmlns:a="http://schemas.openxmlformats.org/drawingml/2006/main">
              <a:ext uri="{FF2B5EF4-FFF2-40B4-BE49-F238E27FC236}">
                <a16:creationId xmlns:a16="http://schemas.microsoft.com/office/drawing/2014/main" id="{423E6028-5654-4E8A-A2A2-D79C8FCA8C7F}"/>
              </a:ext>
            </a:extLst>
          </p:cNvPr>
          <p:cNvSpPr>
            <a:spLocks xmlns:a="http://schemas.openxmlformats.org/drawingml/2006/main" noGrp="1"/>
          </p:cNvSpPr>
          <p:nvPr/>
        </p:nvSpPr>
        <p:spPr>
          <a:xfrm xmlns:a="http://schemas.openxmlformats.org/drawingml/2006/main" flipH="1" flipV="0">
            <a:off x="52768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7" name="edge-358">
            <a:extLst xmlns:a="http://schemas.openxmlformats.org/drawingml/2006/main">
              <a:ext uri="{FF2B5EF4-FFF2-40B4-BE49-F238E27FC236}">
                <a16:creationId xmlns:a16="http://schemas.microsoft.com/office/drawing/2014/main" id="{E70569D0-24C1-4330-B70F-C22CE3BAEB9C}"/>
              </a:ext>
            </a:extLst>
          </p:cNvPr>
          <p:cNvSpPr>
            <a:spLocks xmlns:a="http://schemas.openxmlformats.org/drawingml/2006/main" noGrp="1"/>
          </p:cNvSpPr>
          <p:nvPr/>
        </p:nvSpPr>
        <p:spPr>
          <a:xfrm xmlns:a="http://schemas.openxmlformats.org/drawingml/2006/main" flipH="0" flipV="1">
            <a:off x="5276850" y="3028950"/>
            <a:ext cx="9525" cy="136207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8" name="edge-359">
            <a:extLst xmlns:a="http://schemas.openxmlformats.org/drawingml/2006/main">
              <a:ext uri="{FF2B5EF4-FFF2-40B4-BE49-F238E27FC236}">
                <a16:creationId xmlns:a16="http://schemas.microsoft.com/office/drawing/2014/main" id="{F7B28ED1-BAE8-4A0F-99A1-19F5B242792B}"/>
              </a:ext>
            </a:extLst>
          </p:cNvPr>
          <p:cNvSpPr>
            <a:spLocks xmlns:a="http://schemas.openxmlformats.org/drawingml/2006/main" noGrp="1"/>
          </p:cNvSpPr>
          <p:nvPr/>
        </p:nvSpPr>
        <p:spPr>
          <a:xfrm xmlns:a="http://schemas.openxmlformats.org/drawingml/2006/main" flipH="1" flipV="0">
            <a:off x="4667250" y="30289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9" name="edge-360">
            <a:extLst xmlns:a="http://schemas.openxmlformats.org/drawingml/2006/main">
              <a:ext uri="{FF2B5EF4-FFF2-40B4-BE49-F238E27FC236}">
                <a16:creationId xmlns:a16="http://schemas.microsoft.com/office/drawing/2014/main" id="{5B5AFF78-67A2-4693-ABF9-FCC919DA4132}"/>
              </a:ext>
            </a:extLst>
          </p:cNvPr>
          <p:cNvSpPr>
            <a:spLocks xmlns:a="http://schemas.openxmlformats.org/drawingml/2006/main" noGrp="1"/>
          </p:cNvSpPr>
          <p:nvPr/>
        </p:nvSpPr>
        <p:spPr>
          <a:xfrm xmlns:a="http://schemas.openxmlformats.org/drawingml/2006/main" flipH="1" flipV="0">
            <a:off x="52768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0" name="edge-361">
            <a:extLst xmlns:a="http://schemas.openxmlformats.org/drawingml/2006/main">
              <a:ext uri="{FF2B5EF4-FFF2-40B4-BE49-F238E27FC236}">
                <a16:creationId xmlns:a16="http://schemas.microsoft.com/office/drawing/2014/main" id="{87E0F89E-4960-4CCA-BE9B-11DE1D2860FE}"/>
              </a:ext>
            </a:extLst>
          </p:cNvPr>
          <p:cNvSpPr>
            <a:spLocks xmlns:a="http://schemas.openxmlformats.org/drawingml/2006/main" noGrp="1"/>
          </p:cNvSpPr>
          <p:nvPr/>
        </p:nvSpPr>
        <p:spPr>
          <a:xfrm xmlns:a="http://schemas.openxmlformats.org/drawingml/2006/main" flipH="0" flipV="0">
            <a:off x="5276850" y="4391025"/>
            <a:ext cx="9525" cy="17621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1" name="edge-362">
            <a:extLst xmlns:a="http://schemas.openxmlformats.org/drawingml/2006/main">
              <a:ext uri="{FF2B5EF4-FFF2-40B4-BE49-F238E27FC236}">
                <a16:creationId xmlns:a16="http://schemas.microsoft.com/office/drawing/2014/main" id="{BD7F5E5D-AF74-4C60-98DD-1B5F8333B8F8}"/>
              </a:ext>
            </a:extLst>
          </p:cNvPr>
          <p:cNvSpPr>
            <a:spLocks xmlns:a="http://schemas.openxmlformats.org/drawingml/2006/main" noGrp="1"/>
          </p:cNvSpPr>
          <p:nvPr/>
        </p:nvSpPr>
        <p:spPr>
          <a:xfrm xmlns:a="http://schemas.openxmlformats.org/drawingml/2006/main" flipH="1" flipV="0">
            <a:off x="4667250" y="61531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2" name="edge-363">
            <a:extLst xmlns:a="http://schemas.openxmlformats.org/drawingml/2006/main">
              <a:ext uri="{FF2B5EF4-FFF2-40B4-BE49-F238E27FC236}">
                <a16:creationId xmlns:a16="http://schemas.microsoft.com/office/drawing/2014/main" id="{BDFAB8C0-735D-46E9-BD41-73586B8FBD99}"/>
              </a:ext>
            </a:extLst>
          </p:cNvPr>
          <p:cNvSpPr>
            <a:spLocks xmlns:a="http://schemas.openxmlformats.org/drawingml/2006/main" noGrp="1"/>
          </p:cNvSpPr>
          <p:nvPr/>
        </p:nvSpPr>
        <p:spPr>
          <a:xfrm xmlns:a="http://schemas.openxmlformats.org/drawingml/2006/main" flipH="0" flipV="0">
            <a:off x="93154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3" name="edge-364">
            <a:extLst xmlns:a="http://schemas.openxmlformats.org/drawingml/2006/main">
              <a:ext uri="{FF2B5EF4-FFF2-40B4-BE49-F238E27FC236}">
                <a16:creationId xmlns:a16="http://schemas.microsoft.com/office/drawing/2014/main" id="{CEBE7467-53D3-470A-8997-66FEBC046F16}"/>
              </a:ext>
            </a:extLst>
          </p:cNvPr>
          <p:cNvSpPr>
            <a:spLocks xmlns:a="http://schemas.openxmlformats.org/drawingml/2006/main" noGrp="1"/>
          </p:cNvSpPr>
          <p:nvPr/>
        </p:nvSpPr>
        <p:spPr>
          <a:xfrm xmlns:a="http://schemas.openxmlformats.org/drawingml/2006/main" flipH="0" flipV="1">
            <a:off x="9963150" y="3028950"/>
            <a:ext cx="9525" cy="136207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4" name="edge-365">
            <a:extLst xmlns:a="http://schemas.openxmlformats.org/drawingml/2006/main">
              <a:ext uri="{FF2B5EF4-FFF2-40B4-BE49-F238E27FC236}">
                <a16:creationId xmlns:a16="http://schemas.microsoft.com/office/drawing/2014/main" id="{11E6807D-1D58-47D9-8F12-DE171B6C7E81}"/>
              </a:ext>
            </a:extLst>
          </p:cNvPr>
          <p:cNvSpPr>
            <a:spLocks xmlns:a="http://schemas.openxmlformats.org/drawingml/2006/main" noGrp="1"/>
          </p:cNvSpPr>
          <p:nvPr/>
        </p:nvSpPr>
        <p:spPr>
          <a:xfrm xmlns:a="http://schemas.openxmlformats.org/drawingml/2006/main" flipH="0" flipV="0">
            <a:off x="9963150" y="30289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5" name="edge-366">
            <a:extLst xmlns:a="http://schemas.openxmlformats.org/drawingml/2006/main">
              <a:ext uri="{FF2B5EF4-FFF2-40B4-BE49-F238E27FC236}">
                <a16:creationId xmlns:a16="http://schemas.microsoft.com/office/drawing/2014/main" id="{B955D3CC-9795-4FC3-A465-114A1D5C8B19}"/>
              </a:ext>
            </a:extLst>
          </p:cNvPr>
          <p:cNvSpPr>
            <a:spLocks xmlns:a="http://schemas.openxmlformats.org/drawingml/2006/main" noGrp="1"/>
          </p:cNvSpPr>
          <p:nvPr/>
        </p:nvSpPr>
        <p:spPr>
          <a:xfrm xmlns:a="http://schemas.openxmlformats.org/drawingml/2006/main" flipH="0" flipV="0">
            <a:off x="93154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6" name="edge-367">
            <a:extLst xmlns:a="http://schemas.openxmlformats.org/drawingml/2006/main">
              <a:ext uri="{FF2B5EF4-FFF2-40B4-BE49-F238E27FC236}">
                <a16:creationId xmlns:a16="http://schemas.microsoft.com/office/drawing/2014/main" id="{1490DD66-592A-415E-B707-9AFE60FF0495}"/>
              </a:ext>
            </a:extLst>
          </p:cNvPr>
          <p:cNvSpPr>
            <a:spLocks xmlns:a="http://schemas.openxmlformats.org/drawingml/2006/main" noGrp="1"/>
          </p:cNvSpPr>
          <p:nvPr/>
        </p:nvSpPr>
        <p:spPr>
          <a:xfrm xmlns:a="http://schemas.openxmlformats.org/drawingml/2006/main" flipH="0" flipV="0">
            <a:off x="9963150" y="4391025"/>
            <a:ext cx="9525" cy="17621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7" name="edge-368">
            <a:extLst xmlns:a="http://schemas.openxmlformats.org/drawingml/2006/main">
              <a:ext uri="{FF2B5EF4-FFF2-40B4-BE49-F238E27FC236}">
                <a16:creationId xmlns:a16="http://schemas.microsoft.com/office/drawing/2014/main" id="{0C459569-50C5-4C46-824F-9FBEAB2D251A}"/>
              </a:ext>
            </a:extLst>
          </p:cNvPr>
          <p:cNvSpPr>
            <a:spLocks xmlns:a="http://schemas.openxmlformats.org/drawingml/2006/main" noGrp="1"/>
          </p:cNvSpPr>
          <p:nvPr/>
        </p:nvSpPr>
        <p:spPr>
          <a:xfrm xmlns:a="http://schemas.openxmlformats.org/drawingml/2006/main" flipH="0" flipV="0">
            <a:off x="9963150" y="61531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8" name="surface-369">
            <a:extLst xmlns:a="http://schemas.openxmlformats.org/drawingml/2006/main">
              <a:ext uri="{FF2B5EF4-FFF2-40B4-BE49-F238E27FC236}">
                <a16:creationId xmlns:a16="http://schemas.microsoft.com/office/drawing/2014/main" id="{E35C586B-B25D-4E62-AE1E-10199C555F30}"/>
              </a:ext>
            </a:extLst>
          </p:cNvPr>
          <p:cNvSpPr>
            <a:spLocks xmlns:a="http://schemas.openxmlformats.org/drawingml/2006/main" noGrp="1"/>
          </p:cNvSpPr>
          <p:nvPr/>
        </p:nvSpPr>
        <p:spPr>
          <a:xfrm xmlns:a="http://schemas.openxmlformats.org/drawingml/2006/main">
            <a:off x="5924550" y="3752850"/>
            <a:ext cx="3390900" cy="1276350"/>
          </a:xfrm>
          <a:prstGeom xmlns:a="http://schemas.openxmlformats.org/drawingml/2006/main" prst="rect">
            <a:avLst/>
          </a:prstGeom>
          <a:solidFill xmlns:a="http://schemas.openxmlformats.org/drawingml/2006/main">
            <a:srgbClr val="103D43"/>
          </a:solidFill>
          <a:ln xmlns:a="http://schemas.openxmlformats.org/drawingml/2006/main" w="0">
            <a:noFill/>
            <a:prstDash val="solid"/>
          </a:ln>
        </p:spPr>
      </p:sp>
      <p:sp>
        <p:nvSpPr>
          <p:cNvPr id="19" name="text-370">
            <a:extLst xmlns:a="http://schemas.openxmlformats.org/drawingml/2006/main">
              <a:ext uri="{FF2B5EF4-FFF2-40B4-BE49-F238E27FC236}">
                <a16:creationId xmlns:a16="http://schemas.microsoft.com/office/drawing/2014/main" id="{B29E8DB0-696B-4E73-A734-20434CE380BE}"/>
              </a:ext>
            </a:extLst>
          </p:cNvPr>
          <p:cNvSpPr>
            <a:spLocks xmlns:a="http://schemas.openxmlformats.org/drawingml/2006/main" noGrp="1"/>
          </p:cNvSpPr>
          <p:nvPr/>
        </p:nvSpPr>
        <p:spPr>
          <a:xfrm xmlns:a="http://schemas.openxmlformats.org/drawingml/2006/main">
            <a:off x="6115050" y="4038600"/>
            <a:ext cx="30099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75" b="1">
                <a:solidFill>
                  <a:srgbClr val="F7F5EE"/>
                </a:solidFill>
                <a:latin typeface="Aptos"/>
                <a:ea typeface="Aptos"/>
                <a:cs typeface="Aptos"/>
              </a:defRPr>
            </a:pPr>
            <a:r>
              <a:rPr sz="2775" b="1">
                <a:solidFill>
                  <a:srgbClr val="F7F5EE"/>
                </a:solidFill>
                <a:latin typeface="Aptos"/>
                <a:ea typeface="Aptos"/>
                <a:cs typeface="Aptos"/>
              </a:rPr>
              <a:t>OPERATIONAL</a:t>
            </a:r>
          </a:p>
          <a:p xmlns:a="http://schemas.openxmlformats.org/drawingml/2006/main">
            <a:pPr algn="ctr">
              <a:defRPr sz="2775" b="1">
                <a:solidFill>
                  <a:srgbClr val="F7F5EE"/>
                </a:solidFill>
                <a:latin typeface="Aptos"/>
                <a:ea typeface="Aptos"/>
                <a:cs typeface="Aptos"/>
              </a:defRPr>
            </a:pPr>
            <a:r>
              <a:rPr sz="2775" b="1">
                <a:solidFill>
                  <a:srgbClr val="F7F5EE"/>
                </a:solidFill>
                <a:latin typeface="Aptos"/>
                <a:ea typeface="Aptos"/>
                <a:cs typeface="Aptos"/>
              </a:rPr>
              <a:t>RECORD → BOOKS</a:t>
            </a:r>
          </a:p>
        </p:txBody>
      </p:sp>
      <p:sp>
        <p:nvSpPr>
          <p:cNvPr id="20" name="text-371">
            <a:extLst xmlns:a="http://schemas.openxmlformats.org/drawingml/2006/main">
              <a:ext uri="{FF2B5EF4-FFF2-40B4-BE49-F238E27FC236}">
                <a16:creationId xmlns:a16="http://schemas.microsoft.com/office/drawing/2014/main" id="{AD1D3CBA-249B-4621-BDCF-7DE49B62FB51}"/>
              </a:ext>
            </a:extLst>
          </p:cNvPr>
          <p:cNvSpPr>
            <a:spLocks xmlns:a="http://schemas.openxmlformats.org/drawingml/2006/main" noGrp="1"/>
          </p:cNvSpPr>
          <p:nvPr/>
        </p:nvSpPr>
        <p:spPr>
          <a:xfrm xmlns:a="http://schemas.openxmlformats.org/drawingml/2006/main">
            <a:off x="685800" y="25527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Customer side</a:t>
            </a:r>
          </a:p>
        </p:txBody>
      </p:sp>
      <p:sp>
        <p:nvSpPr>
          <p:cNvPr id="21" name="text-372">
            <a:extLst xmlns:a="http://schemas.openxmlformats.org/drawingml/2006/main">
              <a:ext uri="{FF2B5EF4-FFF2-40B4-BE49-F238E27FC236}">
                <a16:creationId xmlns:a16="http://schemas.microsoft.com/office/drawing/2014/main" id="{84C74641-9755-4E90-8278-75632530BDC1}"/>
              </a:ext>
            </a:extLst>
          </p:cNvPr>
          <p:cNvSpPr>
            <a:spLocks xmlns:a="http://schemas.openxmlformats.org/drawingml/2006/main" noGrp="1"/>
          </p:cNvSpPr>
          <p:nvPr/>
        </p:nvSpPr>
        <p:spPr>
          <a:xfrm xmlns:a="http://schemas.openxmlformats.org/drawingml/2006/main">
            <a:off x="685800" y="30575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Invoices, receivables, refunds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customer credit notes</a:t>
            </a:r>
          </a:p>
        </p:txBody>
      </p:sp>
      <p:sp>
        <p:nvSpPr>
          <p:cNvPr id="22" name="text-373">
            <a:extLst xmlns:a="http://schemas.openxmlformats.org/drawingml/2006/main">
              <a:ext uri="{FF2B5EF4-FFF2-40B4-BE49-F238E27FC236}">
                <a16:creationId xmlns:a16="http://schemas.microsoft.com/office/drawing/2014/main" id="{058AA67B-1A5F-4717-BEBD-3BB7A6600D15}"/>
              </a:ext>
            </a:extLst>
          </p:cNvPr>
          <p:cNvSpPr>
            <a:spLocks xmlns:a="http://schemas.openxmlformats.org/drawingml/2006/main" noGrp="1"/>
          </p:cNvSpPr>
          <p:nvPr/>
        </p:nvSpPr>
        <p:spPr>
          <a:xfrm xmlns:a="http://schemas.openxmlformats.org/drawingml/2006/main">
            <a:off x="685800" y="56769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Vendor side</a:t>
            </a:r>
          </a:p>
        </p:txBody>
      </p:sp>
      <p:sp>
        <p:nvSpPr>
          <p:cNvPr id="23" name="text-374">
            <a:extLst xmlns:a="http://schemas.openxmlformats.org/drawingml/2006/main">
              <a:ext uri="{FF2B5EF4-FFF2-40B4-BE49-F238E27FC236}">
                <a16:creationId xmlns:a16="http://schemas.microsoft.com/office/drawing/2014/main" id="{DFF9A5E9-479A-4D5C-805C-ACD525254F20}"/>
              </a:ext>
            </a:extLst>
          </p:cNvPr>
          <p:cNvSpPr>
            <a:spLocks xmlns:a="http://schemas.openxmlformats.org/drawingml/2006/main" noGrp="1"/>
          </p:cNvSpPr>
          <p:nvPr/>
        </p:nvSpPr>
        <p:spPr>
          <a:xfrm xmlns:a="http://schemas.openxmlformats.org/drawingml/2006/main">
            <a:off x="685800" y="61817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Bills, payables, purchase returns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vendor credits</a:t>
            </a:r>
          </a:p>
        </p:txBody>
      </p:sp>
      <p:sp>
        <p:nvSpPr>
          <p:cNvPr id="24" name="text-375">
            <a:extLst xmlns:a="http://schemas.openxmlformats.org/drawingml/2006/main">
              <a:ext uri="{FF2B5EF4-FFF2-40B4-BE49-F238E27FC236}">
                <a16:creationId xmlns:a16="http://schemas.microsoft.com/office/drawing/2014/main" id="{5CA9FCAD-6DE8-4276-B4AC-8A6AD352AB29}"/>
              </a:ext>
            </a:extLst>
          </p:cNvPr>
          <p:cNvSpPr>
            <a:spLocks xmlns:a="http://schemas.openxmlformats.org/drawingml/2006/main" noGrp="1"/>
          </p:cNvSpPr>
          <p:nvPr/>
        </p:nvSpPr>
        <p:spPr>
          <a:xfrm xmlns:a="http://schemas.openxmlformats.org/drawingml/2006/main">
            <a:off x="10572750" y="25527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Financial control</a:t>
            </a:r>
          </a:p>
        </p:txBody>
      </p:sp>
      <p:sp>
        <p:nvSpPr>
          <p:cNvPr id="25" name="text-376">
            <a:extLst xmlns:a="http://schemas.openxmlformats.org/drawingml/2006/main">
              <a:ext uri="{FF2B5EF4-FFF2-40B4-BE49-F238E27FC236}">
                <a16:creationId xmlns:a16="http://schemas.microsoft.com/office/drawing/2014/main" id="{4E86BC43-E371-46C7-8CD4-84CADC4CFFAA}"/>
              </a:ext>
            </a:extLst>
          </p:cNvPr>
          <p:cNvSpPr>
            <a:spLocks xmlns:a="http://schemas.openxmlformats.org/drawingml/2006/main" noGrp="1"/>
          </p:cNvSpPr>
          <p:nvPr/>
        </p:nvSpPr>
        <p:spPr>
          <a:xfrm xmlns:a="http://schemas.openxmlformats.org/drawingml/2006/main">
            <a:off x="10572750" y="30575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General ledger, bank reconciliation</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sales-tax workflows</a:t>
            </a:r>
          </a:p>
        </p:txBody>
      </p:sp>
      <p:sp>
        <p:nvSpPr>
          <p:cNvPr id="26" name="text-377">
            <a:extLst xmlns:a="http://schemas.openxmlformats.org/drawingml/2006/main">
              <a:ext uri="{FF2B5EF4-FFF2-40B4-BE49-F238E27FC236}">
                <a16:creationId xmlns:a16="http://schemas.microsoft.com/office/drawing/2014/main" id="{CC9A7734-DC42-4101-A6B9-B19EB36529EB}"/>
              </a:ext>
            </a:extLst>
          </p:cNvPr>
          <p:cNvSpPr>
            <a:spLocks xmlns:a="http://schemas.openxmlformats.org/drawingml/2006/main" noGrp="1"/>
          </p:cNvSpPr>
          <p:nvPr/>
        </p:nvSpPr>
        <p:spPr>
          <a:xfrm xmlns:a="http://schemas.openxmlformats.org/drawingml/2006/main">
            <a:off x="10572750" y="56769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Management view</a:t>
            </a:r>
          </a:p>
        </p:txBody>
      </p:sp>
      <p:sp>
        <p:nvSpPr>
          <p:cNvPr id="27" name="text-378">
            <a:extLst xmlns:a="http://schemas.openxmlformats.org/drawingml/2006/main">
              <a:ext uri="{FF2B5EF4-FFF2-40B4-BE49-F238E27FC236}">
                <a16:creationId xmlns:a16="http://schemas.microsoft.com/office/drawing/2014/main" id="{22BC10C5-0734-45A3-8067-016EC0BA0758}"/>
              </a:ext>
            </a:extLst>
          </p:cNvPr>
          <p:cNvSpPr>
            <a:spLocks xmlns:a="http://schemas.openxmlformats.org/drawingml/2006/main" noGrp="1"/>
          </p:cNvSpPr>
          <p:nvPr/>
        </p:nvSpPr>
        <p:spPr>
          <a:xfrm xmlns:a="http://schemas.openxmlformats.org/drawingml/2006/main">
            <a:off x="10572750" y="61817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P&amp;L, Balance Sheet, payroll entries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post-dated check tracking</a:t>
            </a:r>
          </a:p>
        </p:txBody>
      </p:sp>
    </p:spTree>
    <p:extLst>
      <p:ext uri="{BB962C8B-B14F-4D97-AF65-F5344CB8AC3E}">
        <p14:creationId xmlns:p14="http://schemas.microsoft.com/office/powerpoint/2010/main" val="2018068354"/>
      </p:ext>
    </p:extLst>
  </p:cSld>
</p:sld>
</file>

<file path=ppt/slides/slide1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8" name="text-379">
            <a:extLst xmlns:a="http://schemas.openxmlformats.org/drawingml/2006/main">
              <a:ext uri="{FF2B5EF4-FFF2-40B4-BE49-F238E27FC236}">
                <a16:creationId xmlns:a16="http://schemas.microsoft.com/office/drawing/2014/main" id="{9203B871-69F4-486C-BDC1-BFB5569E7630}"/>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CUSTOMER HANDOVER / PROPOSED ACCEPTANCE PACKAGE</a:t>
            </a:r>
          </a:p>
        </p:txBody>
      </p:sp>
      <p:sp>
        <p:nvSpPr>
          <p:cNvPr id="2" name="text-380">
            <a:extLst xmlns:a="http://schemas.openxmlformats.org/drawingml/2006/main">
              <a:ext uri="{FF2B5EF4-FFF2-40B4-BE49-F238E27FC236}">
                <a16:creationId xmlns:a16="http://schemas.microsoft.com/office/drawing/2014/main" id="{6C7E8516-4C0A-4E09-AC26-37900088BC75}"/>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What your team receives at completion</a:t>
            </a:r>
          </a:p>
        </p:txBody>
      </p:sp>
      <p:sp>
        <p:nvSpPr>
          <p:cNvPr id="3" name="rule-381">
            <a:extLst xmlns:a="http://schemas.openxmlformats.org/drawingml/2006/main">
              <a:ext uri="{FF2B5EF4-FFF2-40B4-BE49-F238E27FC236}">
                <a16:creationId xmlns:a16="http://schemas.microsoft.com/office/drawing/2014/main" id="{DEC5A6EA-DFE4-47C7-A94E-0658EF2B0ED6}"/>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382">
            <a:extLst xmlns:a="http://schemas.openxmlformats.org/drawingml/2006/main">
              <a:ext uri="{FF2B5EF4-FFF2-40B4-BE49-F238E27FC236}">
                <a16:creationId xmlns:a16="http://schemas.microsoft.com/office/drawing/2014/main" id="{AA1898F1-B8EA-4D79-BBCB-A72AFF3EF638}"/>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383">
            <a:extLst xmlns:a="http://schemas.openxmlformats.org/drawingml/2006/main">
              <a:ext uri="{FF2B5EF4-FFF2-40B4-BE49-F238E27FC236}">
                <a16:creationId xmlns:a16="http://schemas.microsoft.com/office/drawing/2014/main" id="{1773011B-F86D-4606-B0F9-314B29AF6F29}"/>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17</a:t>
            </a:r>
          </a:p>
        </p:txBody>
      </p:sp>
      <p:sp>
        <p:nvSpPr>
          <p:cNvPr id="6" name="edge-384">
            <a:extLst xmlns:a="http://schemas.openxmlformats.org/drawingml/2006/main">
              <a:ext uri="{FF2B5EF4-FFF2-40B4-BE49-F238E27FC236}">
                <a16:creationId xmlns:a16="http://schemas.microsoft.com/office/drawing/2014/main" id="{11132246-7C29-43A6-A9DA-425F5015D503}"/>
              </a:ext>
            </a:extLst>
          </p:cNvPr>
          <p:cNvSpPr>
            <a:spLocks xmlns:a="http://schemas.openxmlformats.org/drawingml/2006/main" noGrp="1"/>
          </p:cNvSpPr>
          <p:nvPr/>
        </p:nvSpPr>
        <p:spPr>
          <a:xfrm xmlns:a="http://schemas.openxmlformats.org/drawingml/2006/main" flipH="1" flipV="0">
            <a:off x="52768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7" name="edge-385">
            <a:extLst xmlns:a="http://schemas.openxmlformats.org/drawingml/2006/main">
              <a:ext uri="{FF2B5EF4-FFF2-40B4-BE49-F238E27FC236}">
                <a16:creationId xmlns:a16="http://schemas.microsoft.com/office/drawing/2014/main" id="{327D3DFB-816A-4B46-A5C3-8F46DC97C3B4}"/>
              </a:ext>
            </a:extLst>
          </p:cNvPr>
          <p:cNvSpPr>
            <a:spLocks xmlns:a="http://schemas.openxmlformats.org/drawingml/2006/main" noGrp="1"/>
          </p:cNvSpPr>
          <p:nvPr/>
        </p:nvSpPr>
        <p:spPr>
          <a:xfrm xmlns:a="http://schemas.openxmlformats.org/drawingml/2006/main" flipH="0" flipV="1">
            <a:off x="5276850" y="3028950"/>
            <a:ext cx="9525" cy="136207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8" name="edge-386">
            <a:extLst xmlns:a="http://schemas.openxmlformats.org/drawingml/2006/main">
              <a:ext uri="{FF2B5EF4-FFF2-40B4-BE49-F238E27FC236}">
                <a16:creationId xmlns:a16="http://schemas.microsoft.com/office/drawing/2014/main" id="{809EBB5B-88B7-43F9-A047-21B0478AA04F}"/>
              </a:ext>
            </a:extLst>
          </p:cNvPr>
          <p:cNvSpPr>
            <a:spLocks xmlns:a="http://schemas.openxmlformats.org/drawingml/2006/main" noGrp="1"/>
          </p:cNvSpPr>
          <p:nvPr/>
        </p:nvSpPr>
        <p:spPr>
          <a:xfrm xmlns:a="http://schemas.openxmlformats.org/drawingml/2006/main" flipH="1" flipV="0">
            <a:off x="4667250" y="30289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9" name="edge-387">
            <a:extLst xmlns:a="http://schemas.openxmlformats.org/drawingml/2006/main">
              <a:ext uri="{FF2B5EF4-FFF2-40B4-BE49-F238E27FC236}">
                <a16:creationId xmlns:a16="http://schemas.microsoft.com/office/drawing/2014/main" id="{6040F91E-E38A-4B5E-966F-4F526E16BEFA}"/>
              </a:ext>
            </a:extLst>
          </p:cNvPr>
          <p:cNvSpPr>
            <a:spLocks xmlns:a="http://schemas.openxmlformats.org/drawingml/2006/main" noGrp="1"/>
          </p:cNvSpPr>
          <p:nvPr/>
        </p:nvSpPr>
        <p:spPr>
          <a:xfrm xmlns:a="http://schemas.openxmlformats.org/drawingml/2006/main" flipH="1" flipV="0">
            <a:off x="52768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0" name="edge-388">
            <a:extLst xmlns:a="http://schemas.openxmlformats.org/drawingml/2006/main">
              <a:ext uri="{FF2B5EF4-FFF2-40B4-BE49-F238E27FC236}">
                <a16:creationId xmlns:a16="http://schemas.microsoft.com/office/drawing/2014/main" id="{D31F07D0-6F08-44A0-950F-12FC21BE2D52}"/>
              </a:ext>
            </a:extLst>
          </p:cNvPr>
          <p:cNvSpPr>
            <a:spLocks xmlns:a="http://schemas.openxmlformats.org/drawingml/2006/main" noGrp="1"/>
          </p:cNvSpPr>
          <p:nvPr/>
        </p:nvSpPr>
        <p:spPr>
          <a:xfrm xmlns:a="http://schemas.openxmlformats.org/drawingml/2006/main" flipH="0" flipV="0">
            <a:off x="5276850" y="4391025"/>
            <a:ext cx="9525" cy="17621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1" name="edge-389">
            <a:extLst xmlns:a="http://schemas.openxmlformats.org/drawingml/2006/main">
              <a:ext uri="{FF2B5EF4-FFF2-40B4-BE49-F238E27FC236}">
                <a16:creationId xmlns:a16="http://schemas.microsoft.com/office/drawing/2014/main" id="{DA599308-2CE7-4227-BC8A-FCC0FFD790F7}"/>
              </a:ext>
            </a:extLst>
          </p:cNvPr>
          <p:cNvSpPr>
            <a:spLocks xmlns:a="http://schemas.openxmlformats.org/drawingml/2006/main" noGrp="1"/>
          </p:cNvSpPr>
          <p:nvPr/>
        </p:nvSpPr>
        <p:spPr>
          <a:xfrm xmlns:a="http://schemas.openxmlformats.org/drawingml/2006/main" flipH="1" flipV="0">
            <a:off x="4667250" y="61531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2" name="edge-390">
            <a:extLst xmlns:a="http://schemas.openxmlformats.org/drawingml/2006/main">
              <a:ext uri="{FF2B5EF4-FFF2-40B4-BE49-F238E27FC236}">
                <a16:creationId xmlns:a16="http://schemas.microsoft.com/office/drawing/2014/main" id="{D955E83D-789F-46F5-9158-B7384C7BA16B}"/>
              </a:ext>
            </a:extLst>
          </p:cNvPr>
          <p:cNvSpPr>
            <a:spLocks xmlns:a="http://schemas.openxmlformats.org/drawingml/2006/main" noGrp="1"/>
          </p:cNvSpPr>
          <p:nvPr/>
        </p:nvSpPr>
        <p:spPr>
          <a:xfrm xmlns:a="http://schemas.openxmlformats.org/drawingml/2006/main" flipH="0" flipV="0">
            <a:off x="93154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3" name="edge-391">
            <a:extLst xmlns:a="http://schemas.openxmlformats.org/drawingml/2006/main">
              <a:ext uri="{FF2B5EF4-FFF2-40B4-BE49-F238E27FC236}">
                <a16:creationId xmlns:a16="http://schemas.microsoft.com/office/drawing/2014/main" id="{BE6571A8-079E-4F9D-9925-832515FACD7F}"/>
              </a:ext>
            </a:extLst>
          </p:cNvPr>
          <p:cNvSpPr>
            <a:spLocks xmlns:a="http://schemas.openxmlformats.org/drawingml/2006/main" noGrp="1"/>
          </p:cNvSpPr>
          <p:nvPr/>
        </p:nvSpPr>
        <p:spPr>
          <a:xfrm xmlns:a="http://schemas.openxmlformats.org/drawingml/2006/main" flipH="0" flipV="1">
            <a:off x="9963150" y="3028950"/>
            <a:ext cx="9525" cy="136207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4" name="edge-392">
            <a:extLst xmlns:a="http://schemas.openxmlformats.org/drawingml/2006/main">
              <a:ext uri="{FF2B5EF4-FFF2-40B4-BE49-F238E27FC236}">
                <a16:creationId xmlns:a16="http://schemas.microsoft.com/office/drawing/2014/main" id="{A4C6440A-1B70-44B2-8FAF-E2FAA770DB80}"/>
              </a:ext>
            </a:extLst>
          </p:cNvPr>
          <p:cNvSpPr>
            <a:spLocks xmlns:a="http://schemas.openxmlformats.org/drawingml/2006/main" noGrp="1"/>
          </p:cNvSpPr>
          <p:nvPr/>
        </p:nvSpPr>
        <p:spPr>
          <a:xfrm xmlns:a="http://schemas.openxmlformats.org/drawingml/2006/main" flipH="0" flipV="0">
            <a:off x="9963150" y="30289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5" name="edge-393">
            <a:extLst xmlns:a="http://schemas.openxmlformats.org/drawingml/2006/main">
              <a:ext uri="{FF2B5EF4-FFF2-40B4-BE49-F238E27FC236}">
                <a16:creationId xmlns:a16="http://schemas.microsoft.com/office/drawing/2014/main" id="{880F2C5A-D0B6-45B0-BF9D-6E76BC97A94B}"/>
              </a:ext>
            </a:extLst>
          </p:cNvPr>
          <p:cNvSpPr>
            <a:spLocks xmlns:a="http://schemas.openxmlformats.org/drawingml/2006/main" noGrp="1"/>
          </p:cNvSpPr>
          <p:nvPr/>
        </p:nvSpPr>
        <p:spPr>
          <a:xfrm xmlns:a="http://schemas.openxmlformats.org/drawingml/2006/main" flipH="0" flipV="0">
            <a:off x="9315450" y="4391025"/>
            <a:ext cx="6477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6" name="edge-394">
            <a:extLst xmlns:a="http://schemas.openxmlformats.org/drawingml/2006/main">
              <a:ext uri="{FF2B5EF4-FFF2-40B4-BE49-F238E27FC236}">
                <a16:creationId xmlns:a16="http://schemas.microsoft.com/office/drawing/2014/main" id="{9971C6DF-84D9-4C6A-B85A-2858BFD21C29}"/>
              </a:ext>
            </a:extLst>
          </p:cNvPr>
          <p:cNvSpPr>
            <a:spLocks xmlns:a="http://schemas.openxmlformats.org/drawingml/2006/main" noGrp="1"/>
          </p:cNvSpPr>
          <p:nvPr/>
        </p:nvSpPr>
        <p:spPr>
          <a:xfrm xmlns:a="http://schemas.openxmlformats.org/drawingml/2006/main" flipH="0" flipV="0">
            <a:off x="9963150" y="4391025"/>
            <a:ext cx="9525" cy="17621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7" name="edge-395">
            <a:extLst xmlns:a="http://schemas.openxmlformats.org/drawingml/2006/main">
              <a:ext uri="{FF2B5EF4-FFF2-40B4-BE49-F238E27FC236}">
                <a16:creationId xmlns:a16="http://schemas.microsoft.com/office/drawing/2014/main" id="{D64BCC8A-4077-4C45-B719-0269964CE0F2}"/>
              </a:ext>
            </a:extLst>
          </p:cNvPr>
          <p:cNvSpPr>
            <a:spLocks xmlns:a="http://schemas.openxmlformats.org/drawingml/2006/main" noGrp="1"/>
          </p:cNvSpPr>
          <p:nvPr/>
        </p:nvSpPr>
        <p:spPr>
          <a:xfrm xmlns:a="http://schemas.openxmlformats.org/drawingml/2006/main" flipH="0" flipV="0">
            <a:off x="9963150" y="6153150"/>
            <a:ext cx="609600" cy="9525"/>
          </a:xfrm>
          <a:prstGeom xmlns:a="http://schemas.openxmlformats.org/drawingml/2006/main" prst="line">
            <a:avLst/>
          </a:prstGeom>
          <a:noFill xmlns:a="http://schemas.openxmlformats.org/drawingml/2006/main"/>
          <a:ln xmlns:a="http://schemas.openxmlformats.org/drawingml/2006/main" w="19050">
            <a:solidFill>
              <a:srgbClr val="B28B4E"/>
            </a:solidFill>
            <a:prstDash val="solid"/>
          </a:ln>
        </p:spPr>
      </p:sp>
      <p:sp>
        <p:nvSpPr>
          <p:cNvPr id="18" name="surface-396">
            <a:extLst xmlns:a="http://schemas.openxmlformats.org/drawingml/2006/main">
              <a:ext uri="{FF2B5EF4-FFF2-40B4-BE49-F238E27FC236}">
                <a16:creationId xmlns:a16="http://schemas.microsoft.com/office/drawing/2014/main" id="{996044C7-CCDF-468C-A83A-DBC9ACD15539}"/>
              </a:ext>
            </a:extLst>
          </p:cNvPr>
          <p:cNvSpPr>
            <a:spLocks xmlns:a="http://schemas.openxmlformats.org/drawingml/2006/main" noGrp="1"/>
          </p:cNvSpPr>
          <p:nvPr/>
        </p:nvSpPr>
        <p:spPr>
          <a:xfrm xmlns:a="http://schemas.openxmlformats.org/drawingml/2006/main">
            <a:off x="5924550" y="3752850"/>
            <a:ext cx="3390900" cy="1276350"/>
          </a:xfrm>
          <a:prstGeom xmlns:a="http://schemas.openxmlformats.org/drawingml/2006/main" prst="rect">
            <a:avLst/>
          </a:prstGeom>
          <a:solidFill xmlns:a="http://schemas.openxmlformats.org/drawingml/2006/main">
            <a:srgbClr val="103D43"/>
          </a:solidFill>
          <a:ln xmlns:a="http://schemas.openxmlformats.org/drawingml/2006/main" w="0">
            <a:noFill/>
            <a:prstDash val="solid"/>
          </a:ln>
        </p:spPr>
      </p:sp>
      <p:sp>
        <p:nvSpPr>
          <p:cNvPr id="19" name="text-397">
            <a:extLst xmlns:a="http://schemas.openxmlformats.org/drawingml/2006/main">
              <a:ext uri="{FF2B5EF4-FFF2-40B4-BE49-F238E27FC236}">
                <a16:creationId xmlns:a16="http://schemas.microsoft.com/office/drawing/2014/main" id="{4818CA8C-31F0-45C1-AD44-9555F994D1E1}"/>
              </a:ext>
            </a:extLst>
          </p:cNvPr>
          <p:cNvSpPr>
            <a:spLocks xmlns:a="http://schemas.openxmlformats.org/drawingml/2006/main" noGrp="1"/>
          </p:cNvSpPr>
          <p:nvPr/>
        </p:nvSpPr>
        <p:spPr>
          <a:xfrm xmlns:a="http://schemas.openxmlformats.org/drawingml/2006/main">
            <a:off x="6115050" y="4038600"/>
            <a:ext cx="30099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75" b="1">
                <a:solidFill>
                  <a:srgbClr val="F7F5EE"/>
                </a:solidFill>
                <a:latin typeface="Aptos"/>
                <a:ea typeface="Aptos"/>
                <a:cs typeface="Aptos"/>
              </a:defRPr>
            </a:pPr>
            <a:r>
              <a:rPr sz="2775" b="1">
                <a:solidFill>
                  <a:srgbClr val="F7F5EE"/>
                </a:solidFill>
                <a:latin typeface="Aptos"/>
                <a:ea typeface="Aptos"/>
                <a:cs typeface="Aptos"/>
              </a:rPr>
              <a:t>YOUR ERP</a:t>
            </a:r>
          </a:p>
          <a:p xmlns:a="http://schemas.openxmlformats.org/drawingml/2006/main">
            <a:pPr algn="ctr">
              <a:defRPr sz="2775" b="1">
                <a:solidFill>
                  <a:srgbClr val="F7F5EE"/>
                </a:solidFill>
                <a:latin typeface="Aptos"/>
                <a:ea typeface="Aptos"/>
                <a:cs typeface="Aptos"/>
              </a:defRPr>
            </a:pPr>
            <a:r>
              <a:rPr sz="2775" b="1">
                <a:solidFill>
                  <a:srgbClr val="F7F5EE"/>
                </a:solidFill>
                <a:latin typeface="Aptos"/>
                <a:ea typeface="Aptos"/>
                <a:cs typeface="Aptos"/>
              </a:rPr>
              <a:t>READY TO RUN</a:t>
            </a:r>
          </a:p>
        </p:txBody>
      </p:sp>
      <p:sp>
        <p:nvSpPr>
          <p:cNvPr id="20" name="text-398">
            <a:extLst xmlns:a="http://schemas.openxmlformats.org/drawingml/2006/main">
              <a:ext uri="{FF2B5EF4-FFF2-40B4-BE49-F238E27FC236}">
                <a16:creationId xmlns:a16="http://schemas.microsoft.com/office/drawing/2014/main" id="{B997388A-0DB1-4C3F-ACB5-9DAF32DB28CA}"/>
              </a:ext>
            </a:extLst>
          </p:cNvPr>
          <p:cNvSpPr>
            <a:spLocks xmlns:a="http://schemas.openxmlformats.org/drawingml/2006/main" noGrp="1"/>
          </p:cNvSpPr>
          <p:nvPr/>
        </p:nvSpPr>
        <p:spPr>
          <a:xfrm xmlns:a="http://schemas.openxmlformats.org/drawingml/2006/main">
            <a:off x="685800" y="25527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Configured platform</a:t>
            </a:r>
          </a:p>
        </p:txBody>
      </p:sp>
      <p:sp>
        <p:nvSpPr>
          <p:cNvPr id="21" name="text-399">
            <a:extLst xmlns:a="http://schemas.openxmlformats.org/drawingml/2006/main">
              <a:ext uri="{FF2B5EF4-FFF2-40B4-BE49-F238E27FC236}">
                <a16:creationId xmlns:a16="http://schemas.microsoft.com/office/drawing/2014/main" id="{C41F2C63-DF52-4E88-AB08-CC3600463C1C}"/>
              </a:ext>
            </a:extLst>
          </p:cNvPr>
          <p:cNvSpPr>
            <a:spLocks xmlns:a="http://schemas.openxmlformats.org/drawingml/2006/main" noGrp="1"/>
          </p:cNvSpPr>
          <p:nvPr/>
        </p:nvSpPr>
        <p:spPr>
          <a:xfrm xmlns:a="http://schemas.openxmlformats.org/drawingml/2006/main">
            <a:off x="685800" y="30575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Nine agreed modules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Roles, locations and workflows</a:t>
            </a:r>
          </a:p>
        </p:txBody>
      </p:sp>
      <p:sp>
        <p:nvSpPr>
          <p:cNvPr id="22" name="text-400">
            <a:extLst xmlns:a="http://schemas.openxmlformats.org/drawingml/2006/main">
              <a:ext uri="{FF2B5EF4-FFF2-40B4-BE49-F238E27FC236}">
                <a16:creationId xmlns:a16="http://schemas.microsoft.com/office/drawing/2014/main" id="{A49CDCB6-89C6-4B24-9272-AB835D74F515}"/>
              </a:ext>
            </a:extLst>
          </p:cNvPr>
          <p:cNvSpPr>
            <a:spLocks xmlns:a="http://schemas.openxmlformats.org/drawingml/2006/main" noGrp="1"/>
          </p:cNvSpPr>
          <p:nvPr/>
        </p:nvSpPr>
        <p:spPr>
          <a:xfrm xmlns:a="http://schemas.openxmlformats.org/drawingml/2006/main">
            <a:off x="685800" y="56769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Connected information</a:t>
            </a:r>
          </a:p>
        </p:txBody>
      </p:sp>
      <p:sp>
        <p:nvSpPr>
          <p:cNvPr id="23" name="text-401">
            <a:extLst xmlns:a="http://schemas.openxmlformats.org/drawingml/2006/main">
              <a:ext uri="{FF2B5EF4-FFF2-40B4-BE49-F238E27FC236}">
                <a16:creationId xmlns:a16="http://schemas.microsoft.com/office/drawing/2014/main" id="{6D512F3F-37F7-41CE-9207-EDF5481D97D2}"/>
              </a:ext>
            </a:extLst>
          </p:cNvPr>
          <p:cNvSpPr>
            <a:spLocks xmlns:a="http://schemas.openxmlformats.org/drawingml/2006/main" noGrp="1"/>
          </p:cNvSpPr>
          <p:nvPr/>
        </p:nvSpPr>
        <p:spPr>
          <a:xfrm xmlns:a="http://schemas.openxmlformats.org/drawingml/2006/main">
            <a:off x="685800" y="61817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Approved migration and channel feeds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Validated balances and records</a:t>
            </a:r>
          </a:p>
        </p:txBody>
      </p:sp>
      <p:sp>
        <p:nvSpPr>
          <p:cNvPr id="24" name="text-402">
            <a:extLst xmlns:a="http://schemas.openxmlformats.org/drawingml/2006/main">
              <a:ext uri="{FF2B5EF4-FFF2-40B4-BE49-F238E27FC236}">
                <a16:creationId xmlns:a16="http://schemas.microsoft.com/office/drawing/2014/main" id="{88A6B704-54AE-40E4-BADC-BA4E7872624D}"/>
              </a:ext>
            </a:extLst>
          </p:cNvPr>
          <p:cNvSpPr>
            <a:spLocks xmlns:a="http://schemas.openxmlformats.org/drawingml/2006/main" noGrp="1"/>
          </p:cNvSpPr>
          <p:nvPr/>
        </p:nvSpPr>
        <p:spPr>
          <a:xfrm xmlns:a="http://schemas.openxmlformats.org/drawingml/2006/main">
            <a:off x="10572750" y="25527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Operational visibility</a:t>
            </a:r>
          </a:p>
        </p:txBody>
      </p:sp>
      <p:sp>
        <p:nvSpPr>
          <p:cNvPr id="25" name="text-403">
            <a:extLst xmlns:a="http://schemas.openxmlformats.org/drawingml/2006/main">
              <a:ext uri="{FF2B5EF4-FFF2-40B4-BE49-F238E27FC236}">
                <a16:creationId xmlns:a16="http://schemas.microsoft.com/office/drawing/2014/main" id="{30E04DEA-8170-47C7-9643-4787C70AA504}"/>
              </a:ext>
            </a:extLst>
          </p:cNvPr>
          <p:cNvSpPr>
            <a:spLocks xmlns:a="http://schemas.openxmlformats.org/drawingml/2006/main" noGrp="1"/>
          </p:cNvSpPr>
          <p:nvPr/>
        </p:nvSpPr>
        <p:spPr>
          <a:xfrm xmlns:a="http://schemas.openxmlformats.org/drawingml/2006/main">
            <a:off x="10572750" y="30575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Reports, exports and traceable</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stock, sales and financial activity</a:t>
            </a:r>
          </a:p>
        </p:txBody>
      </p:sp>
      <p:sp>
        <p:nvSpPr>
          <p:cNvPr id="26" name="text-404">
            <a:extLst xmlns:a="http://schemas.openxmlformats.org/drawingml/2006/main">
              <a:ext uri="{FF2B5EF4-FFF2-40B4-BE49-F238E27FC236}">
                <a16:creationId xmlns:a16="http://schemas.microsoft.com/office/drawing/2014/main" id="{F840F4DB-BDA6-4B86-9076-F2F1C56A10C6}"/>
              </a:ext>
            </a:extLst>
          </p:cNvPr>
          <p:cNvSpPr>
            <a:spLocks xmlns:a="http://schemas.openxmlformats.org/drawingml/2006/main" noGrp="1"/>
          </p:cNvSpPr>
          <p:nvPr/>
        </p:nvSpPr>
        <p:spPr>
          <a:xfrm xmlns:a="http://schemas.openxmlformats.org/drawingml/2006/main">
            <a:off x="10572750" y="5676900"/>
            <a:ext cx="3981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Ready-to-run handover</a:t>
            </a:r>
          </a:p>
        </p:txBody>
      </p:sp>
      <p:sp>
        <p:nvSpPr>
          <p:cNvPr id="27" name="text-405">
            <a:extLst xmlns:a="http://schemas.openxmlformats.org/drawingml/2006/main">
              <a:ext uri="{FF2B5EF4-FFF2-40B4-BE49-F238E27FC236}">
                <a16:creationId xmlns:a16="http://schemas.microsoft.com/office/drawing/2014/main" id="{317FB85E-5E43-4FEF-866B-C83D303FF480}"/>
              </a:ext>
            </a:extLst>
          </p:cNvPr>
          <p:cNvSpPr>
            <a:spLocks xmlns:a="http://schemas.openxmlformats.org/drawingml/2006/main" noGrp="1"/>
          </p:cNvSpPr>
          <p:nvPr/>
        </p:nvSpPr>
        <p:spPr>
          <a:xfrm xmlns:a="http://schemas.openxmlformats.org/drawingml/2006/main">
            <a:off x="10572750" y="6181725"/>
            <a:ext cx="3981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Training, operating guides, access</a:t>
            </a:r>
          </a:p>
          <a:p xmlns:a="http://schemas.openxmlformats.org/drawingml/2006/main">
            <a:pPr algn="l">
              <a:defRPr sz="1875" b="0">
                <a:solidFill>
                  <a:srgbClr val="597071"/>
                </a:solidFill>
                <a:latin typeface="Aptos"/>
                <a:ea typeface="Aptos"/>
                <a:cs typeface="Aptos"/>
              </a:defRPr>
            </a:pPr>
            <a:r>
              <a:rPr sz="1875" b="0">
                <a:solidFill>
                  <a:srgbClr val="597071"/>
                </a:solidFill>
                <a:latin typeface="Aptos"/>
                <a:ea typeface="Aptos"/>
                <a:cs typeface="Aptos"/>
              </a:rPr>
              <a:t>and agreed recovery procedures</a:t>
            </a:r>
          </a:p>
        </p:txBody>
      </p:sp>
    </p:spTree>
    <p:extLst>
      <p:ext uri="{BB962C8B-B14F-4D97-AF65-F5344CB8AC3E}">
        <p14:creationId xmlns:p14="http://schemas.microsoft.com/office/powerpoint/2010/main" val="1407950923"/>
      </p:ext>
    </p:extLst>
  </p:cSld>
</p:sld>
</file>

<file path=ppt/slides/slide1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7" name="text-406">
            <a:extLst xmlns:a="http://schemas.openxmlformats.org/drawingml/2006/main">
              <a:ext uri="{FF2B5EF4-FFF2-40B4-BE49-F238E27FC236}">
                <a16:creationId xmlns:a16="http://schemas.microsoft.com/office/drawing/2014/main" id="{F28DD3AE-183C-4FB6-BFE8-BF2B16B4AE0A}"/>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ROLLOUT / THREE DELIVERY GATES</a:t>
            </a:r>
          </a:p>
        </p:txBody>
      </p:sp>
      <p:sp>
        <p:nvSpPr>
          <p:cNvPr id="2" name="text-407">
            <a:extLst xmlns:a="http://schemas.openxmlformats.org/drawingml/2006/main">
              <a:ext uri="{FF2B5EF4-FFF2-40B4-BE49-F238E27FC236}">
                <a16:creationId xmlns:a16="http://schemas.microsoft.com/office/drawing/2014/main" id="{EC88DBD6-179D-4B62-80CD-FE48E3DBEA51}"/>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Deliver in phases. Validate before expanding.</a:t>
            </a:r>
          </a:p>
        </p:txBody>
      </p:sp>
      <p:sp>
        <p:nvSpPr>
          <p:cNvPr id="3" name="rule-408">
            <a:extLst xmlns:a="http://schemas.openxmlformats.org/drawingml/2006/main">
              <a:ext uri="{FF2B5EF4-FFF2-40B4-BE49-F238E27FC236}">
                <a16:creationId xmlns:a16="http://schemas.microsoft.com/office/drawing/2014/main" id="{7BE4EA90-F73C-48E5-9B30-68DBE57DE1A1}"/>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409">
            <a:extLst xmlns:a="http://schemas.openxmlformats.org/drawingml/2006/main">
              <a:ext uri="{FF2B5EF4-FFF2-40B4-BE49-F238E27FC236}">
                <a16:creationId xmlns:a16="http://schemas.microsoft.com/office/drawing/2014/main" id="{A69DD31D-E988-4971-A640-783C1E7EACDD}"/>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410">
            <a:extLst xmlns:a="http://schemas.openxmlformats.org/drawingml/2006/main">
              <a:ext uri="{FF2B5EF4-FFF2-40B4-BE49-F238E27FC236}">
                <a16:creationId xmlns:a16="http://schemas.microsoft.com/office/drawing/2014/main" id="{1ADBD8AE-C004-492B-8EF1-F48021D1B88D}"/>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18</a:t>
            </a:r>
          </a:p>
        </p:txBody>
      </p:sp>
      <p:sp>
        <p:nvSpPr>
          <p:cNvPr id="6" name="rule-411">
            <a:extLst xmlns:a="http://schemas.openxmlformats.org/drawingml/2006/main">
              <a:ext uri="{FF2B5EF4-FFF2-40B4-BE49-F238E27FC236}">
                <a16:creationId xmlns:a16="http://schemas.microsoft.com/office/drawing/2014/main" id="{347818C9-8873-4004-8A82-833371D6D35B}"/>
              </a:ext>
            </a:extLst>
          </p:cNvPr>
          <p:cNvSpPr>
            <a:spLocks xmlns:a="http://schemas.openxmlformats.org/drawingml/2006/main" noGrp="1"/>
          </p:cNvSpPr>
          <p:nvPr/>
        </p:nvSpPr>
        <p:spPr>
          <a:xfrm xmlns:a="http://schemas.openxmlformats.org/drawingml/2006/main">
            <a:off x="685800" y="261937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7" name="text-412">
            <a:extLst xmlns:a="http://schemas.openxmlformats.org/drawingml/2006/main">
              <a:ext uri="{FF2B5EF4-FFF2-40B4-BE49-F238E27FC236}">
                <a16:creationId xmlns:a16="http://schemas.microsoft.com/office/drawing/2014/main" id="{D618F6F2-88BC-418B-A3B3-F606DF5097D7}"/>
              </a:ext>
            </a:extLst>
          </p:cNvPr>
          <p:cNvSpPr>
            <a:spLocks xmlns:a="http://schemas.openxmlformats.org/drawingml/2006/main" noGrp="1"/>
          </p:cNvSpPr>
          <p:nvPr/>
        </p:nvSpPr>
        <p:spPr>
          <a:xfrm xmlns:a="http://schemas.openxmlformats.org/drawingml/2006/main">
            <a:off x="685800" y="2847975"/>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01  Operate</a:t>
            </a:r>
          </a:p>
        </p:txBody>
      </p:sp>
      <p:sp>
        <p:nvSpPr>
          <p:cNvPr id="8" name="text-413">
            <a:extLst xmlns:a="http://schemas.openxmlformats.org/drawingml/2006/main">
              <a:ext uri="{FF2B5EF4-FFF2-40B4-BE49-F238E27FC236}">
                <a16:creationId xmlns:a16="http://schemas.microsoft.com/office/drawing/2014/main" id="{4520DAAB-9518-4596-B247-7EA05574A1CE}"/>
              </a:ext>
            </a:extLst>
          </p:cNvPr>
          <p:cNvSpPr>
            <a:spLocks xmlns:a="http://schemas.openxmlformats.org/drawingml/2006/main" noGrp="1"/>
          </p:cNvSpPr>
          <p:nvPr/>
        </p:nvSpPr>
        <p:spPr>
          <a:xfrm xmlns:a="http://schemas.openxmlformats.org/drawingml/2006/main">
            <a:off x="685800" y="3848100"/>
            <a:ext cx="40386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Setup • inventory • POS</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Purchasing &amp; vendors</a:t>
            </a:r>
          </a:p>
          <a:p xmlns:a="http://schemas.openxmlformats.org/drawingml/2006/main">
            <a:r>
              <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Gate: stock, sale, return</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and buying flows accepted.</a:t>
            </a:r>
          </a:p>
        </p:txBody>
      </p:sp>
      <p:sp>
        <p:nvSpPr>
          <p:cNvPr id="9" name="rule-414">
            <a:extLst xmlns:a="http://schemas.openxmlformats.org/drawingml/2006/main">
              <a:ext uri="{FF2B5EF4-FFF2-40B4-BE49-F238E27FC236}">
                <a16:creationId xmlns:a16="http://schemas.microsoft.com/office/drawing/2014/main" id="{2EDD4F37-9E6F-48CD-8CE0-DDB74717F509}"/>
              </a:ext>
            </a:extLst>
          </p:cNvPr>
          <p:cNvSpPr>
            <a:spLocks xmlns:a="http://schemas.openxmlformats.org/drawingml/2006/main" noGrp="1"/>
          </p:cNvSpPr>
          <p:nvPr/>
        </p:nvSpPr>
        <p:spPr>
          <a:xfrm xmlns:a="http://schemas.openxmlformats.org/drawingml/2006/main">
            <a:off x="5372100" y="261937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10" name="text-415">
            <a:extLst xmlns:a="http://schemas.openxmlformats.org/drawingml/2006/main">
              <a:ext uri="{FF2B5EF4-FFF2-40B4-BE49-F238E27FC236}">
                <a16:creationId xmlns:a16="http://schemas.microsoft.com/office/drawing/2014/main" id="{540F68CC-8632-4C0B-A766-A90B2D9152A7}"/>
              </a:ext>
            </a:extLst>
          </p:cNvPr>
          <p:cNvSpPr>
            <a:spLocks xmlns:a="http://schemas.openxmlformats.org/drawingml/2006/main" noGrp="1"/>
          </p:cNvSpPr>
          <p:nvPr/>
        </p:nvSpPr>
        <p:spPr>
          <a:xfrm xmlns:a="http://schemas.openxmlformats.org/drawingml/2006/main">
            <a:off x="5372100" y="2847975"/>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02  Expand</a:t>
            </a:r>
          </a:p>
        </p:txBody>
      </p:sp>
      <p:sp>
        <p:nvSpPr>
          <p:cNvPr id="11" name="text-416">
            <a:extLst xmlns:a="http://schemas.openxmlformats.org/drawingml/2006/main">
              <a:ext uri="{FF2B5EF4-FFF2-40B4-BE49-F238E27FC236}">
                <a16:creationId xmlns:a16="http://schemas.microsoft.com/office/drawing/2014/main" id="{CD6078FF-986C-41D3-A858-6C800D1CA295}"/>
              </a:ext>
            </a:extLst>
          </p:cNvPr>
          <p:cNvSpPr>
            <a:spLocks xmlns:a="http://schemas.openxmlformats.org/drawingml/2006/main" noGrp="1"/>
          </p:cNvSpPr>
          <p:nvPr/>
        </p:nvSpPr>
        <p:spPr>
          <a:xfrm xmlns:a="http://schemas.openxmlformats.org/drawingml/2006/main">
            <a:off x="5372100" y="3848100"/>
            <a:ext cx="40386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Wholesale • e-commerce</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Reports &amp; dashboards</a:t>
            </a:r>
          </a:p>
          <a:p xmlns:a="http://schemas.openxmlformats.org/drawingml/2006/main">
            <a:r>
              <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Gate: channel orders, stock</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and cost data reconcile.</a:t>
            </a:r>
          </a:p>
        </p:txBody>
      </p:sp>
      <p:sp>
        <p:nvSpPr>
          <p:cNvPr id="12" name="rule-417">
            <a:extLst xmlns:a="http://schemas.openxmlformats.org/drawingml/2006/main">
              <a:ext uri="{FF2B5EF4-FFF2-40B4-BE49-F238E27FC236}">
                <a16:creationId xmlns:a16="http://schemas.microsoft.com/office/drawing/2014/main" id="{C4CEF6CC-5EB3-48E4-A799-C827ACAC17DE}"/>
              </a:ext>
            </a:extLst>
          </p:cNvPr>
          <p:cNvSpPr>
            <a:spLocks xmlns:a="http://schemas.openxmlformats.org/drawingml/2006/main" noGrp="1"/>
          </p:cNvSpPr>
          <p:nvPr/>
        </p:nvSpPr>
        <p:spPr>
          <a:xfrm xmlns:a="http://schemas.openxmlformats.org/drawingml/2006/main">
            <a:off x="10058400" y="261937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13" name="text-418">
            <a:extLst xmlns:a="http://schemas.openxmlformats.org/drawingml/2006/main">
              <a:ext uri="{FF2B5EF4-FFF2-40B4-BE49-F238E27FC236}">
                <a16:creationId xmlns:a16="http://schemas.microsoft.com/office/drawing/2014/main" id="{AF8A5EFC-66CC-4107-8C99-B3510FE0AA98}"/>
              </a:ext>
            </a:extLst>
          </p:cNvPr>
          <p:cNvSpPr>
            <a:spLocks xmlns:a="http://schemas.openxmlformats.org/drawingml/2006/main" noGrp="1"/>
          </p:cNvSpPr>
          <p:nvPr/>
        </p:nvSpPr>
        <p:spPr>
          <a:xfrm xmlns:a="http://schemas.openxmlformats.org/drawingml/2006/main">
            <a:off x="10058400" y="2847975"/>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03  Optimize</a:t>
            </a:r>
          </a:p>
        </p:txBody>
      </p:sp>
      <p:sp>
        <p:nvSpPr>
          <p:cNvPr id="14" name="text-419">
            <a:extLst xmlns:a="http://schemas.openxmlformats.org/drawingml/2006/main">
              <a:ext uri="{FF2B5EF4-FFF2-40B4-BE49-F238E27FC236}">
                <a16:creationId xmlns:a16="http://schemas.microsoft.com/office/drawing/2014/main" id="{27D9C0B5-A924-4C56-8162-FA9735660BD9}"/>
              </a:ext>
            </a:extLst>
          </p:cNvPr>
          <p:cNvSpPr>
            <a:spLocks xmlns:a="http://schemas.openxmlformats.org/drawingml/2006/main" noGrp="1"/>
          </p:cNvSpPr>
          <p:nvPr/>
        </p:nvSpPr>
        <p:spPr>
          <a:xfrm xmlns:a="http://schemas.openxmlformats.org/drawingml/2006/main">
            <a:off x="10058400" y="3848100"/>
            <a:ext cx="40386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Forecasting • finance</a:t>
            </a:r>
          </a:p>
          <a:p xmlns:a="http://schemas.openxmlformats.org/drawingml/2006/main">
            <a:r>
              <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Gate: buying recommendations</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and financial outputs</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validated by business owners.</a:t>
            </a:r>
          </a:p>
        </p:txBody>
      </p:sp>
      <p:sp>
        <p:nvSpPr>
          <p:cNvPr id="15" name="rule-420">
            <a:extLst xmlns:a="http://schemas.openxmlformats.org/drawingml/2006/main">
              <a:ext uri="{FF2B5EF4-FFF2-40B4-BE49-F238E27FC236}">
                <a16:creationId xmlns:a16="http://schemas.microsoft.com/office/drawing/2014/main" id="{79425C42-15EA-41E0-8E6E-F4A6F0D76730}"/>
              </a:ext>
            </a:extLst>
          </p:cNvPr>
          <p:cNvSpPr>
            <a:spLocks xmlns:a="http://schemas.openxmlformats.org/drawingml/2006/main" noGrp="1"/>
          </p:cNvSpPr>
          <p:nvPr/>
        </p:nvSpPr>
        <p:spPr>
          <a:xfrm xmlns:a="http://schemas.openxmlformats.org/drawingml/2006/main">
            <a:off x="685800" y="6943725"/>
            <a:ext cx="5715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16" name="text-421">
            <a:extLst xmlns:a="http://schemas.openxmlformats.org/drawingml/2006/main">
              <a:ext uri="{FF2B5EF4-FFF2-40B4-BE49-F238E27FC236}">
                <a16:creationId xmlns:a16="http://schemas.microsoft.com/office/drawing/2014/main" id="{74BFAF8C-3F4B-4F2C-AA07-E23308012A06}"/>
              </a:ext>
            </a:extLst>
          </p:cNvPr>
          <p:cNvSpPr>
            <a:spLocks xmlns:a="http://schemas.openxmlformats.org/drawingml/2006/main" noGrp="1"/>
          </p:cNvSpPr>
          <p:nvPr/>
        </p:nvSpPr>
        <p:spPr>
          <a:xfrm xmlns:a="http://schemas.openxmlformats.org/drawingml/2006/main">
            <a:off x="685800" y="7105650"/>
            <a:ext cx="13868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3D43"/>
                </a:solidFill>
                <a:latin typeface="Aptos"/>
                <a:ea typeface="Aptos"/>
                <a:cs typeface="Aptos"/>
              </a:defRPr>
            </a:pPr>
            <a:r>
              <a:rPr sz="2250" b="1">
                <a:solidFill>
                  <a:srgbClr val="103D43"/>
                </a:solidFill>
                <a:latin typeface="Aptos"/>
                <a:ea typeface="Aptos"/>
                <a:cs typeface="Aptos"/>
              </a:rPr>
              <a:t>Dates and investment follow confirmed scope, data readiness and integration access.</a:t>
            </a:r>
          </a:p>
        </p:txBody>
      </p:sp>
    </p:spTree>
    <p:extLst>
      <p:ext uri="{BB962C8B-B14F-4D97-AF65-F5344CB8AC3E}">
        <p14:creationId xmlns:p14="http://schemas.microsoft.com/office/powerpoint/2010/main" val="209282383"/>
      </p:ext>
    </p:extLst>
  </p:cSld>
</p:sld>
</file>

<file path=ppt/slides/slide1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9" name="text-422">
            <a:extLst xmlns:a="http://schemas.openxmlformats.org/drawingml/2006/main">
              <a:ext uri="{FF2B5EF4-FFF2-40B4-BE49-F238E27FC236}">
                <a16:creationId xmlns:a16="http://schemas.microsoft.com/office/drawing/2014/main" id="{D34CD406-8D32-4F6C-9A30-EFA25CD5A3DE}"/>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EXPECTED BENEFITS / VALIDATE THROUGH THE PILOT</a:t>
            </a:r>
          </a:p>
        </p:txBody>
      </p:sp>
      <p:sp>
        <p:nvSpPr>
          <p:cNvPr id="2" name="text-423">
            <a:extLst xmlns:a="http://schemas.openxmlformats.org/drawingml/2006/main">
              <a:ext uri="{FF2B5EF4-FFF2-40B4-BE49-F238E27FC236}">
                <a16:creationId xmlns:a16="http://schemas.microsoft.com/office/drawing/2014/main" id="{26F49804-4F84-4CD8-88DC-A827B742A6BA}"/>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Measure the change that matters to the business</a:t>
            </a:r>
          </a:p>
        </p:txBody>
      </p:sp>
      <p:sp>
        <p:nvSpPr>
          <p:cNvPr id="3" name="rule-424">
            <a:extLst xmlns:a="http://schemas.openxmlformats.org/drawingml/2006/main">
              <a:ext uri="{FF2B5EF4-FFF2-40B4-BE49-F238E27FC236}">
                <a16:creationId xmlns:a16="http://schemas.microsoft.com/office/drawing/2014/main" id="{E8605509-4D55-4445-A12F-A87C6DA41BC7}"/>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425">
            <a:extLst xmlns:a="http://schemas.openxmlformats.org/drawingml/2006/main">
              <a:ext uri="{FF2B5EF4-FFF2-40B4-BE49-F238E27FC236}">
                <a16:creationId xmlns:a16="http://schemas.microsoft.com/office/drawing/2014/main" id="{2E1238F8-6490-49C1-A543-F126B0CAF3B2}"/>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426">
            <a:extLst xmlns:a="http://schemas.openxmlformats.org/drawingml/2006/main">
              <a:ext uri="{FF2B5EF4-FFF2-40B4-BE49-F238E27FC236}">
                <a16:creationId xmlns:a16="http://schemas.microsoft.com/office/drawing/2014/main" id="{5486F068-4EFD-48A8-ADA0-0648DE16C7E2}"/>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19</a:t>
            </a:r>
          </a:p>
        </p:txBody>
      </p:sp>
      <p:sp>
        <p:nvSpPr>
          <p:cNvPr id="6" name="text-427">
            <a:extLst xmlns:a="http://schemas.openxmlformats.org/drawingml/2006/main">
              <a:ext uri="{FF2B5EF4-FFF2-40B4-BE49-F238E27FC236}">
                <a16:creationId xmlns:a16="http://schemas.microsoft.com/office/drawing/2014/main" id="{C3876CC5-3FCF-42C6-B110-41087D80F220}"/>
              </a:ext>
            </a:extLst>
          </p:cNvPr>
          <p:cNvSpPr>
            <a:spLocks xmlns:a="http://schemas.openxmlformats.org/drawingml/2006/main" noGrp="1"/>
          </p:cNvSpPr>
          <p:nvPr/>
        </p:nvSpPr>
        <p:spPr>
          <a:xfrm xmlns:a="http://schemas.openxmlformats.org/drawingml/2006/main">
            <a:off x="685800" y="2400300"/>
            <a:ext cx="3190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3716D"/>
                </a:solidFill>
                <a:latin typeface="Aptos"/>
                <a:ea typeface="Aptos"/>
                <a:cs typeface="Aptos"/>
              </a:defRPr>
            </a:pPr>
            <a:r>
              <a:rPr sz="1800" b="1">
                <a:solidFill>
                  <a:srgbClr val="23716D"/>
                </a:solidFill>
                <a:latin typeface="Aptos"/>
                <a:ea typeface="Aptos"/>
                <a:cs typeface="Aptos"/>
              </a:rPr>
              <a:t>BUSINESS AREA</a:t>
            </a:r>
          </a:p>
        </p:txBody>
      </p:sp>
      <p:sp>
        <p:nvSpPr>
          <p:cNvPr id="7" name="text-428">
            <a:extLst xmlns:a="http://schemas.openxmlformats.org/drawingml/2006/main">
              <a:ext uri="{FF2B5EF4-FFF2-40B4-BE49-F238E27FC236}">
                <a16:creationId xmlns:a16="http://schemas.microsoft.com/office/drawing/2014/main" id="{2A52A649-0B22-420D-B593-52A59C3EB8FD}"/>
              </a:ext>
            </a:extLst>
          </p:cNvPr>
          <p:cNvSpPr>
            <a:spLocks xmlns:a="http://schemas.openxmlformats.org/drawingml/2006/main" noGrp="1"/>
          </p:cNvSpPr>
          <p:nvPr/>
        </p:nvSpPr>
        <p:spPr>
          <a:xfrm xmlns:a="http://schemas.openxmlformats.org/drawingml/2006/main">
            <a:off x="4429125" y="240030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3716D"/>
                </a:solidFill>
                <a:latin typeface="Aptos"/>
                <a:ea typeface="Aptos"/>
                <a:cs typeface="Aptos"/>
              </a:defRPr>
            </a:pPr>
            <a:r>
              <a:rPr sz="1800" b="1">
                <a:solidFill>
                  <a:srgbClr val="23716D"/>
                </a:solidFill>
                <a:latin typeface="Aptos"/>
                <a:ea typeface="Aptos"/>
                <a:cs typeface="Aptos"/>
              </a:rPr>
              <a:t>INTENDED BENEFIT</a:t>
            </a:r>
          </a:p>
        </p:txBody>
      </p:sp>
      <p:sp>
        <p:nvSpPr>
          <p:cNvPr id="8" name="text-429">
            <a:extLst xmlns:a="http://schemas.openxmlformats.org/drawingml/2006/main">
              <a:ext uri="{FF2B5EF4-FFF2-40B4-BE49-F238E27FC236}">
                <a16:creationId xmlns:a16="http://schemas.microsoft.com/office/drawing/2014/main" id="{8191C3D6-03EE-4994-A4AC-FCC200A82339}"/>
              </a:ext>
            </a:extLst>
          </p:cNvPr>
          <p:cNvSpPr>
            <a:spLocks xmlns:a="http://schemas.openxmlformats.org/drawingml/2006/main" noGrp="1"/>
          </p:cNvSpPr>
          <p:nvPr/>
        </p:nvSpPr>
        <p:spPr>
          <a:xfrm xmlns:a="http://schemas.openxmlformats.org/drawingml/2006/main">
            <a:off x="9667875" y="2400300"/>
            <a:ext cx="48863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3716D"/>
                </a:solidFill>
                <a:latin typeface="Aptos"/>
                <a:ea typeface="Aptos"/>
                <a:cs typeface="Aptos"/>
              </a:defRPr>
            </a:pPr>
            <a:r>
              <a:rPr sz="1800" b="1">
                <a:solidFill>
                  <a:srgbClr val="23716D"/>
                </a:solidFill>
                <a:latin typeface="Aptos"/>
                <a:ea typeface="Aptos"/>
                <a:cs typeface="Aptos"/>
              </a:rPr>
              <a:t>MEASURE TO AGREE</a:t>
            </a:r>
          </a:p>
        </p:txBody>
      </p:sp>
      <p:sp>
        <p:nvSpPr>
          <p:cNvPr id="9" name="rule-430">
            <a:extLst xmlns:a="http://schemas.openxmlformats.org/drawingml/2006/main">
              <a:ext uri="{FF2B5EF4-FFF2-40B4-BE49-F238E27FC236}">
                <a16:creationId xmlns:a16="http://schemas.microsoft.com/office/drawing/2014/main" id="{53E00A25-21AA-46D5-8D5E-FE06AB2745E9}"/>
              </a:ext>
            </a:extLst>
          </p:cNvPr>
          <p:cNvSpPr>
            <a:spLocks xmlns:a="http://schemas.openxmlformats.org/drawingml/2006/main" noGrp="1"/>
          </p:cNvSpPr>
          <p:nvPr/>
        </p:nvSpPr>
        <p:spPr>
          <a:xfrm xmlns:a="http://schemas.openxmlformats.org/drawingml/2006/main">
            <a:off x="685800" y="2943225"/>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10" name="text-431">
            <a:extLst xmlns:a="http://schemas.openxmlformats.org/drawingml/2006/main">
              <a:ext uri="{FF2B5EF4-FFF2-40B4-BE49-F238E27FC236}">
                <a16:creationId xmlns:a16="http://schemas.microsoft.com/office/drawing/2014/main" id="{3A354305-B5BB-49CF-A4AE-20ADCF6C9976}"/>
              </a:ext>
            </a:extLst>
          </p:cNvPr>
          <p:cNvSpPr>
            <a:spLocks xmlns:a="http://schemas.openxmlformats.org/drawingml/2006/main" noGrp="1"/>
          </p:cNvSpPr>
          <p:nvPr/>
        </p:nvSpPr>
        <p:spPr>
          <a:xfrm xmlns:a="http://schemas.openxmlformats.org/drawingml/2006/main">
            <a:off x="685800" y="3067050"/>
            <a:ext cx="31908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3D43"/>
                </a:solidFill>
                <a:latin typeface="Aptos"/>
                <a:ea typeface="Aptos"/>
                <a:cs typeface="Aptos"/>
              </a:defRPr>
            </a:pPr>
            <a:r>
              <a:rPr sz="2175" b="1">
                <a:solidFill>
                  <a:srgbClr val="103D43"/>
                </a:solidFill>
                <a:latin typeface="Aptos"/>
                <a:ea typeface="Aptos"/>
                <a:cs typeface="Aptos"/>
              </a:rPr>
              <a:t>Stock confidence</a:t>
            </a:r>
          </a:p>
        </p:txBody>
      </p:sp>
      <p:sp>
        <p:nvSpPr>
          <p:cNvPr id="11" name="text-432">
            <a:extLst xmlns:a="http://schemas.openxmlformats.org/drawingml/2006/main">
              <a:ext uri="{FF2B5EF4-FFF2-40B4-BE49-F238E27FC236}">
                <a16:creationId xmlns:a16="http://schemas.microsoft.com/office/drawing/2014/main" id="{85FF8A1B-0372-4B69-B15C-EE05EE852845}"/>
              </a:ext>
            </a:extLst>
          </p:cNvPr>
          <p:cNvSpPr>
            <a:spLocks xmlns:a="http://schemas.openxmlformats.org/drawingml/2006/main" noGrp="1"/>
          </p:cNvSpPr>
          <p:nvPr/>
        </p:nvSpPr>
        <p:spPr>
          <a:xfrm xmlns:a="http://schemas.openxmlformats.org/drawingml/2006/main">
            <a:off x="4429125" y="3067050"/>
            <a:ext cx="4667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Fewer stock discrepancies</a:t>
            </a:r>
          </a:p>
        </p:txBody>
      </p:sp>
      <p:sp>
        <p:nvSpPr>
          <p:cNvPr id="12" name="text-433">
            <a:extLst xmlns:a="http://schemas.openxmlformats.org/drawingml/2006/main">
              <a:ext uri="{FF2B5EF4-FFF2-40B4-BE49-F238E27FC236}">
                <a16:creationId xmlns:a16="http://schemas.microsoft.com/office/drawing/2014/main" id="{F0A2DB35-C063-4B74-9DE4-94A69E4FD9C1}"/>
              </a:ext>
            </a:extLst>
          </p:cNvPr>
          <p:cNvSpPr>
            <a:spLocks xmlns:a="http://schemas.openxmlformats.org/drawingml/2006/main" noGrp="1"/>
          </p:cNvSpPr>
          <p:nvPr/>
        </p:nvSpPr>
        <p:spPr>
          <a:xfrm xmlns:a="http://schemas.openxmlformats.org/drawingml/2006/main">
            <a:off x="9667875" y="3067050"/>
            <a:ext cx="488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97071"/>
                </a:solidFill>
                <a:latin typeface="Aptos"/>
                <a:ea typeface="Aptos"/>
                <a:cs typeface="Aptos"/>
              </a:defRPr>
            </a:pPr>
            <a:r>
              <a:rPr sz="1950" b="0">
                <a:solidFill>
                  <a:srgbClr val="597071"/>
                </a:solidFill>
                <a:latin typeface="Aptos"/>
                <a:ea typeface="Aptos"/>
                <a:cs typeface="Aptos"/>
              </a:rPr>
              <a:t>Count accuracy; oversell exceptions</a:t>
            </a:r>
          </a:p>
        </p:txBody>
      </p:sp>
      <p:sp>
        <p:nvSpPr>
          <p:cNvPr id="13" name="rule-434">
            <a:extLst xmlns:a="http://schemas.openxmlformats.org/drawingml/2006/main">
              <a:ext uri="{FF2B5EF4-FFF2-40B4-BE49-F238E27FC236}">
                <a16:creationId xmlns:a16="http://schemas.microsoft.com/office/drawing/2014/main" id="{9082A7D6-678A-49D5-BC63-996D63F41DE5}"/>
              </a:ext>
            </a:extLst>
          </p:cNvPr>
          <p:cNvSpPr>
            <a:spLocks xmlns:a="http://schemas.openxmlformats.org/drawingml/2006/main" noGrp="1"/>
          </p:cNvSpPr>
          <p:nvPr/>
        </p:nvSpPr>
        <p:spPr>
          <a:xfrm xmlns:a="http://schemas.openxmlformats.org/drawingml/2006/main">
            <a:off x="685800" y="3781425"/>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14" name="text-435">
            <a:extLst xmlns:a="http://schemas.openxmlformats.org/drawingml/2006/main">
              <a:ext uri="{FF2B5EF4-FFF2-40B4-BE49-F238E27FC236}">
                <a16:creationId xmlns:a16="http://schemas.microsoft.com/office/drawing/2014/main" id="{C0BCEE42-DC7F-4DAA-815D-01A850ABCC0E}"/>
              </a:ext>
            </a:extLst>
          </p:cNvPr>
          <p:cNvSpPr>
            <a:spLocks xmlns:a="http://schemas.openxmlformats.org/drawingml/2006/main" noGrp="1"/>
          </p:cNvSpPr>
          <p:nvPr/>
        </p:nvSpPr>
        <p:spPr>
          <a:xfrm xmlns:a="http://schemas.openxmlformats.org/drawingml/2006/main">
            <a:off x="685800" y="3905250"/>
            <a:ext cx="31908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3D43"/>
                </a:solidFill>
                <a:latin typeface="Aptos"/>
                <a:ea typeface="Aptos"/>
                <a:cs typeface="Aptos"/>
              </a:defRPr>
            </a:pPr>
            <a:r>
              <a:rPr sz="2175" b="1">
                <a:solidFill>
                  <a:srgbClr val="103D43"/>
                </a:solidFill>
                <a:latin typeface="Aptos"/>
                <a:ea typeface="Aptos"/>
                <a:cs typeface="Aptos"/>
              </a:rPr>
              <a:t>Counter efficiency</a:t>
            </a:r>
          </a:p>
        </p:txBody>
      </p:sp>
      <p:sp>
        <p:nvSpPr>
          <p:cNvPr id="15" name="text-436">
            <a:extLst xmlns:a="http://schemas.openxmlformats.org/drawingml/2006/main">
              <a:ext uri="{FF2B5EF4-FFF2-40B4-BE49-F238E27FC236}">
                <a16:creationId xmlns:a16="http://schemas.microsoft.com/office/drawing/2014/main" id="{2D1C307E-44C2-47CB-869B-D317253E8F8C}"/>
              </a:ext>
            </a:extLst>
          </p:cNvPr>
          <p:cNvSpPr>
            <a:spLocks xmlns:a="http://schemas.openxmlformats.org/drawingml/2006/main" noGrp="1"/>
          </p:cNvSpPr>
          <p:nvPr/>
        </p:nvSpPr>
        <p:spPr>
          <a:xfrm xmlns:a="http://schemas.openxmlformats.org/drawingml/2006/main">
            <a:off x="4429125" y="3905250"/>
            <a:ext cx="4667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Smoother customer service</a:t>
            </a:r>
          </a:p>
        </p:txBody>
      </p:sp>
      <p:sp>
        <p:nvSpPr>
          <p:cNvPr id="16" name="text-437">
            <a:extLst xmlns:a="http://schemas.openxmlformats.org/drawingml/2006/main">
              <a:ext uri="{FF2B5EF4-FFF2-40B4-BE49-F238E27FC236}">
                <a16:creationId xmlns:a16="http://schemas.microsoft.com/office/drawing/2014/main" id="{E71C71CA-0266-4D01-8EE2-2BC3406EE9BD}"/>
              </a:ext>
            </a:extLst>
          </p:cNvPr>
          <p:cNvSpPr>
            <a:spLocks xmlns:a="http://schemas.openxmlformats.org/drawingml/2006/main" noGrp="1"/>
          </p:cNvSpPr>
          <p:nvPr/>
        </p:nvSpPr>
        <p:spPr>
          <a:xfrm xmlns:a="http://schemas.openxmlformats.org/drawingml/2006/main">
            <a:off x="9667875" y="3905250"/>
            <a:ext cx="488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97071"/>
                </a:solidFill>
                <a:latin typeface="Aptos"/>
                <a:ea typeface="Aptos"/>
                <a:cs typeface="Aptos"/>
              </a:defRPr>
            </a:pPr>
            <a:r>
              <a:rPr sz="1950" b="0">
                <a:solidFill>
                  <a:srgbClr val="597071"/>
                </a:solidFill>
                <a:latin typeface="Aptos"/>
                <a:ea typeface="Aptos"/>
                <a:cs typeface="Aptos"/>
              </a:rPr>
              <a:t>Checkout time; return handling time</a:t>
            </a:r>
          </a:p>
        </p:txBody>
      </p:sp>
      <p:sp>
        <p:nvSpPr>
          <p:cNvPr id="17" name="rule-438">
            <a:extLst xmlns:a="http://schemas.openxmlformats.org/drawingml/2006/main">
              <a:ext uri="{FF2B5EF4-FFF2-40B4-BE49-F238E27FC236}">
                <a16:creationId xmlns:a16="http://schemas.microsoft.com/office/drawing/2014/main" id="{50DBF39C-73B6-4B27-B097-18929AD4F496}"/>
              </a:ext>
            </a:extLst>
          </p:cNvPr>
          <p:cNvSpPr>
            <a:spLocks xmlns:a="http://schemas.openxmlformats.org/drawingml/2006/main" noGrp="1"/>
          </p:cNvSpPr>
          <p:nvPr/>
        </p:nvSpPr>
        <p:spPr>
          <a:xfrm xmlns:a="http://schemas.openxmlformats.org/drawingml/2006/main">
            <a:off x="685800" y="4619625"/>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18" name="text-439">
            <a:extLst xmlns:a="http://schemas.openxmlformats.org/drawingml/2006/main">
              <a:ext uri="{FF2B5EF4-FFF2-40B4-BE49-F238E27FC236}">
                <a16:creationId xmlns:a16="http://schemas.microsoft.com/office/drawing/2014/main" id="{1BF27B47-C1D6-4C53-8AF4-32EFE49FCD28}"/>
              </a:ext>
            </a:extLst>
          </p:cNvPr>
          <p:cNvSpPr>
            <a:spLocks xmlns:a="http://schemas.openxmlformats.org/drawingml/2006/main" noGrp="1"/>
          </p:cNvSpPr>
          <p:nvPr/>
        </p:nvSpPr>
        <p:spPr>
          <a:xfrm xmlns:a="http://schemas.openxmlformats.org/drawingml/2006/main">
            <a:off x="685800" y="4743450"/>
            <a:ext cx="31908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3D43"/>
                </a:solidFill>
                <a:latin typeface="Aptos"/>
                <a:ea typeface="Aptos"/>
                <a:cs typeface="Aptos"/>
              </a:defRPr>
            </a:pPr>
            <a:r>
              <a:rPr sz="2175" b="1">
                <a:solidFill>
                  <a:srgbClr val="103D43"/>
                </a:solidFill>
                <a:latin typeface="Aptos"/>
                <a:ea typeface="Aptos"/>
                <a:cs typeface="Aptos"/>
              </a:rPr>
              <a:t>Cash accountability</a:t>
            </a:r>
          </a:p>
        </p:txBody>
      </p:sp>
      <p:sp>
        <p:nvSpPr>
          <p:cNvPr id="19" name="text-440">
            <a:extLst xmlns:a="http://schemas.openxmlformats.org/drawingml/2006/main">
              <a:ext uri="{FF2B5EF4-FFF2-40B4-BE49-F238E27FC236}">
                <a16:creationId xmlns:a16="http://schemas.microsoft.com/office/drawing/2014/main" id="{B1B7D832-8A08-4B0A-B0F2-0029357EF331}"/>
              </a:ext>
            </a:extLst>
          </p:cNvPr>
          <p:cNvSpPr>
            <a:spLocks xmlns:a="http://schemas.openxmlformats.org/drawingml/2006/main" noGrp="1"/>
          </p:cNvSpPr>
          <p:nvPr/>
        </p:nvSpPr>
        <p:spPr>
          <a:xfrm xmlns:a="http://schemas.openxmlformats.org/drawingml/2006/main">
            <a:off x="4429125" y="4743450"/>
            <a:ext cx="4667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Clearer daily close</a:t>
            </a:r>
          </a:p>
        </p:txBody>
      </p:sp>
      <p:sp>
        <p:nvSpPr>
          <p:cNvPr id="20" name="text-441">
            <a:extLst xmlns:a="http://schemas.openxmlformats.org/drawingml/2006/main">
              <a:ext uri="{FF2B5EF4-FFF2-40B4-BE49-F238E27FC236}">
                <a16:creationId xmlns:a16="http://schemas.microsoft.com/office/drawing/2014/main" id="{F35B1341-4D20-4D28-B481-E25CEE72E239}"/>
              </a:ext>
            </a:extLst>
          </p:cNvPr>
          <p:cNvSpPr>
            <a:spLocks xmlns:a="http://schemas.openxmlformats.org/drawingml/2006/main" noGrp="1"/>
          </p:cNvSpPr>
          <p:nvPr/>
        </p:nvSpPr>
        <p:spPr>
          <a:xfrm xmlns:a="http://schemas.openxmlformats.org/drawingml/2006/main">
            <a:off x="9667875" y="4743450"/>
            <a:ext cx="488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97071"/>
                </a:solidFill>
                <a:latin typeface="Aptos"/>
                <a:ea typeface="Aptos"/>
                <a:cs typeface="Aptos"/>
              </a:defRPr>
            </a:pPr>
            <a:r>
              <a:rPr sz="1950" b="0">
                <a:solidFill>
                  <a:srgbClr val="597071"/>
                </a:solidFill>
                <a:latin typeface="Aptos"/>
                <a:ea typeface="Aptos"/>
                <a:cs typeface="Aptos"/>
              </a:rPr>
              <a:t>Close time; unexplained variance</a:t>
            </a:r>
          </a:p>
        </p:txBody>
      </p:sp>
      <p:sp>
        <p:nvSpPr>
          <p:cNvPr id="21" name="rule-442">
            <a:extLst xmlns:a="http://schemas.openxmlformats.org/drawingml/2006/main">
              <a:ext uri="{FF2B5EF4-FFF2-40B4-BE49-F238E27FC236}">
                <a16:creationId xmlns:a16="http://schemas.microsoft.com/office/drawing/2014/main" id="{875A2FE1-C555-4682-B72D-B876CE362866}"/>
              </a:ext>
            </a:extLst>
          </p:cNvPr>
          <p:cNvSpPr>
            <a:spLocks xmlns:a="http://schemas.openxmlformats.org/drawingml/2006/main" noGrp="1"/>
          </p:cNvSpPr>
          <p:nvPr/>
        </p:nvSpPr>
        <p:spPr>
          <a:xfrm xmlns:a="http://schemas.openxmlformats.org/drawingml/2006/main">
            <a:off x="685800" y="5457825"/>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22" name="text-443">
            <a:extLst xmlns:a="http://schemas.openxmlformats.org/drawingml/2006/main">
              <a:ext uri="{FF2B5EF4-FFF2-40B4-BE49-F238E27FC236}">
                <a16:creationId xmlns:a16="http://schemas.microsoft.com/office/drawing/2014/main" id="{28D0362B-7DCF-498F-A235-F208C2839982}"/>
              </a:ext>
            </a:extLst>
          </p:cNvPr>
          <p:cNvSpPr>
            <a:spLocks xmlns:a="http://schemas.openxmlformats.org/drawingml/2006/main" noGrp="1"/>
          </p:cNvSpPr>
          <p:nvPr/>
        </p:nvSpPr>
        <p:spPr>
          <a:xfrm xmlns:a="http://schemas.openxmlformats.org/drawingml/2006/main">
            <a:off x="685800" y="5581650"/>
            <a:ext cx="31908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3D43"/>
                </a:solidFill>
                <a:latin typeface="Aptos"/>
                <a:ea typeface="Aptos"/>
                <a:cs typeface="Aptos"/>
              </a:defRPr>
            </a:pPr>
            <a:r>
              <a:rPr sz="2175" b="1">
                <a:solidFill>
                  <a:srgbClr val="103D43"/>
                </a:solidFill>
                <a:latin typeface="Aptos"/>
                <a:ea typeface="Aptos"/>
                <a:cs typeface="Aptos"/>
              </a:rPr>
              <a:t>Buying quality</a:t>
            </a:r>
          </a:p>
        </p:txBody>
      </p:sp>
      <p:sp>
        <p:nvSpPr>
          <p:cNvPr id="23" name="text-444">
            <a:extLst xmlns:a="http://schemas.openxmlformats.org/drawingml/2006/main">
              <a:ext uri="{FF2B5EF4-FFF2-40B4-BE49-F238E27FC236}">
                <a16:creationId xmlns:a16="http://schemas.microsoft.com/office/drawing/2014/main" id="{395B5781-74C7-48D3-B198-EC7EEBBBCE50}"/>
              </a:ext>
            </a:extLst>
          </p:cNvPr>
          <p:cNvSpPr>
            <a:spLocks xmlns:a="http://schemas.openxmlformats.org/drawingml/2006/main" noGrp="1"/>
          </p:cNvSpPr>
          <p:nvPr/>
        </p:nvSpPr>
        <p:spPr>
          <a:xfrm xmlns:a="http://schemas.openxmlformats.org/drawingml/2006/main">
            <a:off x="4429125" y="5581650"/>
            <a:ext cx="4667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More informed replenishment</a:t>
            </a:r>
          </a:p>
        </p:txBody>
      </p:sp>
      <p:sp>
        <p:nvSpPr>
          <p:cNvPr id="24" name="text-445">
            <a:extLst xmlns:a="http://schemas.openxmlformats.org/drawingml/2006/main">
              <a:ext uri="{FF2B5EF4-FFF2-40B4-BE49-F238E27FC236}">
                <a16:creationId xmlns:a16="http://schemas.microsoft.com/office/drawing/2014/main" id="{77D8771F-3323-415A-A917-A9B41C071505}"/>
              </a:ext>
            </a:extLst>
          </p:cNvPr>
          <p:cNvSpPr>
            <a:spLocks xmlns:a="http://schemas.openxmlformats.org/drawingml/2006/main" noGrp="1"/>
          </p:cNvSpPr>
          <p:nvPr/>
        </p:nvSpPr>
        <p:spPr>
          <a:xfrm xmlns:a="http://schemas.openxmlformats.org/drawingml/2006/main">
            <a:off x="9667875" y="5581650"/>
            <a:ext cx="488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97071"/>
                </a:solidFill>
                <a:latin typeface="Aptos"/>
                <a:ea typeface="Aptos"/>
                <a:cs typeface="Aptos"/>
              </a:defRPr>
            </a:pPr>
            <a:r>
              <a:rPr sz="1950" b="0">
                <a:solidFill>
                  <a:srgbClr val="597071"/>
                </a:solidFill>
                <a:latin typeface="Aptos"/>
                <a:ea typeface="Aptos"/>
                <a:cs typeface="Aptos"/>
              </a:rPr>
              <a:t>Stockout days; aged-stock value</a:t>
            </a:r>
          </a:p>
        </p:txBody>
      </p:sp>
      <p:sp>
        <p:nvSpPr>
          <p:cNvPr id="25" name="rule-446">
            <a:extLst xmlns:a="http://schemas.openxmlformats.org/drawingml/2006/main">
              <a:ext uri="{FF2B5EF4-FFF2-40B4-BE49-F238E27FC236}">
                <a16:creationId xmlns:a16="http://schemas.microsoft.com/office/drawing/2014/main" id="{6F251D6C-845D-41D1-901E-A2E751BCECD1}"/>
              </a:ext>
            </a:extLst>
          </p:cNvPr>
          <p:cNvSpPr>
            <a:spLocks xmlns:a="http://schemas.openxmlformats.org/drawingml/2006/main" noGrp="1"/>
          </p:cNvSpPr>
          <p:nvPr/>
        </p:nvSpPr>
        <p:spPr>
          <a:xfrm xmlns:a="http://schemas.openxmlformats.org/drawingml/2006/main">
            <a:off x="685800" y="6296025"/>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26" name="text-447">
            <a:extLst xmlns:a="http://schemas.openxmlformats.org/drawingml/2006/main">
              <a:ext uri="{FF2B5EF4-FFF2-40B4-BE49-F238E27FC236}">
                <a16:creationId xmlns:a16="http://schemas.microsoft.com/office/drawing/2014/main" id="{2B29FC1B-0B76-4C25-BA48-BD4C806C01E3}"/>
              </a:ext>
            </a:extLst>
          </p:cNvPr>
          <p:cNvSpPr>
            <a:spLocks xmlns:a="http://schemas.openxmlformats.org/drawingml/2006/main" noGrp="1"/>
          </p:cNvSpPr>
          <p:nvPr/>
        </p:nvSpPr>
        <p:spPr>
          <a:xfrm xmlns:a="http://schemas.openxmlformats.org/drawingml/2006/main">
            <a:off x="685800" y="6419850"/>
            <a:ext cx="319087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3D43"/>
                </a:solidFill>
                <a:latin typeface="Aptos"/>
                <a:ea typeface="Aptos"/>
                <a:cs typeface="Aptos"/>
              </a:defRPr>
            </a:pPr>
            <a:r>
              <a:rPr sz="2175" b="1">
                <a:solidFill>
                  <a:srgbClr val="103D43"/>
                </a:solidFill>
                <a:latin typeface="Aptos"/>
                <a:ea typeface="Aptos"/>
                <a:cs typeface="Aptos"/>
              </a:rPr>
              <a:t>Channel visibility</a:t>
            </a:r>
          </a:p>
        </p:txBody>
      </p:sp>
      <p:sp>
        <p:nvSpPr>
          <p:cNvPr id="27" name="text-448">
            <a:extLst xmlns:a="http://schemas.openxmlformats.org/drawingml/2006/main">
              <a:ext uri="{FF2B5EF4-FFF2-40B4-BE49-F238E27FC236}">
                <a16:creationId xmlns:a16="http://schemas.microsoft.com/office/drawing/2014/main" id="{06A36B32-6922-4E29-BE30-71306F320CB6}"/>
              </a:ext>
            </a:extLst>
          </p:cNvPr>
          <p:cNvSpPr>
            <a:spLocks xmlns:a="http://schemas.openxmlformats.org/drawingml/2006/main" noGrp="1"/>
          </p:cNvSpPr>
          <p:nvPr/>
        </p:nvSpPr>
        <p:spPr>
          <a:xfrm xmlns:a="http://schemas.openxmlformats.org/drawingml/2006/main">
            <a:off x="4429125" y="6419850"/>
            <a:ext cx="4667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Better commercial decisions</a:t>
            </a:r>
          </a:p>
        </p:txBody>
      </p:sp>
      <p:sp>
        <p:nvSpPr>
          <p:cNvPr id="28" name="text-449">
            <a:extLst xmlns:a="http://schemas.openxmlformats.org/drawingml/2006/main">
              <a:ext uri="{FF2B5EF4-FFF2-40B4-BE49-F238E27FC236}">
                <a16:creationId xmlns:a16="http://schemas.microsoft.com/office/drawing/2014/main" id="{40EDC29E-7FF3-4AC0-A359-44A41B64C85F}"/>
              </a:ext>
            </a:extLst>
          </p:cNvPr>
          <p:cNvSpPr>
            <a:spLocks xmlns:a="http://schemas.openxmlformats.org/drawingml/2006/main" noGrp="1"/>
          </p:cNvSpPr>
          <p:nvPr/>
        </p:nvSpPr>
        <p:spPr>
          <a:xfrm xmlns:a="http://schemas.openxmlformats.org/drawingml/2006/main">
            <a:off x="9667875" y="6419850"/>
            <a:ext cx="48863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97071"/>
                </a:solidFill>
                <a:latin typeface="Aptos"/>
                <a:ea typeface="Aptos"/>
                <a:cs typeface="Aptos"/>
              </a:defRPr>
            </a:pPr>
            <a:r>
              <a:rPr sz="1950" b="0">
                <a:solidFill>
                  <a:srgbClr val="597071"/>
                </a:solidFill>
                <a:latin typeface="Aptos"/>
                <a:ea typeface="Aptos"/>
                <a:cs typeface="Aptos"/>
              </a:rPr>
              <a:t>Orders with complete cost data</a:t>
            </a:r>
          </a:p>
        </p:txBody>
      </p:sp>
    </p:spTree>
    <p:extLst>
      <p:ext uri="{BB962C8B-B14F-4D97-AF65-F5344CB8AC3E}">
        <p14:creationId xmlns:p14="http://schemas.microsoft.com/office/powerpoint/2010/main" val="1281884455"/>
      </p:ext>
    </p:extLst>
  </p:cSld>
</p:sld>
</file>

<file path=ppt/slides/slide20.xml><?xml version="1.0" encoding="utf-8"?>
<p:sld xmlns:p="http://schemas.openxmlformats.org/presentationml/2006/main">
  <p:cSld>
    <p:bg>
      <p:bgPr>
        <a:solidFill xmlns:a="http://schemas.openxmlformats.org/drawingml/2006/main">
          <a:srgbClr val="082C34"/>
        </a:solidFill>
      </p:bgPr>
    </p:bg>
    <p:spTree>
      <p:nvGrpSpPr>
        <p:cNvPr id="1" name=""/>
        <p:cNvGrpSpPr/>
        <p:nvPr/>
      </p:nvGrpSpPr>
      <p:grpSpPr>
        <a:xfrm xmlns:a="http://schemas.openxmlformats.org/drawingml/2006/main"/>
      </p:grpSpPr>
      <p:sp>
        <p:nvSpPr>
          <p:cNvPr id="19" name="text-450">
            <a:extLst xmlns:a="http://schemas.openxmlformats.org/drawingml/2006/main">
              <a:ext uri="{FF2B5EF4-FFF2-40B4-BE49-F238E27FC236}">
                <a16:creationId xmlns:a16="http://schemas.microsoft.com/office/drawing/2014/main" id="{59D43763-AD0D-428A-947A-3DC08C72F50E}"/>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B28B4E"/>
                </a:solidFill>
                <a:latin typeface="Aptos"/>
                <a:ea typeface="Aptos"/>
                <a:cs typeface="Aptos"/>
              </a:defRPr>
            </a:pPr>
            <a:r>
              <a:rPr sz="1650" b="1">
                <a:solidFill>
                  <a:srgbClr val="B28B4E"/>
                </a:solidFill>
                <a:latin typeface="Aptos"/>
                <a:ea typeface="Aptos"/>
                <a:cs typeface="Aptos"/>
              </a:rPr>
              <a:t>DISCUSSION / NEXT DECISIONS</a:t>
            </a:r>
          </a:p>
        </p:txBody>
      </p:sp>
      <p:sp>
        <p:nvSpPr>
          <p:cNvPr id="2" name="text-451">
            <a:extLst xmlns:a="http://schemas.openxmlformats.org/drawingml/2006/main">
              <a:ext uri="{FF2B5EF4-FFF2-40B4-BE49-F238E27FC236}">
                <a16:creationId xmlns:a16="http://schemas.microsoft.com/office/drawing/2014/main" id="{8030ADB8-28FE-487B-86D5-78D0563316A7}"/>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F7F5EE"/>
                </a:solidFill>
                <a:latin typeface="Aptos"/>
                <a:ea typeface="Aptos"/>
                <a:cs typeface="Aptos"/>
              </a:defRPr>
            </a:pPr>
            <a:r>
              <a:rPr sz="3900" b="1">
                <a:solidFill>
                  <a:srgbClr val="F7F5EE"/>
                </a:solidFill>
                <a:latin typeface="Aptos"/>
                <a:ea typeface="Aptos"/>
                <a:cs typeface="Aptos"/>
              </a:rPr>
              <a:t>Let’s agree the first operating milestone</a:t>
            </a:r>
          </a:p>
        </p:txBody>
      </p:sp>
      <p:sp>
        <p:nvSpPr>
          <p:cNvPr id="3" name="rule-452">
            <a:extLst xmlns:a="http://schemas.openxmlformats.org/drawingml/2006/main">
              <a:ext uri="{FF2B5EF4-FFF2-40B4-BE49-F238E27FC236}">
                <a16:creationId xmlns:a16="http://schemas.microsoft.com/office/drawing/2014/main" id="{408E0F3B-1BE8-433A-84FB-60CEE0DCDD1F}"/>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335158"/>
          </a:solidFill>
          <a:ln xmlns:a="http://schemas.openxmlformats.org/drawingml/2006/main" w="0">
            <a:noFill/>
            <a:prstDash val="solid"/>
          </a:ln>
        </p:spPr>
      </p:sp>
      <p:sp>
        <p:nvSpPr>
          <p:cNvPr id="4" name="text-453">
            <a:extLst xmlns:a="http://schemas.openxmlformats.org/drawingml/2006/main">
              <a:ext uri="{FF2B5EF4-FFF2-40B4-BE49-F238E27FC236}">
                <a16:creationId xmlns:a16="http://schemas.microsoft.com/office/drawing/2014/main" id="{9A853D48-AC66-4B9F-A96A-BBE727E277B8}"/>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AFC4C1"/>
                </a:solidFill>
                <a:latin typeface="Aptos"/>
                <a:ea typeface="Aptos"/>
                <a:cs typeface="Aptos"/>
              </a:defRPr>
            </a:pPr>
            <a:r>
              <a:rPr sz="1500" b="1">
                <a:solidFill>
                  <a:srgbClr val="AFC4C1"/>
                </a:solidFill>
                <a:latin typeface="Aptos"/>
                <a:ea typeface="Aptos"/>
                <a:cs typeface="Aptos"/>
              </a:rPr>
              <a:t>FLAIR COSMETIC &amp; FRAGRANCE</a:t>
            </a:r>
          </a:p>
        </p:txBody>
      </p:sp>
      <p:sp>
        <p:nvSpPr>
          <p:cNvPr id="5" name="text-454">
            <a:extLst xmlns:a="http://schemas.openxmlformats.org/drawingml/2006/main">
              <a:ext uri="{FF2B5EF4-FFF2-40B4-BE49-F238E27FC236}">
                <a16:creationId xmlns:a16="http://schemas.microsoft.com/office/drawing/2014/main" id="{B591C8DF-B2C9-4D73-AFBC-0EF050990602}"/>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B28B4E"/>
                </a:solidFill>
                <a:latin typeface="Aptos"/>
                <a:ea typeface="Aptos"/>
                <a:cs typeface="Aptos"/>
              </a:defRPr>
            </a:pPr>
            <a:r>
              <a:rPr sz="1950" b="1">
                <a:solidFill>
                  <a:srgbClr val="B28B4E"/>
                </a:solidFill>
                <a:latin typeface="Aptos"/>
                <a:ea typeface="Aptos"/>
                <a:cs typeface="Aptos"/>
              </a:rPr>
              <a:t>20</a:t>
            </a:r>
          </a:p>
        </p:txBody>
      </p:sp>
      <p:sp>
        <p:nvSpPr>
          <p:cNvPr id="6" name="text-455">
            <a:extLst xmlns:a="http://schemas.openxmlformats.org/drawingml/2006/main">
              <a:ext uri="{FF2B5EF4-FFF2-40B4-BE49-F238E27FC236}">
                <a16:creationId xmlns:a16="http://schemas.microsoft.com/office/drawing/2014/main" id="{9BA3BF95-F366-4C7F-AB42-6BC6D2E3480D}"/>
              </a:ext>
            </a:extLst>
          </p:cNvPr>
          <p:cNvSpPr>
            <a:spLocks xmlns:a="http://schemas.openxmlformats.org/drawingml/2006/main" noGrp="1"/>
          </p:cNvSpPr>
          <p:nvPr/>
        </p:nvSpPr>
        <p:spPr>
          <a:xfrm xmlns:a="http://schemas.openxmlformats.org/drawingml/2006/main">
            <a:off x="685800" y="2371725"/>
            <a:ext cx="138684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75" b="1">
                <a:solidFill>
                  <a:srgbClr val="F7F5EE"/>
                </a:solidFill>
                <a:latin typeface="Aptos"/>
                <a:ea typeface="Aptos"/>
                <a:cs typeface="Aptos"/>
              </a:defRPr>
            </a:pPr>
            <a:r>
              <a:rPr sz="4875" b="1">
                <a:solidFill>
                  <a:srgbClr val="F7F5EE"/>
                </a:solidFill>
                <a:latin typeface="Aptos"/>
                <a:ea typeface="Aptos"/>
                <a:cs typeface="Aptos"/>
              </a:rPr>
              <a:t>Start with one location.</a:t>
            </a:r>
          </a:p>
          <a:p xmlns:a="http://schemas.openxmlformats.org/drawingml/2006/main">
            <a:pPr algn="l">
              <a:defRPr sz="4875" b="1">
                <a:solidFill>
                  <a:srgbClr val="F7F5EE"/>
                </a:solidFill>
                <a:latin typeface="Aptos"/>
                <a:ea typeface="Aptos"/>
                <a:cs typeface="Aptos"/>
              </a:defRPr>
            </a:pPr>
            <a:r>
              <a:rPr sz="4875" b="1">
                <a:solidFill>
                  <a:srgbClr val="F7F5EE"/>
                </a:solidFill>
                <a:latin typeface="Aptos"/>
                <a:ea typeface="Aptos"/>
                <a:cs typeface="Aptos"/>
              </a:rPr>
              <a:t>Prove one connected flow.</a:t>
            </a:r>
          </a:p>
        </p:txBody>
      </p:sp>
      <p:sp>
        <p:nvSpPr>
          <p:cNvPr id="7" name="text-456">
            <a:extLst xmlns:a="http://schemas.openxmlformats.org/drawingml/2006/main">
              <a:ext uri="{FF2B5EF4-FFF2-40B4-BE49-F238E27FC236}">
                <a16:creationId xmlns:a16="http://schemas.microsoft.com/office/drawing/2014/main" id="{BE6317DE-4D34-47A3-99BC-6DC55485E914}"/>
              </a:ext>
            </a:extLst>
          </p:cNvPr>
          <p:cNvSpPr>
            <a:spLocks xmlns:a="http://schemas.openxmlformats.org/drawingml/2006/main" noGrp="1"/>
          </p:cNvSpPr>
          <p:nvPr/>
        </p:nvSpPr>
        <p:spPr>
          <a:xfrm xmlns:a="http://schemas.openxmlformats.org/drawingml/2006/main">
            <a:off x="685800" y="4457700"/>
            <a:ext cx="809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B28B4E"/>
                </a:solidFill>
                <a:latin typeface="Aptos"/>
                <a:ea typeface="Aptos"/>
                <a:cs typeface="Aptos"/>
              </a:defRPr>
            </a:pPr>
            <a:r>
              <a:rPr sz="2250" b="1">
                <a:solidFill>
                  <a:srgbClr val="B28B4E"/>
                </a:solidFill>
                <a:latin typeface="Aptos"/>
                <a:ea typeface="Aptos"/>
                <a:cs typeface="Aptos"/>
              </a:rPr>
              <a:t>01</a:t>
            </a:r>
          </a:p>
        </p:txBody>
      </p:sp>
      <p:sp>
        <p:nvSpPr>
          <p:cNvPr id="8" name="text-457">
            <a:extLst xmlns:a="http://schemas.openxmlformats.org/drawingml/2006/main">
              <a:ext uri="{FF2B5EF4-FFF2-40B4-BE49-F238E27FC236}">
                <a16:creationId xmlns:a16="http://schemas.microsoft.com/office/drawing/2014/main" id="{A43466D7-A052-4FD7-883E-20A065F5C83D}"/>
              </a:ext>
            </a:extLst>
          </p:cNvPr>
          <p:cNvSpPr>
            <a:spLocks xmlns:a="http://schemas.openxmlformats.org/drawingml/2006/main" noGrp="1"/>
          </p:cNvSpPr>
          <p:nvPr/>
        </p:nvSpPr>
        <p:spPr>
          <a:xfrm xmlns:a="http://schemas.openxmlformats.org/drawingml/2006/main">
            <a:off x="1666875" y="44577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7F5EE"/>
                </a:solidFill>
                <a:latin typeface="Aptos"/>
                <a:ea typeface="Aptos"/>
                <a:cs typeface="Aptos"/>
              </a:defRPr>
            </a:pPr>
            <a:r>
              <a:rPr sz="2475" b="1">
                <a:solidFill>
                  <a:srgbClr val="F7F5EE"/>
                </a:solidFill>
                <a:latin typeface="Aptos"/>
                <a:ea typeface="Aptos"/>
                <a:cs typeface="Aptos"/>
              </a:rPr>
              <a:t>Priority</a:t>
            </a:r>
          </a:p>
        </p:txBody>
      </p:sp>
      <p:sp>
        <p:nvSpPr>
          <p:cNvPr id="9" name="text-458">
            <a:extLst xmlns:a="http://schemas.openxmlformats.org/drawingml/2006/main">
              <a:ext uri="{FF2B5EF4-FFF2-40B4-BE49-F238E27FC236}">
                <a16:creationId xmlns:a16="http://schemas.microsoft.com/office/drawing/2014/main" id="{896E01F0-97C8-45EF-A052-966820E84DB9}"/>
              </a:ext>
            </a:extLst>
          </p:cNvPr>
          <p:cNvSpPr>
            <a:spLocks xmlns:a="http://schemas.openxmlformats.org/drawingml/2006/main" noGrp="1"/>
          </p:cNvSpPr>
          <p:nvPr/>
        </p:nvSpPr>
        <p:spPr>
          <a:xfrm xmlns:a="http://schemas.openxmlformats.org/drawingml/2006/main">
            <a:off x="5048250" y="4457700"/>
            <a:ext cx="9505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CBDAD6"/>
                </a:solidFill>
                <a:latin typeface="Aptos"/>
                <a:ea typeface="Aptos"/>
                <a:cs typeface="Aptos"/>
              </a:defRPr>
            </a:pPr>
            <a:r>
              <a:rPr sz="2325" b="0">
                <a:solidFill>
                  <a:srgbClr val="CBDAD6"/>
                </a:solidFill>
                <a:latin typeface="Aptos"/>
                <a:ea typeface="Aptos"/>
                <a:cs typeface="Aptos"/>
              </a:rPr>
              <a:t>Which process should improve first?</a:t>
            </a:r>
          </a:p>
        </p:txBody>
      </p:sp>
      <p:sp>
        <p:nvSpPr>
          <p:cNvPr id="10" name="text-459">
            <a:extLst xmlns:a="http://schemas.openxmlformats.org/drawingml/2006/main">
              <a:ext uri="{FF2B5EF4-FFF2-40B4-BE49-F238E27FC236}">
                <a16:creationId xmlns:a16="http://schemas.microsoft.com/office/drawing/2014/main" id="{A840D91F-63CE-45E9-80E4-FA900CEEAF95}"/>
              </a:ext>
            </a:extLst>
          </p:cNvPr>
          <p:cNvSpPr>
            <a:spLocks xmlns:a="http://schemas.openxmlformats.org/drawingml/2006/main" noGrp="1"/>
          </p:cNvSpPr>
          <p:nvPr/>
        </p:nvSpPr>
        <p:spPr>
          <a:xfrm xmlns:a="http://schemas.openxmlformats.org/drawingml/2006/main">
            <a:off x="685800" y="5191125"/>
            <a:ext cx="809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B28B4E"/>
                </a:solidFill>
                <a:latin typeface="Aptos"/>
                <a:ea typeface="Aptos"/>
                <a:cs typeface="Aptos"/>
              </a:defRPr>
            </a:pPr>
            <a:r>
              <a:rPr sz="2250" b="1">
                <a:solidFill>
                  <a:srgbClr val="B28B4E"/>
                </a:solidFill>
                <a:latin typeface="Aptos"/>
                <a:ea typeface="Aptos"/>
                <a:cs typeface="Aptos"/>
              </a:rPr>
              <a:t>02</a:t>
            </a:r>
          </a:p>
        </p:txBody>
      </p:sp>
      <p:sp>
        <p:nvSpPr>
          <p:cNvPr id="11" name="text-460">
            <a:extLst xmlns:a="http://schemas.openxmlformats.org/drawingml/2006/main">
              <a:ext uri="{FF2B5EF4-FFF2-40B4-BE49-F238E27FC236}">
                <a16:creationId xmlns:a16="http://schemas.microsoft.com/office/drawing/2014/main" id="{7258C4AC-BC2D-4A46-9D2B-B1A280D8741A}"/>
              </a:ext>
            </a:extLst>
          </p:cNvPr>
          <p:cNvSpPr>
            <a:spLocks xmlns:a="http://schemas.openxmlformats.org/drawingml/2006/main" noGrp="1"/>
          </p:cNvSpPr>
          <p:nvPr/>
        </p:nvSpPr>
        <p:spPr>
          <a:xfrm xmlns:a="http://schemas.openxmlformats.org/drawingml/2006/main">
            <a:off x="1666875" y="519112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7F5EE"/>
                </a:solidFill>
                <a:latin typeface="Aptos"/>
                <a:ea typeface="Aptos"/>
                <a:cs typeface="Aptos"/>
              </a:defRPr>
            </a:pPr>
            <a:r>
              <a:rPr sz="2475" b="1">
                <a:solidFill>
                  <a:srgbClr val="F7F5EE"/>
                </a:solidFill>
                <a:latin typeface="Aptos"/>
                <a:ea typeface="Aptos"/>
                <a:cs typeface="Aptos"/>
              </a:rPr>
              <a:t>Pilot</a:t>
            </a:r>
          </a:p>
        </p:txBody>
      </p:sp>
      <p:sp>
        <p:nvSpPr>
          <p:cNvPr id="12" name="text-461">
            <a:extLst xmlns:a="http://schemas.openxmlformats.org/drawingml/2006/main">
              <a:ext uri="{FF2B5EF4-FFF2-40B4-BE49-F238E27FC236}">
                <a16:creationId xmlns:a16="http://schemas.microsoft.com/office/drawing/2014/main" id="{263B7E86-B017-4404-B80D-A599E2C53A2A}"/>
              </a:ext>
            </a:extLst>
          </p:cNvPr>
          <p:cNvSpPr>
            <a:spLocks xmlns:a="http://schemas.openxmlformats.org/drawingml/2006/main" noGrp="1"/>
          </p:cNvSpPr>
          <p:nvPr/>
        </p:nvSpPr>
        <p:spPr>
          <a:xfrm xmlns:a="http://schemas.openxmlformats.org/drawingml/2006/main">
            <a:off x="5048250" y="5191125"/>
            <a:ext cx="9505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CBDAD6"/>
                </a:solidFill>
                <a:latin typeface="Aptos"/>
                <a:ea typeface="Aptos"/>
                <a:cs typeface="Aptos"/>
              </a:defRPr>
            </a:pPr>
            <a:r>
              <a:rPr sz="2325" b="0">
                <a:solidFill>
                  <a:srgbClr val="CBDAD6"/>
                </a:solidFill>
                <a:latin typeface="Aptos"/>
                <a:ea typeface="Aptos"/>
                <a:cs typeface="Aptos"/>
              </a:rPr>
              <a:t>Which location, users and products?</a:t>
            </a:r>
          </a:p>
        </p:txBody>
      </p:sp>
      <p:sp>
        <p:nvSpPr>
          <p:cNvPr id="13" name="text-462">
            <a:extLst xmlns:a="http://schemas.openxmlformats.org/drawingml/2006/main">
              <a:ext uri="{FF2B5EF4-FFF2-40B4-BE49-F238E27FC236}">
                <a16:creationId xmlns:a16="http://schemas.microsoft.com/office/drawing/2014/main" id="{AB8BC5FD-547E-4371-A8F6-3D36B48EF012}"/>
              </a:ext>
            </a:extLst>
          </p:cNvPr>
          <p:cNvSpPr>
            <a:spLocks xmlns:a="http://schemas.openxmlformats.org/drawingml/2006/main" noGrp="1"/>
          </p:cNvSpPr>
          <p:nvPr/>
        </p:nvSpPr>
        <p:spPr>
          <a:xfrm xmlns:a="http://schemas.openxmlformats.org/drawingml/2006/main">
            <a:off x="685800" y="5924550"/>
            <a:ext cx="809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B28B4E"/>
                </a:solidFill>
                <a:latin typeface="Aptos"/>
                <a:ea typeface="Aptos"/>
                <a:cs typeface="Aptos"/>
              </a:defRPr>
            </a:pPr>
            <a:r>
              <a:rPr sz="2250" b="1">
                <a:solidFill>
                  <a:srgbClr val="B28B4E"/>
                </a:solidFill>
                <a:latin typeface="Aptos"/>
                <a:ea typeface="Aptos"/>
                <a:cs typeface="Aptos"/>
              </a:rPr>
              <a:t>03</a:t>
            </a:r>
          </a:p>
        </p:txBody>
      </p:sp>
      <p:sp>
        <p:nvSpPr>
          <p:cNvPr id="14" name="text-463">
            <a:extLst xmlns:a="http://schemas.openxmlformats.org/drawingml/2006/main">
              <a:ext uri="{FF2B5EF4-FFF2-40B4-BE49-F238E27FC236}">
                <a16:creationId xmlns:a16="http://schemas.microsoft.com/office/drawing/2014/main" id="{764A4D09-9B84-4F65-8894-07345AA9B8E4}"/>
              </a:ext>
            </a:extLst>
          </p:cNvPr>
          <p:cNvSpPr>
            <a:spLocks xmlns:a="http://schemas.openxmlformats.org/drawingml/2006/main" noGrp="1"/>
          </p:cNvSpPr>
          <p:nvPr/>
        </p:nvSpPr>
        <p:spPr>
          <a:xfrm xmlns:a="http://schemas.openxmlformats.org/drawingml/2006/main">
            <a:off x="1666875" y="59245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7F5EE"/>
                </a:solidFill>
                <a:latin typeface="Aptos"/>
                <a:ea typeface="Aptos"/>
                <a:cs typeface="Aptos"/>
              </a:defRPr>
            </a:pPr>
            <a:r>
              <a:rPr sz="2475" b="1">
                <a:solidFill>
                  <a:srgbClr val="F7F5EE"/>
                </a:solidFill>
                <a:latin typeface="Aptos"/>
                <a:ea typeface="Aptos"/>
                <a:cs typeface="Aptos"/>
              </a:rPr>
              <a:t>Readiness</a:t>
            </a:r>
          </a:p>
        </p:txBody>
      </p:sp>
      <p:sp>
        <p:nvSpPr>
          <p:cNvPr id="15" name="text-464">
            <a:extLst xmlns:a="http://schemas.openxmlformats.org/drawingml/2006/main">
              <a:ext uri="{FF2B5EF4-FFF2-40B4-BE49-F238E27FC236}">
                <a16:creationId xmlns:a16="http://schemas.microsoft.com/office/drawing/2014/main" id="{B203B58C-ED46-456D-AEE3-3EF2F5BAB5F3}"/>
              </a:ext>
            </a:extLst>
          </p:cNvPr>
          <p:cNvSpPr>
            <a:spLocks xmlns:a="http://schemas.openxmlformats.org/drawingml/2006/main" noGrp="1"/>
          </p:cNvSpPr>
          <p:nvPr/>
        </p:nvSpPr>
        <p:spPr>
          <a:xfrm xmlns:a="http://schemas.openxmlformats.org/drawingml/2006/main">
            <a:off x="5048250" y="5924550"/>
            <a:ext cx="9505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CBDAD6"/>
                </a:solidFill>
                <a:latin typeface="Aptos"/>
                <a:ea typeface="Aptos"/>
                <a:cs typeface="Aptos"/>
              </a:defRPr>
            </a:pPr>
            <a:r>
              <a:rPr sz="2325" b="0">
                <a:solidFill>
                  <a:srgbClr val="CBDAD6"/>
                </a:solidFill>
                <a:latin typeface="Aptos"/>
                <a:ea typeface="Aptos"/>
                <a:cs typeface="Aptos"/>
              </a:rPr>
              <a:t>Who provides data, rules and channel access?</a:t>
            </a:r>
          </a:p>
        </p:txBody>
      </p:sp>
      <p:sp>
        <p:nvSpPr>
          <p:cNvPr id="16" name="text-465">
            <a:extLst xmlns:a="http://schemas.openxmlformats.org/drawingml/2006/main">
              <a:ext uri="{FF2B5EF4-FFF2-40B4-BE49-F238E27FC236}">
                <a16:creationId xmlns:a16="http://schemas.microsoft.com/office/drawing/2014/main" id="{DD0DF823-A54B-4D98-AC64-739C317A9882}"/>
              </a:ext>
            </a:extLst>
          </p:cNvPr>
          <p:cNvSpPr>
            <a:spLocks xmlns:a="http://schemas.openxmlformats.org/drawingml/2006/main" noGrp="1"/>
          </p:cNvSpPr>
          <p:nvPr/>
        </p:nvSpPr>
        <p:spPr>
          <a:xfrm xmlns:a="http://schemas.openxmlformats.org/drawingml/2006/main">
            <a:off x="685800" y="6657975"/>
            <a:ext cx="809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B28B4E"/>
                </a:solidFill>
                <a:latin typeface="Aptos"/>
                <a:ea typeface="Aptos"/>
                <a:cs typeface="Aptos"/>
              </a:defRPr>
            </a:pPr>
            <a:r>
              <a:rPr sz="2250" b="1">
                <a:solidFill>
                  <a:srgbClr val="B28B4E"/>
                </a:solidFill>
                <a:latin typeface="Aptos"/>
                <a:ea typeface="Aptos"/>
                <a:cs typeface="Aptos"/>
              </a:rPr>
              <a:t>04</a:t>
            </a:r>
          </a:p>
        </p:txBody>
      </p:sp>
      <p:sp>
        <p:nvSpPr>
          <p:cNvPr id="17" name="text-466">
            <a:extLst xmlns:a="http://schemas.openxmlformats.org/drawingml/2006/main">
              <a:ext uri="{FF2B5EF4-FFF2-40B4-BE49-F238E27FC236}">
                <a16:creationId xmlns:a16="http://schemas.microsoft.com/office/drawing/2014/main" id="{62C2B6E9-BDBA-4009-9455-234C6FEA021D}"/>
              </a:ext>
            </a:extLst>
          </p:cNvPr>
          <p:cNvSpPr>
            <a:spLocks xmlns:a="http://schemas.openxmlformats.org/drawingml/2006/main" noGrp="1"/>
          </p:cNvSpPr>
          <p:nvPr/>
        </p:nvSpPr>
        <p:spPr>
          <a:xfrm xmlns:a="http://schemas.openxmlformats.org/drawingml/2006/main">
            <a:off x="1666875" y="665797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7F5EE"/>
                </a:solidFill>
                <a:latin typeface="Aptos"/>
                <a:ea typeface="Aptos"/>
                <a:cs typeface="Aptos"/>
              </a:defRPr>
            </a:pPr>
            <a:r>
              <a:rPr sz="2475" b="1">
                <a:solidFill>
                  <a:srgbClr val="F7F5EE"/>
                </a:solidFill>
                <a:latin typeface="Aptos"/>
                <a:ea typeface="Aptos"/>
                <a:cs typeface="Aptos"/>
              </a:rPr>
              <a:t>Acceptance</a:t>
            </a:r>
          </a:p>
        </p:txBody>
      </p:sp>
      <p:sp>
        <p:nvSpPr>
          <p:cNvPr id="18" name="text-467">
            <a:extLst xmlns:a="http://schemas.openxmlformats.org/drawingml/2006/main">
              <a:ext uri="{FF2B5EF4-FFF2-40B4-BE49-F238E27FC236}">
                <a16:creationId xmlns:a16="http://schemas.microsoft.com/office/drawing/2014/main" id="{14DD89FB-EF1B-4B78-9AFF-A7F5D6B9F400}"/>
              </a:ext>
            </a:extLst>
          </p:cNvPr>
          <p:cNvSpPr>
            <a:spLocks xmlns:a="http://schemas.openxmlformats.org/drawingml/2006/main" noGrp="1"/>
          </p:cNvSpPr>
          <p:nvPr/>
        </p:nvSpPr>
        <p:spPr>
          <a:xfrm xmlns:a="http://schemas.openxmlformats.org/drawingml/2006/main">
            <a:off x="5048250" y="6657975"/>
            <a:ext cx="9505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CBDAD6"/>
                </a:solidFill>
                <a:latin typeface="Aptos"/>
                <a:ea typeface="Aptos"/>
                <a:cs typeface="Aptos"/>
              </a:defRPr>
            </a:pPr>
            <a:r>
              <a:rPr sz="2325" b="0">
                <a:solidFill>
                  <a:srgbClr val="CBDAD6"/>
                </a:solidFill>
                <a:latin typeface="Aptos"/>
                <a:ea typeface="Aptos"/>
                <a:cs typeface="Aptos"/>
              </a:rPr>
              <a:t>What evidence will confirm success?</a:t>
            </a:r>
          </a:p>
        </p:txBody>
      </p:sp>
    </p:spTree>
    <p:extLst>
      <p:ext uri="{BB962C8B-B14F-4D97-AF65-F5344CB8AC3E}">
        <p14:creationId xmlns:p14="http://schemas.microsoft.com/office/powerpoint/2010/main" val="1094771714"/>
      </p:ext>
    </p:extLst>
  </p:cSld>
</p:sld>
</file>

<file path=ppt/slides/slide21.xml><?xml version="1.0" encoding="utf-8"?>
<p:sld xmlns:p="http://schemas.openxmlformats.org/presentationml/2006/main" show="0">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6" name="text-468">
            <a:extLst xmlns:a="http://schemas.openxmlformats.org/drawingml/2006/main">
              <a:ext uri="{FF2B5EF4-FFF2-40B4-BE49-F238E27FC236}">
                <a16:creationId xmlns:a16="http://schemas.microsoft.com/office/drawing/2014/main" id="{1C99B0DF-5221-4356-B9CC-EDC3A7EC3CBF}"/>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PRESENTER PLAYBOOK / SUGGESTED 30-MINUTE RUN</a:t>
            </a:r>
          </a:p>
        </p:txBody>
      </p:sp>
      <p:sp>
        <p:nvSpPr>
          <p:cNvPr id="2" name="text-469">
            <a:extLst xmlns:a="http://schemas.openxmlformats.org/drawingml/2006/main">
              <a:ext uri="{FF2B5EF4-FFF2-40B4-BE49-F238E27FC236}">
                <a16:creationId xmlns:a16="http://schemas.microsoft.com/office/drawing/2014/main" id="{255AAFF0-2C29-450F-9FC9-C38D02D7B7BD}"/>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Run the meeting as one business story</a:t>
            </a:r>
          </a:p>
        </p:txBody>
      </p:sp>
      <p:sp>
        <p:nvSpPr>
          <p:cNvPr id="3" name="rule-470">
            <a:extLst xmlns:a="http://schemas.openxmlformats.org/drawingml/2006/main">
              <a:ext uri="{FF2B5EF4-FFF2-40B4-BE49-F238E27FC236}">
                <a16:creationId xmlns:a16="http://schemas.microsoft.com/office/drawing/2014/main" id="{F6244F9D-26F8-4288-BEDE-658A1928DF68}"/>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471">
            <a:extLst xmlns:a="http://schemas.openxmlformats.org/drawingml/2006/main">
              <a:ext uri="{FF2B5EF4-FFF2-40B4-BE49-F238E27FC236}">
                <a16:creationId xmlns:a16="http://schemas.microsoft.com/office/drawing/2014/main" id="{42EB6BC4-2F5C-4236-BBFB-7BE191AA904B}"/>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472">
            <a:extLst xmlns:a="http://schemas.openxmlformats.org/drawingml/2006/main">
              <a:ext uri="{FF2B5EF4-FFF2-40B4-BE49-F238E27FC236}">
                <a16:creationId xmlns:a16="http://schemas.microsoft.com/office/drawing/2014/main" id="{0E4AC68E-7D84-4BDF-A1CC-18089B9CAAF6}"/>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21</a:t>
            </a:r>
          </a:p>
        </p:txBody>
      </p:sp>
      <p:sp>
        <p:nvSpPr>
          <p:cNvPr id="6" name="rule-473">
            <a:extLst xmlns:a="http://schemas.openxmlformats.org/drawingml/2006/main">
              <a:ext uri="{FF2B5EF4-FFF2-40B4-BE49-F238E27FC236}">
                <a16:creationId xmlns:a16="http://schemas.microsoft.com/office/drawing/2014/main" id="{CDB512A1-00A2-417F-A6BF-43D1335446DB}"/>
              </a:ext>
            </a:extLst>
          </p:cNvPr>
          <p:cNvSpPr>
            <a:spLocks xmlns:a="http://schemas.openxmlformats.org/drawingml/2006/main" noGrp="1"/>
          </p:cNvSpPr>
          <p:nvPr/>
        </p:nvSpPr>
        <p:spPr>
          <a:xfrm xmlns:a="http://schemas.openxmlformats.org/drawingml/2006/main">
            <a:off x="685800" y="2295525"/>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7" name="text-474">
            <a:extLst xmlns:a="http://schemas.openxmlformats.org/drawingml/2006/main">
              <a:ext uri="{FF2B5EF4-FFF2-40B4-BE49-F238E27FC236}">
                <a16:creationId xmlns:a16="http://schemas.microsoft.com/office/drawing/2014/main" id="{58F5FF35-1E45-469C-82B4-9B81B32D2F48}"/>
              </a:ext>
            </a:extLst>
          </p:cNvPr>
          <p:cNvSpPr>
            <a:spLocks xmlns:a="http://schemas.openxmlformats.org/drawingml/2006/main" noGrp="1"/>
          </p:cNvSpPr>
          <p:nvPr/>
        </p:nvSpPr>
        <p:spPr>
          <a:xfrm xmlns:a="http://schemas.openxmlformats.org/drawingml/2006/main">
            <a:off x="685800" y="2447925"/>
            <a:ext cx="209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3716D"/>
                </a:solidFill>
                <a:latin typeface="Aptos"/>
                <a:ea typeface="Aptos"/>
                <a:cs typeface="Aptos"/>
              </a:defRPr>
            </a:pPr>
            <a:r>
              <a:rPr sz="2325" b="1">
                <a:solidFill>
                  <a:srgbClr val="23716D"/>
                </a:solidFill>
                <a:latin typeface="Aptos"/>
                <a:ea typeface="Aptos"/>
                <a:cs typeface="Aptos"/>
              </a:rPr>
              <a:t>00–03</a:t>
            </a:r>
          </a:p>
        </p:txBody>
      </p:sp>
      <p:sp>
        <p:nvSpPr>
          <p:cNvPr id="8" name="text-475">
            <a:extLst xmlns:a="http://schemas.openxmlformats.org/drawingml/2006/main">
              <a:ext uri="{FF2B5EF4-FFF2-40B4-BE49-F238E27FC236}">
                <a16:creationId xmlns:a16="http://schemas.microsoft.com/office/drawing/2014/main" id="{ADB53B3B-847F-4BC7-B198-8A65DA85C78F}"/>
              </a:ext>
            </a:extLst>
          </p:cNvPr>
          <p:cNvSpPr>
            <a:spLocks xmlns:a="http://schemas.openxmlformats.org/drawingml/2006/main" noGrp="1"/>
          </p:cNvSpPr>
          <p:nvPr/>
        </p:nvSpPr>
        <p:spPr>
          <a:xfrm xmlns:a="http://schemas.openxmlformats.org/drawingml/2006/main">
            <a:off x="3048000" y="244792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Discover the priority</a:t>
            </a:r>
          </a:p>
        </p:txBody>
      </p:sp>
      <p:sp>
        <p:nvSpPr>
          <p:cNvPr id="9" name="text-476">
            <a:extLst xmlns:a="http://schemas.openxmlformats.org/drawingml/2006/main">
              <a:ext uri="{FF2B5EF4-FFF2-40B4-BE49-F238E27FC236}">
                <a16:creationId xmlns:a16="http://schemas.microsoft.com/office/drawing/2014/main" id="{99A5D981-A3C6-476D-9F81-B17E8443FEF5}"/>
              </a:ext>
            </a:extLst>
          </p:cNvPr>
          <p:cNvSpPr>
            <a:spLocks xmlns:a="http://schemas.openxmlformats.org/drawingml/2006/main" noGrp="1"/>
          </p:cNvSpPr>
          <p:nvPr/>
        </p:nvSpPr>
        <p:spPr>
          <a:xfrm xmlns:a="http://schemas.openxmlformats.org/drawingml/2006/main">
            <a:off x="8001000" y="2447925"/>
            <a:ext cx="6553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Open on slides 1–2; ask about their biggest operational bottleneck.</a:t>
            </a:r>
          </a:p>
        </p:txBody>
      </p:sp>
      <p:sp>
        <p:nvSpPr>
          <p:cNvPr id="10" name="rule-477">
            <a:extLst xmlns:a="http://schemas.openxmlformats.org/drawingml/2006/main">
              <a:ext uri="{FF2B5EF4-FFF2-40B4-BE49-F238E27FC236}">
                <a16:creationId xmlns:a16="http://schemas.microsoft.com/office/drawing/2014/main" id="{8BAAA899-A56A-47E6-8C3D-013FF78058B7}"/>
              </a:ext>
            </a:extLst>
          </p:cNvPr>
          <p:cNvSpPr>
            <a:spLocks xmlns:a="http://schemas.openxmlformats.org/drawingml/2006/main" noGrp="1"/>
          </p:cNvSpPr>
          <p:nvPr/>
        </p:nvSpPr>
        <p:spPr>
          <a:xfrm xmlns:a="http://schemas.openxmlformats.org/drawingml/2006/main">
            <a:off x="685800" y="3295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11" name="text-478">
            <a:extLst xmlns:a="http://schemas.openxmlformats.org/drawingml/2006/main">
              <a:ext uri="{FF2B5EF4-FFF2-40B4-BE49-F238E27FC236}">
                <a16:creationId xmlns:a16="http://schemas.microsoft.com/office/drawing/2014/main" id="{9430EF48-530B-4FF3-93C0-B648E5E1FCA4}"/>
              </a:ext>
            </a:extLst>
          </p:cNvPr>
          <p:cNvSpPr>
            <a:spLocks xmlns:a="http://schemas.openxmlformats.org/drawingml/2006/main" noGrp="1"/>
          </p:cNvSpPr>
          <p:nvPr/>
        </p:nvSpPr>
        <p:spPr>
          <a:xfrm xmlns:a="http://schemas.openxmlformats.org/drawingml/2006/main">
            <a:off x="685800" y="3448050"/>
            <a:ext cx="209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3716D"/>
                </a:solidFill>
                <a:latin typeface="Aptos"/>
                <a:ea typeface="Aptos"/>
                <a:cs typeface="Aptos"/>
              </a:defRPr>
            </a:pPr>
            <a:r>
              <a:rPr sz="2325" b="1">
                <a:solidFill>
                  <a:srgbClr val="23716D"/>
                </a:solidFill>
                <a:latin typeface="Aptos"/>
                <a:ea typeface="Aptos"/>
                <a:cs typeface="Aptos"/>
              </a:rPr>
              <a:t>03–07</a:t>
            </a:r>
          </a:p>
        </p:txBody>
      </p:sp>
      <p:sp>
        <p:nvSpPr>
          <p:cNvPr id="12" name="text-479">
            <a:extLst xmlns:a="http://schemas.openxmlformats.org/drawingml/2006/main">
              <a:ext uri="{FF2B5EF4-FFF2-40B4-BE49-F238E27FC236}">
                <a16:creationId xmlns:a16="http://schemas.microsoft.com/office/drawing/2014/main" id="{B76B5C0D-7B13-4F21-BEB3-28E5A8EBE6F8}"/>
              </a:ext>
            </a:extLst>
          </p:cNvPr>
          <p:cNvSpPr>
            <a:spLocks xmlns:a="http://schemas.openxmlformats.org/drawingml/2006/main" noGrp="1"/>
          </p:cNvSpPr>
          <p:nvPr/>
        </p:nvSpPr>
        <p:spPr>
          <a:xfrm xmlns:a="http://schemas.openxmlformats.org/drawingml/2006/main">
            <a:off x="3048000" y="3448050"/>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Frame the platform</a:t>
            </a:r>
          </a:p>
        </p:txBody>
      </p:sp>
      <p:sp>
        <p:nvSpPr>
          <p:cNvPr id="13" name="text-480">
            <a:extLst xmlns:a="http://schemas.openxmlformats.org/drawingml/2006/main">
              <a:ext uri="{FF2B5EF4-FFF2-40B4-BE49-F238E27FC236}">
                <a16:creationId xmlns:a16="http://schemas.microsoft.com/office/drawing/2014/main" id="{24F8430C-90C1-45EE-A62D-CBF88C725FF2}"/>
              </a:ext>
            </a:extLst>
          </p:cNvPr>
          <p:cNvSpPr>
            <a:spLocks xmlns:a="http://schemas.openxmlformats.org/drawingml/2006/main" noGrp="1"/>
          </p:cNvSpPr>
          <p:nvPr/>
        </p:nvSpPr>
        <p:spPr>
          <a:xfrm xmlns:a="http://schemas.openxmlformats.org/drawingml/2006/main">
            <a:off x="8001000" y="3448050"/>
            <a:ext cx="6553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Use slides 3–5 to explain nine modules, today’s demo and the full flow.</a:t>
            </a:r>
          </a:p>
        </p:txBody>
      </p:sp>
      <p:sp>
        <p:nvSpPr>
          <p:cNvPr id="14" name="rule-481">
            <a:extLst xmlns:a="http://schemas.openxmlformats.org/drawingml/2006/main">
              <a:ext uri="{FF2B5EF4-FFF2-40B4-BE49-F238E27FC236}">
                <a16:creationId xmlns:a16="http://schemas.microsoft.com/office/drawing/2014/main" id="{0546F18C-AECC-4678-9CC6-8D95F62BEE3E}"/>
              </a:ext>
            </a:extLst>
          </p:cNvPr>
          <p:cNvSpPr>
            <a:spLocks xmlns:a="http://schemas.openxmlformats.org/drawingml/2006/main" noGrp="1"/>
          </p:cNvSpPr>
          <p:nvPr/>
        </p:nvSpPr>
        <p:spPr>
          <a:xfrm xmlns:a="http://schemas.openxmlformats.org/drawingml/2006/main">
            <a:off x="685800" y="4295775"/>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15" name="text-482">
            <a:extLst xmlns:a="http://schemas.openxmlformats.org/drawingml/2006/main">
              <a:ext uri="{FF2B5EF4-FFF2-40B4-BE49-F238E27FC236}">
                <a16:creationId xmlns:a16="http://schemas.microsoft.com/office/drawing/2014/main" id="{3F13BD96-F50F-4D6C-8183-8BF9FFB31BE2}"/>
              </a:ext>
            </a:extLst>
          </p:cNvPr>
          <p:cNvSpPr>
            <a:spLocks xmlns:a="http://schemas.openxmlformats.org/drawingml/2006/main" noGrp="1"/>
          </p:cNvSpPr>
          <p:nvPr/>
        </p:nvSpPr>
        <p:spPr>
          <a:xfrm xmlns:a="http://schemas.openxmlformats.org/drawingml/2006/main">
            <a:off x="685800" y="4448175"/>
            <a:ext cx="209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3716D"/>
                </a:solidFill>
                <a:latin typeface="Aptos"/>
                <a:ea typeface="Aptos"/>
                <a:cs typeface="Aptos"/>
              </a:defRPr>
            </a:pPr>
            <a:r>
              <a:rPr sz="2325" b="1">
                <a:solidFill>
                  <a:srgbClr val="23716D"/>
                </a:solidFill>
                <a:latin typeface="Aptos"/>
                <a:ea typeface="Aptos"/>
                <a:cs typeface="Aptos"/>
              </a:rPr>
              <a:t>07–20</a:t>
            </a:r>
          </a:p>
        </p:txBody>
      </p:sp>
      <p:sp>
        <p:nvSpPr>
          <p:cNvPr id="16" name="text-483">
            <a:extLst xmlns:a="http://schemas.openxmlformats.org/drawingml/2006/main">
              <a:ext uri="{FF2B5EF4-FFF2-40B4-BE49-F238E27FC236}">
                <a16:creationId xmlns:a16="http://schemas.microsoft.com/office/drawing/2014/main" id="{400341F4-95BF-4218-B534-89C35D97BB52}"/>
              </a:ext>
            </a:extLst>
          </p:cNvPr>
          <p:cNvSpPr>
            <a:spLocks xmlns:a="http://schemas.openxmlformats.org/drawingml/2006/main" noGrp="1"/>
          </p:cNvSpPr>
          <p:nvPr/>
        </p:nvSpPr>
        <p:spPr>
          <a:xfrm xmlns:a="http://schemas.openxmlformats.org/drawingml/2006/main">
            <a:off x="3048000" y="444817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Demonstrate one SKU</a:t>
            </a:r>
          </a:p>
        </p:txBody>
      </p:sp>
      <p:sp>
        <p:nvSpPr>
          <p:cNvPr id="17" name="text-484">
            <a:extLst xmlns:a="http://schemas.openxmlformats.org/drawingml/2006/main">
              <a:ext uri="{FF2B5EF4-FFF2-40B4-BE49-F238E27FC236}">
                <a16:creationId xmlns:a16="http://schemas.microsoft.com/office/drawing/2014/main" id="{142ACD63-482C-403A-97DD-ECB6FBAA8FA4}"/>
              </a:ext>
            </a:extLst>
          </p:cNvPr>
          <p:cNvSpPr>
            <a:spLocks xmlns:a="http://schemas.openxmlformats.org/drawingml/2006/main" noGrp="1"/>
          </p:cNvSpPr>
          <p:nvPr/>
        </p:nvSpPr>
        <p:spPr>
          <a:xfrm xmlns:a="http://schemas.openxmlformats.org/drawingml/2006/main">
            <a:off x="8001000" y="4448175"/>
            <a:ext cx="6553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Setup → catalog → receive → sell → return → close → verify.</a:t>
            </a:r>
          </a:p>
        </p:txBody>
      </p:sp>
      <p:sp>
        <p:nvSpPr>
          <p:cNvPr id="18" name="rule-485">
            <a:extLst xmlns:a="http://schemas.openxmlformats.org/drawingml/2006/main">
              <a:ext uri="{FF2B5EF4-FFF2-40B4-BE49-F238E27FC236}">
                <a16:creationId xmlns:a16="http://schemas.microsoft.com/office/drawing/2014/main" id="{78A85C5C-F24B-4196-B704-5657F348477B}"/>
              </a:ext>
            </a:extLst>
          </p:cNvPr>
          <p:cNvSpPr>
            <a:spLocks xmlns:a="http://schemas.openxmlformats.org/drawingml/2006/main" noGrp="1"/>
          </p:cNvSpPr>
          <p:nvPr/>
        </p:nvSpPr>
        <p:spPr>
          <a:xfrm xmlns:a="http://schemas.openxmlformats.org/drawingml/2006/main">
            <a:off x="685800" y="529590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19" name="text-486">
            <a:extLst xmlns:a="http://schemas.openxmlformats.org/drawingml/2006/main">
              <a:ext uri="{FF2B5EF4-FFF2-40B4-BE49-F238E27FC236}">
                <a16:creationId xmlns:a16="http://schemas.microsoft.com/office/drawing/2014/main" id="{D7707763-AA1C-4392-ADB9-8E7F17498166}"/>
              </a:ext>
            </a:extLst>
          </p:cNvPr>
          <p:cNvSpPr>
            <a:spLocks xmlns:a="http://schemas.openxmlformats.org/drawingml/2006/main" noGrp="1"/>
          </p:cNvSpPr>
          <p:nvPr/>
        </p:nvSpPr>
        <p:spPr>
          <a:xfrm xmlns:a="http://schemas.openxmlformats.org/drawingml/2006/main">
            <a:off x="685800" y="5448300"/>
            <a:ext cx="209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3716D"/>
                </a:solidFill>
                <a:latin typeface="Aptos"/>
                <a:ea typeface="Aptos"/>
                <a:cs typeface="Aptos"/>
              </a:defRPr>
            </a:pPr>
            <a:r>
              <a:rPr sz="2325" b="1">
                <a:solidFill>
                  <a:srgbClr val="23716D"/>
                </a:solidFill>
                <a:latin typeface="Aptos"/>
                <a:ea typeface="Aptos"/>
                <a:cs typeface="Aptos"/>
              </a:rPr>
              <a:t>20–26</a:t>
            </a:r>
          </a:p>
        </p:txBody>
      </p:sp>
      <p:sp>
        <p:nvSpPr>
          <p:cNvPr id="20" name="text-487">
            <a:extLst xmlns:a="http://schemas.openxmlformats.org/drawingml/2006/main">
              <a:ext uri="{FF2B5EF4-FFF2-40B4-BE49-F238E27FC236}">
                <a16:creationId xmlns:a16="http://schemas.microsoft.com/office/drawing/2014/main" id="{F5E066CD-E964-4B59-9668-2B76C5455CB3}"/>
              </a:ext>
            </a:extLst>
          </p:cNvPr>
          <p:cNvSpPr>
            <a:spLocks xmlns:a="http://schemas.openxmlformats.org/drawingml/2006/main" noGrp="1"/>
          </p:cNvSpPr>
          <p:nvPr/>
        </p:nvSpPr>
        <p:spPr>
          <a:xfrm xmlns:a="http://schemas.openxmlformats.org/drawingml/2006/main">
            <a:off x="3048000" y="5448300"/>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Show the completed ERP</a:t>
            </a:r>
          </a:p>
        </p:txBody>
      </p:sp>
      <p:sp>
        <p:nvSpPr>
          <p:cNvPr id="21" name="text-488">
            <a:extLst xmlns:a="http://schemas.openxmlformats.org/drawingml/2006/main">
              <a:ext uri="{FF2B5EF4-FFF2-40B4-BE49-F238E27FC236}">
                <a16:creationId xmlns:a16="http://schemas.microsoft.com/office/drawing/2014/main" id="{22339FF9-BA4E-4048-BC5C-7C9C9D9A29D9}"/>
              </a:ext>
            </a:extLst>
          </p:cNvPr>
          <p:cNvSpPr>
            <a:spLocks xmlns:a="http://schemas.openxmlformats.org/drawingml/2006/main" noGrp="1"/>
          </p:cNvSpPr>
          <p:nvPr/>
        </p:nvSpPr>
        <p:spPr>
          <a:xfrm xmlns:a="http://schemas.openxmlformats.org/drawingml/2006/main">
            <a:off x="8001000" y="5448300"/>
            <a:ext cx="6553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Use slides 12–19; emphasize the modules tied to their stated priority.</a:t>
            </a:r>
          </a:p>
        </p:txBody>
      </p:sp>
      <p:sp>
        <p:nvSpPr>
          <p:cNvPr id="22" name="rule-489">
            <a:extLst xmlns:a="http://schemas.openxmlformats.org/drawingml/2006/main">
              <a:ext uri="{FF2B5EF4-FFF2-40B4-BE49-F238E27FC236}">
                <a16:creationId xmlns:a16="http://schemas.microsoft.com/office/drawing/2014/main" id="{AC77C944-34C2-4B27-9FE6-FAB0A4307378}"/>
              </a:ext>
            </a:extLst>
          </p:cNvPr>
          <p:cNvSpPr>
            <a:spLocks xmlns:a="http://schemas.openxmlformats.org/drawingml/2006/main" noGrp="1"/>
          </p:cNvSpPr>
          <p:nvPr/>
        </p:nvSpPr>
        <p:spPr>
          <a:xfrm xmlns:a="http://schemas.openxmlformats.org/drawingml/2006/main">
            <a:off x="685800" y="6296025"/>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23" name="text-490">
            <a:extLst xmlns:a="http://schemas.openxmlformats.org/drawingml/2006/main">
              <a:ext uri="{FF2B5EF4-FFF2-40B4-BE49-F238E27FC236}">
                <a16:creationId xmlns:a16="http://schemas.microsoft.com/office/drawing/2014/main" id="{342F83D7-64AA-4155-AA83-117B7654DDC6}"/>
              </a:ext>
            </a:extLst>
          </p:cNvPr>
          <p:cNvSpPr>
            <a:spLocks xmlns:a="http://schemas.openxmlformats.org/drawingml/2006/main" noGrp="1"/>
          </p:cNvSpPr>
          <p:nvPr/>
        </p:nvSpPr>
        <p:spPr>
          <a:xfrm xmlns:a="http://schemas.openxmlformats.org/drawingml/2006/main">
            <a:off x="685800" y="6448425"/>
            <a:ext cx="209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3716D"/>
                </a:solidFill>
                <a:latin typeface="Aptos"/>
                <a:ea typeface="Aptos"/>
                <a:cs typeface="Aptos"/>
              </a:defRPr>
            </a:pPr>
            <a:r>
              <a:rPr sz="2325" b="1">
                <a:solidFill>
                  <a:srgbClr val="23716D"/>
                </a:solidFill>
                <a:latin typeface="Aptos"/>
                <a:ea typeface="Aptos"/>
                <a:cs typeface="Aptos"/>
              </a:rPr>
              <a:t>26–30</a:t>
            </a:r>
          </a:p>
        </p:txBody>
      </p:sp>
      <p:sp>
        <p:nvSpPr>
          <p:cNvPr id="24" name="text-491">
            <a:extLst xmlns:a="http://schemas.openxmlformats.org/drawingml/2006/main">
              <a:ext uri="{FF2B5EF4-FFF2-40B4-BE49-F238E27FC236}">
                <a16:creationId xmlns:a16="http://schemas.microsoft.com/office/drawing/2014/main" id="{1DF160F5-0B81-4615-BCB2-38764AF765C0}"/>
              </a:ext>
            </a:extLst>
          </p:cNvPr>
          <p:cNvSpPr>
            <a:spLocks xmlns:a="http://schemas.openxmlformats.org/drawingml/2006/main" noGrp="1"/>
          </p:cNvSpPr>
          <p:nvPr/>
        </p:nvSpPr>
        <p:spPr>
          <a:xfrm xmlns:a="http://schemas.openxmlformats.org/drawingml/2006/main">
            <a:off x="3048000" y="644842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03D43"/>
                </a:solidFill>
                <a:latin typeface="Aptos"/>
                <a:ea typeface="Aptos"/>
                <a:cs typeface="Aptos"/>
              </a:defRPr>
            </a:pPr>
            <a:r>
              <a:rPr sz="2400" b="1">
                <a:solidFill>
                  <a:srgbClr val="103D43"/>
                </a:solidFill>
                <a:latin typeface="Aptos"/>
                <a:ea typeface="Aptos"/>
                <a:cs typeface="Aptos"/>
              </a:rPr>
              <a:t>Agree the next step</a:t>
            </a:r>
          </a:p>
        </p:txBody>
      </p:sp>
      <p:sp>
        <p:nvSpPr>
          <p:cNvPr id="25" name="text-492">
            <a:extLst xmlns:a="http://schemas.openxmlformats.org/drawingml/2006/main">
              <a:ext uri="{FF2B5EF4-FFF2-40B4-BE49-F238E27FC236}">
                <a16:creationId xmlns:a16="http://schemas.microsoft.com/office/drawing/2014/main" id="{5D0D3481-0A84-42C8-A33A-D79B26E33D57}"/>
              </a:ext>
            </a:extLst>
          </p:cNvPr>
          <p:cNvSpPr>
            <a:spLocks xmlns:a="http://schemas.openxmlformats.org/drawingml/2006/main" noGrp="1"/>
          </p:cNvSpPr>
          <p:nvPr/>
        </p:nvSpPr>
        <p:spPr>
          <a:xfrm xmlns:a="http://schemas.openxmlformats.org/drawingml/2006/main">
            <a:off x="8001000" y="6448425"/>
            <a:ext cx="6553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Slide 20: pilot location, owner, inputs and acceptance measures.</a:t>
            </a:r>
          </a:p>
        </p:txBody>
      </p:sp>
    </p:spTree>
    <p:extLst>
      <p:ext uri="{BB962C8B-B14F-4D97-AF65-F5344CB8AC3E}">
        <p14:creationId xmlns:p14="http://schemas.microsoft.com/office/powerpoint/2010/main" val="2094955746"/>
      </p:ext>
    </p:extLst>
  </p:cSld>
</p:sld>
</file>

<file path=ppt/slides/slide22.xml><?xml version="1.0" encoding="utf-8"?>
<p:sld xmlns:p="http://schemas.openxmlformats.org/presentationml/2006/main" show="0">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7" name="text-493">
            <a:extLst xmlns:a="http://schemas.openxmlformats.org/drawingml/2006/main">
              <a:ext uri="{FF2B5EF4-FFF2-40B4-BE49-F238E27FC236}">
                <a16:creationId xmlns:a16="http://schemas.microsoft.com/office/drawing/2014/main" id="{7D190764-042B-4F5D-880B-B6B5343A277E}"/>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PRESENTER PLAYBOOK / PRE-FLIGHT</a:t>
            </a:r>
          </a:p>
        </p:txBody>
      </p:sp>
      <p:sp>
        <p:nvSpPr>
          <p:cNvPr id="2" name="text-494">
            <a:extLst xmlns:a="http://schemas.openxmlformats.org/drawingml/2006/main">
              <a:ext uri="{FF2B5EF4-FFF2-40B4-BE49-F238E27FC236}">
                <a16:creationId xmlns:a16="http://schemas.microsoft.com/office/drawing/2014/main" id="{8B569FF0-42FA-48E1-884F-B826726D7F54}"/>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Prepare the demo before the customer arrives</a:t>
            </a:r>
          </a:p>
        </p:txBody>
      </p:sp>
      <p:sp>
        <p:nvSpPr>
          <p:cNvPr id="3" name="rule-495">
            <a:extLst xmlns:a="http://schemas.openxmlformats.org/drawingml/2006/main">
              <a:ext uri="{FF2B5EF4-FFF2-40B4-BE49-F238E27FC236}">
                <a16:creationId xmlns:a16="http://schemas.microsoft.com/office/drawing/2014/main" id="{4F41E4F4-29D8-43D9-BDAE-75B89D6C21F3}"/>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496">
            <a:extLst xmlns:a="http://schemas.openxmlformats.org/drawingml/2006/main">
              <a:ext uri="{FF2B5EF4-FFF2-40B4-BE49-F238E27FC236}">
                <a16:creationId xmlns:a16="http://schemas.microsoft.com/office/drawing/2014/main" id="{6E4E4D95-DE00-4854-8883-6264282A655A}"/>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497">
            <a:extLst xmlns:a="http://schemas.openxmlformats.org/drawingml/2006/main">
              <a:ext uri="{FF2B5EF4-FFF2-40B4-BE49-F238E27FC236}">
                <a16:creationId xmlns:a16="http://schemas.microsoft.com/office/drawing/2014/main" id="{5BFB575B-5C0F-42C1-AC51-00EFF252C505}"/>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22</a:t>
            </a:r>
          </a:p>
        </p:txBody>
      </p:sp>
      <p:sp>
        <p:nvSpPr>
          <p:cNvPr id="6" name="rule-498">
            <a:extLst xmlns:a="http://schemas.openxmlformats.org/drawingml/2006/main">
              <a:ext uri="{FF2B5EF4-FFF2-40B4-BE49-F238E27FC236}">
                <a16:creationId xmlns:a16="http://schemas.microsoft.com/office/drawing/2014/main" id="{9D8117C5-9CF7-4AFD-BD01-4A82A81841CC}"/>
              </a:ext>
            </a:extLst>
          </p:cNvPr>
          <p:cNvSpPr>
            <a:spLocks xmlns:a="http://schemas.openxmlformats.org/drawingml/2006/main" noGrp="1"/>
          </p:cNvSpPr>
          <p:nvPr/>
        </p:nvSpPr>
        <p:spPr>
          <a:xfrm xmlns:a="http://schemas.openxmlformats.org/drawingml/2006/main">
            <a:off x="685800" y="250507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7" name="text-499">
            <a:extLst xmlns:a="http://schemas.openxmlformats.org/drawingml/2006/main">
              <a:ext uri="{FF2B5EF4-FFF2-40B4-BE49-F238E27FC236}">
                <a16:creationId xmlns:a16="http://schemas.microsoft.com/office/drawing/2014/main" id="{D195B371-CF38-47FB-9695-3D8431ACE3FA}"/>
              </a:ext>
            </a:extLst>
          </p:cNvPr>
          <p:cNvSpPr>
            <a:spLocks xmlns:a="http://schemas.openxmlformats.org/drawingml/2006/main" noGrp="1"/>
          </p:cNvSpPr>
          <p:nvPr/>
        </p:nvSpPr>
        <p:spPr>
          <a:xfrm xmlns:a="http://schemas.openxmlformats.org/drawingml/2006/main">
            <a:off x="685800" y="2733675"/>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Environment</a:t>
            </a:r>
          </a:p>
        </p:txBody>
      </p:sp>
      <p:sp>
        <p:nvSpPr>
          <p:cNvPr id="8" name="text-500">
            <a:extLst xmlns:a="http://schemas.openxmlformats.org/drawingml/2006/main">
              <a:ext uri="{FF2B5EF4-FFF2-40B4-BE49-F238E27FC236}">
                <a16:creationId xmlns:a16="http://schemas.microsoft.com/office/drawing/2014/main" id="{9E65514A-9B5C-4B58-A15B-4E7E23FA86E2}"/>
              </a:ext>
            </a:extLst>
          </p:cNvPr>
          <p:cNvSpPr>
            <a:spLocks xmlns:a="http://schemas.openxmlformats.org/drawingml/2006/main" noGrp="1"/>
          </p:cNvSpPr>
          <p:nvPr/>
        </p:nvSpPr>
        <p:spPr>
          <a:xfrm xmlns:a="http://schemas.openxmlformats.org/drawingml/2006/main">
            <a:off x="685800" y="3733800"/>
            <a:ext cx="40386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Use a disposable demo dataset.</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Confirm server and login.</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Keep app and deck ready.</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Rehearse the exact route.</a:t>
            </a:r>
          </a:p>
        </p:txBody>
      </p:sp>
      <p:sp>
        <p:nvSpPr>
          <p:cNvPr id="9" name="rule-501">
            <a:extLst xmlns:a="http://schemas.openxmlformats.org/drawingml/2006/main">
              <a:ext uri="{FF2B5EF4-FFF2-40B4-BE49-F238E27FC236}">
                <a16:creationId xmlns:a16="http://schemas.microsoft.com/office/drawing/2014/main" id="{9EB8E1EB-18FB-4B3C-A252-2A5423B0FDE1}"/>
              </a:ext>
            </a:extLst>
          </p:cNvPr>
          <p:cNvSpPr>
            <a:spLocks xmlns:a="http://schemas.openxmlformats.org/drawingml/2006/main" noGrp="1"/>
          </p:cNvSpPr>
          <p:nvPr/>
        </p:nvSpPr>
        <p:spPr>
          <a:xfrm xmlns:a="http://schemas.openxmlformats.org/drawingml/2006/main">
            <a:off x="5372100" y="250507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10" name="text-502">
            <a:extLst xmlns:a="http://schemas.openxmlformats.org/drawingml/2006/main">
              <a:ext uri="{FF2B5EF4-FFF2-40B4-BE49-F238E27FC236}">
                <a16:creationId xmlns:a16="http://schemas.microsoft.com/office/drawing/2014/main" id="{719102E2-2064-416A-813D-B71C00DF1B5F}"/>
              </a:ext>
            </a:extLst>
          </p:cNvPr>
          <p:cNvSpPr>
            <a:spLocks xmlns:a="http://schemas.openxmlformats.org/drawingml/2006/main" noGrp="1"/>
          </p:cNvSpPr>
          <p:nvPr/>
        </p:nvSpPr>
        <p:spPr>
          <a:xfrm xmlns:a="http://schemas.openxmlformats.org/drawingml/2006/main">
            <a:off x="5372100" y="2733675"/>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Scenario</a:t>
            </a:r>
          </a:p>
        </p:txBody>
      </p:sp>
      <p:sp>
        <p:nvSpPr>
          <p:cNvPr id="11" name="text-503">
            <a:extLst xmlns:a="http://schemas.openxmlformats.org/drawingml/2006/main">
              <a:ext uri="{FF2B5EF4-FFF2-40B4-BE49-F238E27FC236}">
                <a16:creationId xmlns:a16="http://schemas.microsoft.com/office/drawing/2014/main" id="{457DC225-FB99-4EA0-9326-DF7572F78F8F}"/>
              </a:ext>
            </a:extLst>
          </p:cNvPr>
          <p:cNvSpPr>
            <a:spLocks xmlns:a="http://schemas.openxmlformats.org/drawingml/2006/main" noGrp="1"/>
          </p:cNvSpPr>
          <p:nvPr/>
        </p:nvSpPr>
        <p:spPr>
          <a:xfrm xmlns:a="http://schemas.openxmlformats.org/drawingml/2006/main">
            <a:off x="5372100" y="3733800"/>
            <a:ext cx="40386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SKU 10000: Yara Pink.</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Harwin Flagship location.</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One labeled demo customer.</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Record opening stock values.</a:t>
            </a:r>
          </a:p>
        </p:txBody>
      </p:sp>
      <p:sp>
        <p:nvSpPr>
          <p:cNvPr id="12" name="rule-504">
            <a:extLst xmlns:a="http://schemas.openxmlformats.org/drawingml/2006/main">
              <a:ext uri="{FF2B5EF4-FFF2-40B4-BE49-F238E27FC236}">
                <a16:creationId xmlns:a16="http://schemas.microsoft.com/office/drawing/2014/main" id="{5A642DA4-4961-4713-BE25-6B360C9BC169}"/>
              </a:ext>
            </a:extLst>
          </p:cNvPr>
          <p:cNvSpPr>
            <a:spLocks xmlns:a="http://schemas.openxmlformats.org/drawingml/2006/main" noGrp="1"/>
          </p:cNvSpPr>
          <p:nvPr/>
        </p:nvSpPr>
        <p:spPr>
          <a:xfrm xmlns:a="http://schemas.openxmlformats.org/drawingml/2006/main">
            <a:off x="10058400" y="2505075"/>
            <a:ext cx="40386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13" name="text-505">
            <a:extLst xmlns:a="http://schemas.openxmlformats.org/drawingml/2006/main">
              <a:ext uri="{FF2B5EF4-FFF2-40B4-BE49-F238E27FC236}">
                <a16:creationId xmlns:a16="http://schemas.microsoft.com/office/drawing/2014/main" id="{E7C91089-2DDF-4EB0-8FBD-BB8FC90F839A}"/>
              </a:ext>
            </a:extLst>
          </p:cNvPr>
          <p:cNvSpPr>
            <a:spLocks xmlns:a="http://schemas.openxmlformats.org/drawingml/2006/main" noGrp="1"/>
          </p:cNvSpPr>
          <p:nvPr/>
        </p:nvSpPr>
        <p:spPr>
          <a:xfrm xmlns:a="http://schemas.openxmlformats.org/drawingml/2006/main">
            <a:off x="10058400" y="2733675"/>
            <a:ext cx="4038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03D43"/>
                </a:solidFill>
                <a:latin typeface="Aptos"/>
                <a:ea typeface="Aptos"/>
                <a:cs typeface="Aptos"/>
              </a:defRPr>
            </a:pPr>
            <a:r>
              <a:rPr sz="2700" b="1">
                <a:solidFill>
                  <a:srgbClr val="103D43"/>
                </a:solidFill>
                <a:latin typeface="Aptos"/>
                <a:ea typeface="Aptos"/>
                <a:cs typeface="Aptos"/>
              </a:rPr>
              <a:t>Checkout</a:t>
            </a:r>
          </a:p>
        </p:txBody>
      </p:sp>
      <p:sp>
        <p:nvSpPr>
          <p:cNvPr id="14" name="text-506">
            <a:extLst xmlns:a="http://schemas.openxmlformats.org/drawingml/2006/main">
              <a:ext uri="{FF2B5EF4-FFF2-40B4-BE49-F238E27FC236}">
                <a16:creationId xmlns:a16="http://schemas.microsoft.com/office/drawing/2014/main" id="{8D8F9157-6AE5-43E0-BB25-E71347B428C2}"/>
              </a:ext>
            </a:extLst>
          </p:cNvPr>
          <p:cNvSpPr>
            <a:spLocks xmlns:a="http://schemas.openxmlformats.org/drawingml/2006/main" noGrp="1"/>
          </p:cNvSpPr>
          <p:nvPr/>
        </p:nvSpPr>
        <p:spPr>
          <a:xfrm xmlns:a="http://schemas.openxmlformats.org/drawingml/2006/main">
            <a:off x="10058400" y="3733800"/>
            <a:ext cx="40386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Confirm sample tax settings.</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Open the demo cashier shift.</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Check opening cash float.</a:t>
            </a:r>
          </a:p>
          <a:p xmlns:a="http://schemas.openxmlformats.org/drawingml/2006/main">
            <a:pPr algn="l">
              <a:defRPr sz="2175" b="0">
                <a:solidFill>
                  <a:srgbClr val="597071"/>
                </a:solidFill>
                <a:latin typeface="Aptos"/>
                <a:ea typeface="Aptos"/>
                <a:cs typeface="Aptos"/>
              </a:defRPr>
            </a:pPr>
            <a:r>
              <a:rPr sz="2175" b="0">
                <a:solidFill>
                  <a:srgbClr val="597071"/>
                </a:solidFill>
                <a:latin typeface="Aptos"/>
                <a:ea typeface="Aptos"/>
                <a:cs typeface="Aptos"/>
              </a:rPr>
              <a:t>Test receipt print preview.</a:t>
            </a:r>
          </a:p>
        </p:txBody>
      </p:sp>
      <p:sp>
        <p:nvSpPr>
          <p:cNvPr id="15" name="rule-507">
            <a:extLst xmlns:a="http://schemas.openxmlformats.org/drawingml/2006/main">
              <a:ext uri="{FF2B5EF4-FFF2-40B4-BE49-F238E27FC236}">
                <a16:creationId xmlns:a16="http://schemas.microsoft.com/office/drawing/2014/main" id="{DB706A8B-1037-4B5D-843B-DE42A1F49DED}"/>
              </a:ext>
            </a:extLst>
          </p:cNvPr>
          <p:cNvSpPr>
            <a:spLocks xmlns:a="http://schemas.openxmlformats.org/drawingml/2006/main" noGrp="1"/>
          </p:cNvSpPr>
          <p:nvPr/>
        </p:nvSpPr>
        <p:spPr>
          <a:xfrm xmlns:a="http://schemas.openxmlformats.org/drawingml/2006/main">
            <a:off x="685800" y="6943725"/>
            <a:ext cx="5715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16" name="text-508">
            <a:extLst xmlns:a="http://schemas.openxmlformats.org/drawingml/2006/main">
              <a:ext uri="{FF2B5EF4-FFF2-40B4-BE49-F238E27FC236}">
                <a16:creationId xmlns:a16="http://schemas.microsoft.com/office/drawing/2014/main" id="{0F8CB1EE-31C8-401B-9501-68449A2385C6}"/>
              </a:ext>
            </a:extLst>
          </p:cNvPr>
          <p:cNvSpPr>
            <a:spLocks xmlns:a="http://schemas.openxmlformats.org/drawingml/2006/main" noGrp="1"/>
          </p:cNvSpPr>
          <p:nvPr/>
        </p:nvSpPr>
        <p:spPr>
          <a:xfrm xmlns:a="http://schemas.openxmlformats.org/drawingml/2006/main">
            <a:off x="685800" y="7105650"/>
            <a:ext cx="13868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3D43"/>
                </a:solidFill>
                <a:latin typeface="Aptos"/>
                <a:ea typeface="Aptos"/>
                <a:cs typeface="Aptos"/>
              </a:defRPr>
            </a:pPr>
            <a:r>
              <a:rPr sz="2250" b="1">
                <a:solidFill>
                  <a:srgbClr val="103D43"/>
                </a:solidFill>
                <a:latin typeface="Aptos"/>
                <a:ea typeface="Aptos"/>
                <a:cs typeface="Aptos"/>
              </a:rPr>
              <a:t>Use demo tender only. Keep business inventory and the client’s live register untouched.</a:t>
            </a:r>
          </a:p>
        </p:txBody>
      </p:sp>
    </p:spTree>
    <p:extLst>
      <p:ext uri="{BB962C8B-B14F-4D97-AF65-F5344CB8AC3E}">
        <p14:creationId xmlns:p14="http://schemas.microsoft.com/office/powerpoint/2010/main" val="1434712783"/>
      </p:ext>
    </p:extLst>
  </p:cSld>
</p:sld>
</file>

<file path=ppt/slides/slide23.xml><?xml version="1.0" encoding="utf-8"?>
<p:sld xmlns:p="http://schemas.openxmlformats.org/presentationml/2006/main" show="0">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2" name="text-509">
            <a:extLst xmlns:a="http://schemas.openxmlformats.org/drawingml/2006/main">
              <a:ext uri="{FF2B5EF4-FFF2-40B4-BE49-F238E27FC236}">
                <a16:creationId xmlns:a16="http://schemas.microsoft.com/office/drawing/2014/main" id="{13CC3882-84B4-4DD6-8F66-34AA268750DD}"/>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PRESENTER PLAYBOOK / LIVE ACTIONS 1–4</a:t>
            </a:r>
          </a:p>
        </p:txBody>
      </p:sp>
      <p:sp>
        <p:nvSpPr>
          <p:cNvPr id="2" name="text-510">
            <a:extLst xmlns:a="http://schemas.openxmlformats.org/drawingml/2006/main">
              <a:ext uri="{FF2B5EF4-FFF2-40B4-BE49-F238E27FC236}">
                <a16:creationId xmlns:a16="http://schemas.microsoft.com/office/drawing/2014/main" id="{74B87A05-FDC0-40E0-8A12-960DAE2EAD43}"/>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Demo route: establish control, then receive stock</a:t>
            </a:r>
          </a:p>
        </p:txBody>
      </p:sp>
      <p:sp>
        <p:nvSpPr>
          <p:cNvPr id="3" name="rule-511">
            <a:extLst xmlns:a="http://schemas.openxmlformats.org/drawingml/2006/main">
              <a:ext uri="{FF2B5EF4-FFF2-40B4-BE49-F238E27FC236}">
                <a16:creationId xmlns:a16="http://schemas.microsoft.com/office/drawing/2014/main" id="{742F18DE-9F19-4695-852F-30B711F4BB61}"/>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512">
            <a:extLst xmlns:a="http://schemas.openxmlformats.org/drawingml/2006/main">
              <a:ext uri="{FF2B5EF4-FFF2-40B4-BE49-F238E27FC236}">
                <a16:creationId xmlns:a16="http://schemas.microsoft.com/office/drawing/2014/main" id="{378D900F-7BDA-46D3-9567-E59B00EFE068}"/>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513">
            <a:extLst xmlns:a="http://schemas.openxmlformats.org/drawingml/2006/main">
              <a:ext uri="{FF2B5EF4-FFF2-40B4-BE49-F238E27FC236}">
                <a16:creationId xmlns:a16="http://schemas.microsoft.com/office/drawing/2014/main" id="{C54D72DD-C33E-4A80-ACFC-0BD08B6DE785}"/>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23</a:t>
            </a:r>
          </a:p>
        </p:txBody>
      </p:sp>
      <p:sp>
        <p:nvSpPr>
          <p:cNvPr id="6" name="text-514">
            <a:extLst xmlns:a="http://schemas.openxmlformats.org/drawingml/2006/main">
              <a:ext uri="{FF2B5EF4-FFF2-40B4-BE49-F238E27FC236}">
                <a16:creationId xmlns:a16="http://schemas.microsoft.com/office/drawing/2014/main" id="{CB3DAC0C-0386-4D07-AB23-9218D07FF814}"/>
              </a:ext>
            </a:extLst>
          </p:cNvPr>
          <p:cNvSpPr>
            <a:spLocks xmlns:a="http://schemas.openxmlformats.org/drawingml/2006/main" noGrp="1"/>
          </p:cNvSpPr>
          <p:nvPr/>
        </p:nvSpPr>
        <p:spPr>
          <a:xfrm xmlns:a="http://schemas.openxmlformats.org/drawingml/2006/main">
            <a:off x="685800" y="23812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B28B4E"/>
                </a:solidFill>
                <a:latin typeface="Aptos"/>
                <a:ea typeface="Aptos"/>
                <a:cs typeface="Aptos"/>
              </a:defRPr>
            </a:pPr>
            <a:r>
              <a:rPr sz="2850" b="1">
                <a:solidFill>
                  <a:srgbClr val="B28B4E"/>
                </a:solidFill>
                <a:latin typeface="Aptos"/>
                <a:ea typeface="Aptos"/>
                <a:cs typeface="Aptos"/>
              </a:rPr>
              <a:t>1</a:t>
            </a:r>
          </a:p>
        </p:txBody>
      </p:sp>
      <p:sp>
        <p:nvSpPr>
          <p:cNvPr id="7" name="text-515">
            <a:extLst xmlns:a="http://schemas.openxmlformats.org/drawingml/2006/main">
              <a:ext uri="{FF2B5EF4-FFF2-40B4-BE49-F238E27FC236}">
                <a16:creationId xmlns:a16="http://schemas.microsoft.com/office/drawing/2014/main" id="{CA8BB89C-D033-4C2E-B0D1-B65E5DA98A70}"/>
              </a:ext>
            </a:extLst>
          </p:cNvPr>
          <p:cNvSpPr>
            <a:spLocks xmlns:a="http://schemas.openxmlformats.org/drawingml/2006/main" noGrp="1"/>
          </p:cNvSpPr>
          <p:nvPr/>
        </p:nvSpPr>
        <p:spPr>
          <a:xfrm xmlns:a="http://schemas.openxmlformats.org/drawingml/2006/main">
            <a:off x="1714500" y="2381250"/>
            <a:ext cx="1283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03D43"/>
                </a:solidFill>
                <a:latin typeface="Aptos"/>
                <a:ea typeface="Aptos"/>
                <a:cs typeface="Aptos"/>
              </a:defRPr>
            </a:pPr>
            <a:r>
              <a:rPr sz="2475" b="1">
                <a:solidFill>
                  <a:srgbClr val="103D43"/>
                </a:solidFill>
                <a:latin typeface="Aptos"/>
                <a:ea typeface="Aptos"/>
                <a:cs typeface="Aptos"/>
              </a:rPr>
              <a:t>Core Setup → Login Access</a:t>
            </a:r>
          </a:p>
        </p:txBody>
      </p:sp>
      <p:sp>
        <p:nvSpPr>
          <p:cNvPr id="8" name="text-516">
            <a:extLst xmlns:a="http://schemas.openxmlformats.org/drawingml/2006/main">
              <a:ext uri="{FF2B5EF4-FFF2-40B4-BE49-F238E27FC236}">
                <a16:creationId xmlns:a16="http://schemas.microsoft.com/office/drawing/2014/main" id="{A46A399E-C176-41CB-8859-7592552A0936}"/>
              </a:ext>
            </a:extLst>
          </p:cNvPr>
          <p:cNvSpPr>
            <a:spLocks xmlns:a="http://schemas.openxmlformats.org/drawingml/2006/main" noGrp="1"/>
          </p:cNvSpPr>
          <p:nvPr/>
        </p:nvSpPr>
        <p:spPr>
          <a:xfrm xmlns:a="http://schemas.openxmlformats.org/drawingml/2006/main">
            <a:off x="1714500" y="2886075"/>
            <a:ext cx="12839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Show actual sign-in roles. “People get the right workspace.”</a:t>
            </a:r>
          </a:p>
        </p:txBody>
      </p:sp>
      <p:sp>
        <p:nvSpPr>
          <p:cNvPr id="9" name="text-517">
            <a:extLst xmlns:a="http://schemas.openxmlformats.org/drawingml/2006/main">
              <a:ext uri="{FF2B5EF4-FFF2-40B4-BE49-F238E27FC236}">
                <a16:creationId xmlns:a16="http://schemas.microsoft.com/office/drawing/2014/main" id="{C79AA682-D3FC-4B80-A5D8-F3AEBB2715AB}"/>
              </a:ext>
            </a:extLst>
          </p:cNvPr>
          <p:cNvSpPr>
            <a:spLocks xmlns:a="http://schemas.openxmlformats.org/drawingml/2006/main" noGrp="1"/>
          </p:cNvSpPr>
          <p:nvPr/>
        </p:nvSpPr>
        <p:spPr>
          <a:xfrm xmlns:a="http://schemas.openxmlformats.org/drawingml/2006/main">
            <a:off x="1714500" y="3257550"/>
            <a:ext cx="1283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3716D"/>
                </a:solidFill>
                <a:latin typeface="Aptos"/>
                <a:ea typeface="Aptos"/>
                <a:cs typeface="Aptos"/>
              </a:defRPr>
            </a:pPr>
            <a:r>
              <a:rPr sz="1875" b="1">
                <a:solidFill>
                  <a:srgbClr val="23716D"/>
                </a:solidFill>
                <a:latin typeface="Aptos"/>
                <a:ea typeface="Aptos"/>
                <a:cs typeface="Aptos"/>
              </a:rPr>
              <a:t>Proof: role-specific access is visible.</a:t>
            </a:r>
          </a:p>
        </p:txBody>
      </p:sp>
      <p:sp>
        <p:nvSpPr>
          <p:cNvPr id="10" name="text-518">
            <a:extLst xmlns:a="http://schemas.openxmlformats.org/drawingml/2006/main">
              <a:ext uri="{FF2B5EF4-FFF2-40B4-BE49-F238E27FC236}">
                <a16:creationId xmlns:a16="http://schemas.microsoft.com/office/drawing/2014/main" id="{8A361317-C148-4CD9-9AAE-EC23B6D1E1FC}"/>
              </a:ext>
            </a:extLst>
          </p:cNvPr>
          <p:cNvSpPr>
            <a:spLocks xmlns:a="http://schemas.openxmlformats.org/drawingml/2006/main" noGrp="1"/>
          </p:cNvSpPr>
          <p:nvPr/>
        </p:nvSpPr>
        <p:spPr>
          <a:xfrm xmlns:a="http://schemas.openxmlformats.org/drawingml/2006/main">
            <a:off x="685800" y="36195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B28B4E"/>
                </a:solidFill>
                <a:latin typeface="Aptos"/>
                <a:ea typeface="Aptos"/>
                <a:cs typeface="Aptos"/>
              </a:defRPr>
            </a:pPr>
            <a:r>
              <a:rPr sz="2850" b="1">
                <a:solidFill>
                  <a:srgbClr val="B28B4E"/>
                </a:solidFill>
                <a:latin typeface="Aptos"/>
                <a:ea typeface="Aptos"/>
                <a:cs typeface="Aptos"/>
              </a:rPr>
              <a:t>2</a:t>
            </a:r>
          </a:p>
        </p:txBody>
      </p:sp>
      <p:sp>
        <p:nvSpPr>
          <p:cNvPr id="11" name="text-519">
            <a:extLst xmlns:a="http://schemas.openxmlformats.org/drawingml/2006/main">
              <a:ext uri="{FF2B5EF4-FFF2-40B4-BE49-F238E27FC236}">
                <a16:creationId xmlns:a16="http://schemas.microsoft.com/office/drawing/2014/main" id="{7FDA7BD9-3478-4FA5-8FAC-31D9105AC380}"/>
              </a:ext>
            </a:extLst>
          </p:cNvPr>
          <p:cNvSpPr>
            <a:spLocks xmlns:a="http://schemas.openxmlformats.org/drawingml/2006/main" noGrp="1"/>
          </p:cNvSpPr>
          <p:nvPr/>
        </p:nvSpPr>
        <p:spPr>
          <a:xfrm xmlns:a="http://schemas.openxmlformats.org/drawingml/2006/main">
            <a:off x="1714500" y="3619500"/>
            <a:ext cx="1283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03D43"/>
                </a:solidFill>
                <a:latin typeface="Aptos"/>
                <a:ea typeface="Aptos"/>
                <a:cs typeface="Aptos"/>
              </a:defRPr>
            </a:pPr>
            <a:r>
              <a:rPr sz="2475" b="1">
                <a:solidFill>
                  <a:srgbClr val="103D43"/>
                </a:solidFill>
                <a:latin typeface="Aptos"/>
                <a:ea typeface="Aptos"/>
                <a:cs typeface="Aptos"/>
              </a:rPr>
              <a:t>Product Catalog → search 10000</a:t>
            </a:r>
          </a:p>
        </p:txBody>
      </p:sp>
      <p:sp>
        <p:nvSpPr>
          <p:cNvPr id="12" name="text-520">
            <a:extLst xmlns:a="http://schemas.openxmlformats.org/drawingml/2006/main">
              <a:ext uri="{FF2B5EF4-FFF2-40B4-BE49-F238E27FC236}">
                <a16:creationId xmlns:a16="http://schemas.microsoft.com/office/drawing/2014/main" id="{B91A5F2C-0655-46B2-91E4-1F741ECF20B8}"/>
              </a:ext>
            </a:extLst>
          </p:cNvPr>
          <p:cNvSpPr>
            <a:spLocks xmlns:a="http://schemas.openxmlformats.org/drawingml/2006/main" noGrp="1"/>
          </p:cNvSpPr>
          <p:nvPr/>
        </p:nvSpPr>
        <p:spPr>
          <a:xfrm xmlns:a="http://schemas.openxmlformats.org/drawingml/2006/main">
            <a:off x="1714500" y="4124325"/>
            <a:ext cx="12839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Open Yara Pink. Show SKU, barcode, price levels and size.</a:t>
            </a:r>
          </a:p>
        </p:txBody>
      </p:sp>
      <p:sp>
        <p:nvSpPr>
          <p:cNvPr id="13" name="text-521">
            <a:extLst xmlns:a="http://schemas.openxmlformats.org/drawingml/2006/main">
              <a:ext uri="{FF2B5EF4-FFF2-40B4-BE49-F238E27FC236}">
                <a16:creationId xmlns:a16="http://schemas.microsoft.com/office/drawing/2014/main" id="{A2D3EFF5-21F4-4317-909F-1F8AF122A821}"/>
              </a:ext>
            </a:extLst>
          </p:cNvPr>
          <p:cNvSpPr>
            <a:spLocks xmlns:a="http://schemas.openxmlformats.org/drawingml/2006/main" noGrp="1"/>
          </p:cNvSpPr>
          <p:nvPr/>
        </p:nvSpPr>
        <p:spPr>
          <a:xfrm xmlns:a="http://schemas.openxmlformats.org/drawingml/2006/main">
            <a:off x="1714500" y="4495800"/>
            <a:ext cx="1283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3716D"/>
                </a:solidFill>
                <a:latin typeface="Aptos"/>
                <a:ea typeface="Aptos"/>
                <a:cs typeface="Aptos"/>
              </a:defRPr>
            </a:pPr>
            <a:r>
              <a:rPr sz="1875" b="1">
                <a:solidFill>
                  <a:srgbClr val="23716D"/>
                </a:solidFill>
                <a:latin typeface="Aptos"/>
                <a:ea typeface="Aptos"/>
                <a:cs typeface="Aptos"/>
              </a:rPr>
              <a:t>Proof: one identifiable product record.</a:t>
            </a:r>
          </a:p>
        </p:txBody>
      </p:sp>
      <p:sp>
        <p:nvSpPr>
          <p:cNvPr id="14" name="text-522">
            <a:extLst xmlns:a="http://schemas.openxmlformats.org/drawingml/2006/main">
              <a:ext uri="{FF2B5EF4-FFF2-40B4-BE49-F238E27FC236}">
                <a16:creationId xmlns:a16="http://schemas.microsoft.com/office/drawing/2014/main" id="{2901CAAD-D7DD-4EA6-9454-981F6D9F40E1}"/>
              </a:ext>
            </a:extLst>
          </p:cNvPr>
          <p:cNvSpPr>
            <a:spLocks xmlns:a="http://schemas.openxmlformats.org/drawingml/2006/main" noGrp="1"/>
          </p:cNvSpPr>
          <p:nvPr/>
        </p:nvSpPr>
        <p:spPr>
          <a:xfrm xmlns:a="http://schemas.openxmlformats.org/drawingml/2006/main">
            <a:off x="685800" y="4857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B28B4E"/>
                </a:solidFill>
                <a:latin typeface="Aptos"/>
                <a:ea typeface="Aptos"/>
                <a:cs typeface="Aptos"/>
              </a:defRPr>
            </a:pPr>
            <a:r>
              <a:rPr sz="2850" b="1">
                <a:solidFill>
                  <a:srgbClr val="B28B4E"/>
                </a:solidFill>
                <a:latin typeface="Aptos"/>
                <a:ea typeface="Aptos"/>
                <a:cs typeface="Aptos"/>
              </a:rPr>
              <a:t>3</a:t>
            </a:r>
          </a:p>
        </p:txBody>
      </p:sp>
      <p:sp>
        <p:nvSpPr>
          <p:cNvPr id="15" name="text-523">
            <a:extLst xmlns:a="http://schemas.openxmlformats.org/drawingml/2006/main">
              <a:ext uri="{FF2B5EF4-FFF2-40B4-BE49-F238E27FC236}">
                <a16:creationId xmlns:a16="http://schemas.microsoft.com/office/drawing/2014/main" id="{D829242D-49E0-418D-814F-2094A82448B7}"/>
              </a:ext>
            </a:extLst>
          </p:cNvPr>
          <p:cNvSpPr>
            <a:spLocks xmlns:a="http://schemas.openxmlformats.org/drawingml/2006/main" noGrp="1"/>
          </p:cNvSpPr>
          <p:nvPr/>
        </p:nvSpPr>
        <p:spPr>
          <a:xfrm xmlns:a="http://schemas.openxmlformats.org/drawingml/2006/main">
            <a:off x="1714500" y="4857750"/>
            <a:ext cx="1283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03D43"/>
                </a:solidFill>
                <a:latin typeface="Aptos"/>
                <a:ea typeface="Aptos"/>
                <a:cs typeface="Aptos"/>
              </a:defRPr>
            </a:pPr>
            <a:r>
              <a:rPr sz="2475" b="1">
                <a:solidFill>
                  <a:srgbClr val="103D43"/>
                </a:solidFill>
                <a:latin typeface="Aptos"/>
                <a:ea typeface="Aptos"/>
                <a:cs typeface="Aptos"/>
              </a:rPr>
              <a:t>Stock Explorer → Harwin</a:t>
            </a:r>
          </a:p>
        </p:txBody>
      </p:sp>
      <p:sp>
        <p:nvSpPr>
          <p:cNvPr id="16" name="text-524">
            <a:extLst xmlns:a="http://schemas.openxmlformats.org/drawingml/2006/main">
              <a:ext uri="{FF2B5EF4-FFF2-40B4-BE49-F238E27FC236}">
                <a16:creationId xmlns:a16="http://schemas.microsoft.com/office/drawing/2014/main" id="{F37E3071-ACFE-4A47-9E23-F85813621C61}"/>
              </a:ext>
            </a:extLst>
          </p:cNvPr>
          <p:cNvSpPr>
            <a:spLocks xmlns:a="http://schemas.openxmlformats.org/drawingml/2006/main" noGrp="1"/>
          </p:cNvSpPr>
          <p:nvPr/>
        </p:nvSpPr>
        <p:spPr>
          <a:xfrm xmlns:a="http://schemas.openxmlformats.org/drawingml/2006/main">
            <a:off x="1714500" y="5362575"/>
            <a:ext cx="12839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Record on-hand and available stock before any posting.</a:t>
            </a:r>
          </a:p>
        </p:txBody>
      </p:sp>
      <p:sp>
        <p:nvSpPr>
          <p:cNvPr id="17" name="text-525">
            <a:extLst xmlns:a="http://schemas.openxmlformats.org/drawingml/2006/main">
              <a:ext uri="{FF2B5EF4-FFF2-40B4-BE49-F238E27FC236}">
                <a16:creationId xmlns:a16="http://schemas.microsoft.com/office/drawing/2014/main" id="{E1E2B697-F35C-4659-ACEB-AB7E3ACAF260}"/>
              </a:ext>
            </a:extLst>
          </p:cNvPr>
          <p:cNvSpPr>
            <a:spLocks xmlns:a="http://schemas.openxmlformats.org/drawingml/2006/main" noGrp="1"/>
          </p:cNvSpPr>
          <p:nvPr/>
        </p:nvSpPr>
        <p:spPr>
          <a:xfrm xmlns:a="http://schemas.openxmlformats.org/drawingml/2006/main">
            <a:off x="1714500" y="5734050"/>
            <a:ext cx="1283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3716D"/>
                </a:solidFill>
                <a:latin typeface="Aptos"/>
                <a:ea typeface="Aptos"/>
                <a:cs typeface="Aptos"/>
              </a:defRPr>
            </a:pPr>
            <a:r>
              <a:rPr sz="1875" b="1">
                <a:solidFill>
                  <a:srgbClr val="23716D"/>
                </a:solidFill>
                <a:latin typeface="Aptos"/>
                <a:ea typeface="Aptos"/>
                <a:cs typeface="Aptos"/>
              </a:rPr>
              <a:t>Proof: a baseline the customer can compare.</a:t>
            </a:r>
          </a:p>
        </p:txBody>
      </p:sp>
      <p:sp>
        <p:nvSpPr>
          <p:cNvPr id="18" name="text-526">
            <a:extLst xmlns:a="http://schemas.openxmlformats.org/drawingml/2006/main">
              <a:ext uri="{FF2B5EF4-FFF2-40B4-BE49-F238E27FC236}">
                <a16:creationId xmlns:a16="http://schemas.microsoft.com/office/drawing/2014/main" id="{90A8A89D-1621-4012-BD2A-DFEBE9D98F46}"/>
              </a:ext>
            </a:extLst>
          </p:cNvPr>
          <p:cNvSpPr>
            <a:spLocks xmlns:a="http://schemas.openxmlformats.org/drawingml/2006/main" noGrp="1"/>
          </p:cNvSpPr>
          <p:nvPr/>
        </p:nvSpPr>
        <p:spPr>
          <a:xfrm xmlns:a="http://schemas.openxmlformats.org/drawingml/2006/main">
            <a:off x="685800" y="60960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B28B4E"/>
                </a:solidFill>
                <a:latin typeface="Aptos"/>
                <a:ea typeface="Aptos"/>
                <a:cs typeface="Aptos"/>
              </a:defRPr>
            </a:pPr>
            <a:r>
              <a:rPr sz="2850" b="1">
                <a:solidFill>
                  <a:srgbClr val="B28B4E"/>
                </a:solidFill>
                <a:latin typeface="Aptos"/>
                <a:ea typeface="Aptos"/>
                <a:cs typeface="Aptos"/>
              </a:rPr>
              <a:t>4</a:t>
            </a:r>
          </a:p>
        </p:txBody>
      </p:sp>
      <p:sp>
        <p:nvSpPr>
          <p:cNvPr id="19" name="text-527">
            <a:extLst xmlns:a="http://schemas.openxmlformats.org/drawingml/2006/main">
              <a:ext uri="{FF2B5EF4-FFF2-40B4-BE49-F238E27FC236}">
                <a16:creationId xmlns:a16="http://schemas.microsoft.com/office/drawing/2014/main" id="{1C2FB441-9406-4CDC-9A66-08D03465BED3}"/>
              </a:ext>
            </a:extLst>
          </p:cNvPr>
          <p:cNvSpPr>
            <a:spLocks xmlns:a="http://schemas.openxmlformats.org/drawingml/2006/main" noGrp="1"/>
          </p:cNvSpPr>
          <p:nvPr/>
        </p:nvSpPr>
        <p:spPr>
          <a:xfrm xmlns:a="http://schemas.openxmlformats.org/drawingml/2006/main">
            <a:off x="1714500" y="6096000"/>
            <a:ext cx="1283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03D43"/>
                </a:solidFill>
                <a:latin typeface="Aptos"/>
                <a:ea typeface="Aptos"/>
                <a:cs typeface="Aptos"/>
              </a:defRPr>
            </a:pPr>
            <a:r>
              <a:rPr sz="2475" b="1">
                <a:solidFill>
                  <a:srgbClr val="103D43"/>
                </a:solidFill>
                <a:latin typeface="Aptos"/>
                <a:ea typeface="Aptos"/>
                <a:cs typeface="Aptos"/>
              </a:rPr>
              <a:t>Stock Operations → receipt</a:t>
            </a:r>
          </a:p>
        </p:txBody>
      </p:sp>
      <p:sp>
        <p:nvSpPr>
          <p:cNvPr id="20" name="text-528">
            <a:extLst xmlns:a="http://schemas.openxmlformats.org/drawingml/2006/main">
              <a:ext uri="{FF2B5EF4-FFF2-40B4-BE49-F238E27FC236}">
                <a16:creationId xmlns:a16="http://schemas.microsoft.com/office/drawing/2014/main" id="{24F9DC13-13B6-489E-ADFD-F0BF00119BAA}"/>
              </a:ext>
            </a:extLst>
          </p:cNvPr>
          <p:cNvSpPr>
            <a:spLocks xmlns:a="http://schemas.openxmlformats.org/drawingml/2006/main" noGrp="1"/>
          </p:cNvSpPr>
          <p:nvPr/>
        </p:nvSpPr>
        <p:spPr>
          <a:xfrm xmlns:a="http://schemas.openxmlformats.org/drawingml/2006/main">
            <a:off x="1714500" y="6600825"/>
            <a:ext cx="12839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Receive 5 units; save the draft, post, then refresh stock.</a:t>
            </a:r>
          </a:p>
        </p:txBody>
      </p:sp>
      <p:sp>
        <p:nvSpPr>
          <p:cNvPr id="21" name="text-529">
            <a:extLst xmlns:a="http://schemas.openxmlformats.org/drawingml/2006/main">
              <a:ext uri="{FF2B5EF4-FFF2-40B4-BE49-F238E27FC236}">
                <a16:creationId xmlns:a16="http://schemas.microsoft.com/office/drawing/2014/main" id="{96683499-1AF1-4E45-B232-90B854F58106}"/>
              </a:ext>
            </a:extLst>
          </p:cNvPr>
          <p:cNvSpPr>
            <a:spLocks xmlns:a="http://schemas.openxmlformats.org/drawingml/2006/main" noGrp="1"/>
          </p:cNvSpPr>
          <p:nvPr/>
        </p:nvSpPr>
        <p:spPr>
          <a:xfrm xmlns:a="http://schemas.openxmlformats.org/drawingml/2006/main">
            <a:off x="1714500" y="6972300"/>
            <a:ext cx="1283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3716D"/>
                </a:solidFill>
                <a:latin typeface="Aptos"/>
                <a:ea typeface="Aptos"/>
                <a:cs typeface="Aptos"/>
              </a:defRPr>
            </a:pPr>
            <a:r>
              <a:rPr sz="1875" b="1">
                <a:solidFill>
                  <a:srgbClr val="23716D"/>
                </a:solidFill>
                <a:latin typeface="Aptos"/>
                <a:ea typeface="Aptos"/>
                <a:cs typeface="Aptos"/>
              </a:rPr>
              <a:t>Proof: on-hand = baseline + 5.</a:t>
            </a:r>
          </a:p>
        </p:txBody>
      </p:sp>
    </p:spTree>
    <p:extLst>
      <p:ext uri="{BB962C8B-B14F-4D97-AF65-F5344CB8AC3E}">
        <p14:creationId xmlns:p14="http://schemas.microsoft.com/office/powerpoint/2010/main" val="509840494"/>
      </p:ext>
    </p:extLst>
  </p:cSld>
</p:sld>
</file>

<file path=ppt/slides/slide24.xml><?xml version="1.0" encoding="utf-8"?>
<p:sld xmlns:p="http://schemas.openxmlformats.org/presentationml/2006/main" show="0">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3" name="text-530">
            <a:extLst xmlns:a="http://schemas.openxmlformats.org/drawingml/2006/main">
              <a:ext uri="{FF2B5EF4-FFF2-40B4-BE49-F238E27FC236}">
                <a16:creationId xmlns:a16="http://schemas.microsoft.com/office/drawing/2014/main" id="{681E446C-A366-44D6-B0D0-3D4C1FBB147E}"/>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PRESENTER PLAYBOOK / LIVE ACTIONS 5–8</a:t>
            </a:r>
          </a:p>
        </p:txBody>
      </p:sp>
      <p:sp>
        <p:nvSpPr>
          <p:cNvPr id="2" name="text-531">
            <a:extLst xmlns:a="http://schemas.openxmlformats.org/drawingml/2006/main">
              <a:ext uri="{FF2B5EF4-FFF2-40B4-BE49-F238E27FC236}">
                <a16:creationId xmlns:a16="http://schemas.microsoft.com/office/drawing/2014/main" id="{4F13C2F6-0D8C-437E-B2B7-6FB9A787C5AD}"/>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Demo route: sell, return and close the loop</a:t>
            </a:r>
          </a:p>
        </p:txBody>
      </p:sp>
      <p:sp>
        <p:nvSpPr>
          <p:cNvPr id="3" name="rule-532">
            <a:extLst xmlns:a="http://schemas.openxmlformats.org/drawingml/2006/main">
              <a:ext uri="{FF2B5EF4-FFF2-40B4-BE49-F238E27FC236}">
                <a16:creationId xmlns:a16="http://schemas.microsoft.com/office/drawing/2014/main" id="{6D5747B4-1B1E-4B70-AD3D-3A375E7FA19F}"/>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533">
            <a:extLst xmlns:a="http://schemas.openxmlformats.org/drawingml/2006/main">
              <a:ext uri="{FF2B5EF4-FFF2-40B4-BE49-F238E27FC236}">
                <a16:creationId xmlns:a16="http://schemas.microsoft.com/office/drawing/2014/main" id="{16826410-3E69-4A60-9290-E9837D9AAF22}"/>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534">
            <a:extLst xmlns:a="http://schemas.openxmlformats.org/drawingml/2006/main">
              <a:ext uri="{FF2B5EF4-FFF2-40B4-BE49-F238E27FC236}">
                <a16:creationId xmlns:a16="http://schemas.microsoft.com/office/drawing/2014/main" id="{A44139DB-43A6-45AD-9CEC-6DE86C04767D}"/>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24</a:t>
            </a:r>
          </a:p>
        </p:txBody>
      </p:sp>
      <p:sp>
        <p:nvSpPr>
          <p:cNvPr id="6" name="text-535">
            <a:extLst xmlns:a="http://schemas.openxmlformats.org/drawingml/2006/main">
              <a:ext uri="{FF2B5EF4-FFF2-40B4-BE49-F238E27FC236}">
                <a16:creationId xmlns:a16="http://schemas.microsoft.com/office/drawing/2014/main" id="{225AD663-3E73-4F88-B252-0BD07116B4DB}"/>
              </a:ext>
            </a:extLst>
          </p:cNvPr>
          <p:cNvSpPr>
            <a:spLocks xmlns:a="http://schemas.openxmlformats.org/drawingml/2006/main" noGrp="1"/>
          </p:cNvSpPr>
          <p:nvPr/>
        </p:nvSpPr>
        <p:spPr>
          <a:xfrm xmlns:a="http://schemas.openxmlformats.org/drawingml/2006/main">
            <a:off x="685800" y="22669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B28B4E"/>
                </a:solidFill>
                <a:latin typeface="Aptos"/>
                <a:ea typeface="Aptos"/>
                <a:cs typeface="Aptos"/>
              </a:defRPr>
            </a:pPr>
            <a:r>
              <a:rPr sz="2850" b="1">
                <a:solidFill>
                  <a:srgbClr val="B28B4E"/>
                </a:solidFill>
                <a:latin typeface="Aptos"/>
                <a:ea typeface="Aptos"/>
                <a:cs typeface="Aptos"/>
              </a:rPr>
              <a:t>5</a:t>
            </a:r>
          </a:p>
        </p:txBody>
      </p:sp>
      <p:sp>
        <p:nvSpPr>
          <p:cNvPr id="7" name="text-536">
            <a:extLst xmlns:a="http://schemas.openxmlformats.org/drawingml/2006/main">
              <a:ext uri="{FF2B5EF4-FFF2-40B4-BE49-F238E27FC236}">
                <a16:creationId xmlns:a16="http://schemas.microsoft.com/office/drawing/2014/main" id="{B42779AE-5035-4C90-8935-FA1793025021}"/>
              </a:ext>
            </a:extLst>
          </p:cNvPr>
          <p:cNvSpPr>
            <a:spLocks xmlns:a="http://schemas.openxmlformats.org/drawingml/2006/main" noGrp="1"/>
          </p:cNvSpPr>
          <p:nvPr/>
        </p:nvSpPr>
        <p:spPr>
          <a:xfrm xmlns:a="http://schemas.openxmlformats.org/drawingml/2006/main">
            <a:off x="1714500" y="2266950"/>
            <a:ext cx="1283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03D43"/>
                </a:solidFill>
                <a:latin typeface="Aptos"/>
                <a:ea typeface="Aptos"/>
                <a:cs typeface="Aptos"/>
              </a:defRPr>
            </a:pPr>
            <a:r>
              <a:rPr sz="2475" b="1">
                <a:solidFill>
                  <a:srgbClr val="103D43"/>
                </a:solidFill>
                <a:latin typeface="Aptos"/>
                <a:ea typeface="Aptos"/>
                <a:cs typeface="Aptos"/>
              </a:rPr>
              <a:t>POS → attach demo customer → sell 2</a:t>
            </a:r>
          </a:p>
        </p:txBody>
      </p:sp>
      <p:sp>
        <p:nvSpPr>
          <p:cNvPr id="8" name="text-537">
            <a:extLst xmlns:a="http://schemas.openxmlformats.org/drawingml/2006/main">
              <a:ext uri="{FF2B5EF4-FFF2-40B4-BE49-F238E27FC236}">
                <a16:creationId xmlns:a16="http://schemas.microsoft.com/office/drawing/2014/main" id="{8A6B1C12-346D-4DE8-9C19-EADE60C47FAD}"/>
              </a:ext>
            </a:extLst>
          </p:cNvPr>
          <p:cNvSpPr>
            <a:spLocks xmlns:a="http://schemas.openxmlformats.org/drawingml/2006/main" noGrp="1"/>
          </p:cNvSpPr>
          <p:nvPr/>
        </p:nvSpPr>
        <p:spPr>
          <a:xfrm xmlns:a="http://schemas.openxmlformats.org/drawingml/2006/main">
            <a:off x="1714500" y="2771775"/>
            <a:ext cx="12839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Review price and tax; record demo cash; show confirmed receipt.</a:t>
            </a:r>
          </a:p>
        </p:txBody>
      </p:sp>
      <p:sp>
        <p:nvSpPr>
          <p:cNvPr id="9" name="text-538">
            <a:extLst xmlns:a="http://schemas.openxmlformats.org/drawingml/2006/main">
              <a:ext uri="{FF2B5EF4-FFF2-40B4-BE49-F238E27FC236}">
                <a16:creationId xmlns:a16="http://schemas.microsoft.com/office/drawing/2014/main" id="{16308879-69F8-453B-BBEA-6CC51793A392}"/>
              </a:ext>
            </a:extLst>
          </p:cNvPr>
          <p:cNvSpPr>
            <a:spLocks xmlns:a="http://schemas.openxmlformats.org/drawingml/2006/main" noGrp="1"/>
          </p:cNvSpPr>
          <p:nvPr/>
        </p:nvSpPr>
        <p:spPr>
          <a:xfrm xmlns:a="http://schemas.openxmlformats.org/drawingml/2006/main">
            <a:off x="1714500" y="3143250"/>
            <a:ext cx="1283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3716D"/>
                </a:solidFill>
                <a:latin typeface="Aptos"/>
                <a:ea typeface="Aptos"/>
                <a:cs typeface="Aptos"/>
              </a:defRPr>
            </a:pPr>
            <a:r>
              <a:rPr sz="1875" b="1">
                <a:solidFill>
                  <a:srgbClr val="23716D"/>
                </a:solidFill>
                <a:latin typeface="Aptos"/>
                <a:ea typeface="Aptos"/>
                <a:cs typeface="Aptos"/>
              </a:rPr>
              <a:t>Proof: sale recorded; stock decreases by 2.</a:t>
            </a:r>
          </a:p>
        </p:txBody>
      </p:sp>
      <p:sp>
        <p:nvSpPr>
          <p:cNvPr id="10" name="text-539">
            <a:extLst xmlns:a="http://schemas.openxmlformats.org/drawingml/2006/main">
              <a:ext uri="{FF2B5EF4-FFF2-40B4-BE49-F238E27FC236}">
                <a16:creationId xmlns:a16="http://schemas.microsoft.com/office/drawing/2014/main" id="{10233DDD-CB21-4A9F-850B-7C06070A4868}"/>
              </a:ext>
            </a:extLst>
          </p:cNvPr>
          <p:cNvSpPr>
            <a:spLocks xmlns:a="http://schemas.openxmlformats.org/drawingml/2006/main" noGrp="1"/>
          </p:cNvSpPr>
          <p:nvPr/>
        </p:nvSpPr>
        <p:spPr>
          <a:xfrm xmlns:a="http://schemas.openxmlformats.org/drawingml/2006/main">
            <a:off x="685800" y="35052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B28B4E"/>
                </a:solidFill>
                <a:latin typeface="Aptos"/>
                <a:ea typeface="Aptos"/>
                <a:cs typeface="Aptos"/>
              </a:defRPr>
            </a:pPr>
            <a:r>
              <a:rPr sz="2850" b="1">
                <a:solidFill>
                  <a:srgbClr val="B28B4E"/>
                </a:solidFill>
                <a:latin typeface="Aptos"/>
                <a:ea typeface="Aptos"/>
                <a:cs typeface="Aptos"/>
              </a:rPr>
              <a:t>6</a:t>
            </a:r>
          </a:p>
        </p:txBody>
      </p:sp>
      <p:sp>
        <p:nvSpPr>
          <p:cNvPr id="11" name="text-540">
            <a:extLst xmlns:a="http://schemas.openxmlformats.org/drawingml/2006/main">
              <a:ext uri="{FF2B5EF4-FFF2-40B4-BE49-F238E27FC236}">
                <a16:creationId xmlns:a16="http://schemas.microsoft.com/office/drawing/2014/main" id="{0C150C0B-BFC0-4DDE-99C0-4C378AF005E3}"/>
              </a:ext>
            </a:extLst>
          </p:cNvPr>
          <p:cNvSpPr>
            <a:spLocks xmlns:a="http://schemas.openxmlformats.org/drawingml/2006/main" noGrp="1"/>
          </p:cNvSpPr>
          <p:nvPr/>
        </p:nvSpPr>
        <p:spPr>
          <a:xfrm xmlns:a="http://schemas.openxmlformats.org/drawingml/2006/main">
            <a:off x="1714500" y="3505200"/>
            <a:ext cx="1283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03D43"/>
                </a:solidFill>
                <a:latin typeface="Aptos"/>
                <a:ea typeface="Aptos"/>
                <a:cs typeface="Aptos"/>
              </a:defRPr>
            </a:pPr>
            <a:r>
              <a:rPr sz="2475" b="1">
                <a:solidFill>
                  <a:srgbClr val="103D43"/>
                </a:solidFill>
                <a:latin typeface="Aptos"/>
                <a:ea typeface="Aptos"/>
                <a:cs typeface="Aptos"/>
              </a:rPr>
              <a:t>Returns → original receipt → return 1</a:t>
            </a:r>
          </a:p>
        </p:txBody>
      </p:sp>
      <p:sp>
        <p:nvSpPr>
          <p:cNvPr id="12" name="text-541">
            <a:extLst xmlns:a="http://schemas.openxmlformats.org/drawingml/2006/main">
              <a:ext uri="{FF2B5EF4-FFF2-40B4-BE49-F238E27FC236}">
                <a16:creationId xmlns:a16="http://schemas.microsoft.com/office/drawing/2014/main" id="{CFC37942-F341-4B17-803F-B9D166044011}"/>
              </a:ext>
            </a:extLst>
          </p:cNvPr>
          <p:cNvSpPr>
            <a:spLocks xmlns:a="http://schemas.openxmlformats.org/drawingml/2006/main" noGrp="1"/>
          </p:cNvSpPr>
          <p:nvPr/>
        </p:nvSpPr>
        <p:spPr>
          <a:xfrm xmlns:a="http://schemas.openxmlformats.org/drawingml/2006/main">
            <a:off x="1714500" y="4010025"/>
            <a:ext cx="12839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Choose restock and store credit for the attached customer.</a:t>
            </a:r>
          </a:p>
        </p:txBody>
      </p:sp>
      <p:sp>
        <p:nvSpPr>
          <p:cNvPr id="13" name="text-542">
            <a:extLst xmlns:a="http://schemas.openxmlformats.org/drawingml/2006/main">
              <a:ext uri="{FF2B5EF4-FFF2-40B4-BE49-F238E27FC236}">
                <a16:creationId xmlns:a16="http://schemas.microsoft.com/office/drawing/2014/main" id="{DB7FB678-6664-464E-B9D2-34656A8E3BFB}"/>
              </a:ext>
            </a:extLst>
          </p:cNvPr>
          <p:cNvSpPr>
            <a:spLocks xmlns:a="http://schemas.openxmlformats.org/drawingml/2006/main" noGrp="1"/>
          </p:cNvSpPr>
          <p:nvPr/>
        </p:nvSpPr>
        <p:spPr>
          <a:xfrm xmlns:a="http://schemas.openxmlformats.org/drawingml/2006/main">
            <a:off x="1714500" y="4381500"/>
            <a:ext cx="1283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3716D"/>
                </a:solidFill>
                <a:latin typeface="Aptos"/>
                <a:ea typeface="Aptos"/>
                <a:cs typeface="Aptos"/>
              </a:defRPr>
            </a:pPr>
            <a:r>
              <a:rPr sz="1875" b="1">
                <a:solidFill>
                  <a:srgbClr val="23716D"/>
                </a:solidFill>
                <a:latin typeface="Aptos"/>
                <a:ea typeface="Aptos"/>
                <a:cs typeface="Aptos"/>
              </a:rPr>
              <a:t>Proof: stock increases by 1; credit history records the amount.</a:t>
            </a:r>
          </a:p>
        </p:txBody>
      </p:sp>
      <p:sp>
        <p:nvSpPr>
          <p:cNvPr id="14" name="text-543">
            <a:extLst xmlns:a="http://schemas.openxmlformats.org/drawingml/2006/main">
              <a:ext uri="{FF2B5EF4-FFF2-40B4-BE49-F238E27FC236}">
                <a16:creationId xmlns:a16="http://schemas.microsoft.com/office/drawing/2014/main" id="{F1DA0894-A7B0-4762-AE76-2231D27BBA3F}"/>
              </a:ext>
            </a:extLst>
          </p:cNvPr>
          <p:cNvSpPr>
            <a:spLocks xmlns:a="http://schemas.openxmlformats.org/drawingml/2006/main" noGrp="1"/>
          </p:cNvSpPr>
          <p:nvPr/>
        </p:nvSpPr>
        <p:spPr>
          <a:xfrm xmlns:a="http://schemas.openxmlformats.org/drawingml/2006/main">
            <a:off x="685800" y="47434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B28B4E"/>
                </a:solidFill>
                <a:latin typeface="Aptos"/>
                <a:ea typeface="Aptos"/>
                <a:cs typeface="Aptos"/>
              </a:defRPr>
            </a:pPr>
            <a:r>
              <a:rPr sz="2850" b="1">
                <a:solidFill>
                  <a:srgbClr val="B28B4E"/>
                </a:solidFill>
                <a:latin typeface="Aptos"/>
                <a:ea typeface="Aptos"/>
                <a:cs typeface="Aptos"/>
              </a:rPr>
              <a:t>7</a:t>
            </a:r>
          </a:p>
        </p:txBody>
      </p:sp>
      <p:sp>
        <p:nvSpPr>
          <p:cNvPr id="15" name="text-544">
            <a:extLst xmlns:a="http://schemas.openxmlformats.org/drawingml/2006/main">
              <a:ext uri="{FF2B5EF4-FFF2-40B4-BE49-F238E27FC236}">
                <a16:creationId xmlns:a16="http://schemas.microsoft.com/office/drawing/2014/main" id="{47BCA052-40F7-4CA7-8AB3-BA1DE0E85CE1}"/>
              </a:ext>
            </a:extLst>
          </p:cNvPr>
          <p:cNvSpPr>
            <a:spLocks xmlns:a="http://schemas.openxmlformats.org/drawingml/2006/main" noGrp="1"/>
          </p:cNvSpPr>
          <p:nvPr/>
        </p:nvSpPr>
        <p:spPr>
          <a:xfrm xmlns:a="http://schemas.openxmlformats.org/drawingml/2006/main">
            <a:off x="1714500" y="4743450"/>
            <a:ext cx="1283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03D43"/>
                </a:solidFill>
                <a:latin typeface="Aptos"/>
                <a:ea typeface="Aptos"/>
                <a:cs typeface="Aptos"/>
              </a:defRPr>
            </a:pPr>
            <a:r>
              <a:rPr sz="2475" b="1">
                <a:solidFill>
                  <a:srgbClr val="103D43"/>
                </a:solidFill>
                <a:latin typeface="Aptos"/>
                <a:ea typeface="Aptos"/>
                <a:cs typeface="Aptos"/>
              </a:rPr>
              <a:t>Customer Accounts → inspect credit</a:t>
            </a:r>
          </a:p>
        </p:txBody>
      </p:sp>
      <p:sp>
        <p:nvSpPr>
          <p:cNvPr id="16" name="text-545">
            <a:extLst xmlns:a="http://schemas.openxmlformats.org/drawingml/2006/main">
              <a:ext uri="{FF2B5EF4-FFF2-40B4-BE49-F238E27FC236}">
                <a16:creationId xmlns:a16="http://schemas.microsoft.com/office/drawing/2014/main" id="{6F5D6982-FE7D-4585-99DC-ED72A339A769}"/>
              </a:ext>
            </a:extLst>
          </p:cNvPr>
          <p:cNvSpPr>
            <a:spLocks xmlns:a="http://schemas.openxmlformats.org/drawingml/2006/main" noGrp="1"/>
          </p:cNvSpPr>
          <p:nvPr/>
        </p:nvSpPr>
        <p:spPr>
          <a:xfrm xmlns:a="http://schemas.openxmlformats.org/drawingml/2006/main">
            <a:off x="1714500" y="5248275"/>
            <a:ext cx="12839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Show purchase history, credit balance and credit movement.</a:t>
            </a:r>
          </a:p>
        </p:txBody>
      </p:sp>
      <p:sp>
        <p:nvSpPr>
          <p:cNvPr id="17" name="text-546">
            <a:extLst xmlns:a="http://schemas.openxmlformats.org/drawingml/2006/main">
              <a:ext uri="{FF2B5EF4-FFF2-40B4-BE49-F238E27FC236}">
                <a16:creationId xmlns:a16="http://schemas.microsoft.com/office/drawing/2014/main" id="{8C1532F1-DCF3-4FA0-8DC1-73FC6A711DE5}"/>
              </a:ext>
            </a:extLst>
          </p:cNvPr>
          <p:cNvSpPr>
            <a:spLocks xmlns:a="http://schemas.openxmlformats.org/drawingml/2006/main" noGrp="1"/>
          </p:cNvSpPr>
          <p:nvPr/>
        </p:nvSpPr>
        <p:spPr>
          <a:xfrm xmlns:a="http://schemas.openxmlformats.org/drawingml/2006/main">
            <a:off x="1714500" y="5619750"/>
            <a:ext cx="1283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3716D"/>
                </a:solidFill>
                <a:latin typeface="Aptos"/>
                <a:ea typeface="Aptos"/>
                <a:cs typeface="Aptos"/>
              </a:defRPr>
            </a:pPr>
            <a:r>
              <a:rPr sz="1875" b="1">
                <a:solidFill>
                  <a:srgbClr val="23716D"/>
                </a:solidFill>
                <a:latin typeface="Aptos"/>
                <a:ea typeface="Aptos"/>
                <a:cs typeface="Aptos"/>
              </a:rPr>
              <a:t>Proof: the customer account links back to the transaction.</a:t>
            </a:r>
          </a:p>
        </p:txBody>
      </p:sp>
      <p:sp>
        <p:nvSpPr>
          <p:cNvPr id="18" name="text-547">
            <a:extLst xmlns:a="http://schemas.openxmlformats.org/drawingml/2006/main">
              <a:ext uri="{FF2B5EF4-FFF2-40B4-BE49-F238E27FC236}">
                <a16:creationId xmlns:a16="http://schemas.microsoft.com/office/drawing/2014/main" id="{C05DF5FD-5FD0-49F2-A4C4-8576383C1930}"/>
              </a:ext>
            </a:extLst>
          </p:cNvPr>
          <p:cNvSpPr>
            <a:spLocks xmlns:a="http://schemas.openxmlformats.org/drawingml/2006/main" noGrp="1"/>
          </p:cNvSpPr>
          <p:nvPr/>
        </p:nvSpPr>
        <p:spPr>
          <a:xfrm xmlns:a="http://schemas.openxmlformats.org/drawingml/2006/main">
            <a:off x="685800" y="59817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B28B4E"/>
                </a:solidFill>
                <a:latin typeface="Aptos"/>
                <a:ea typeface="Aptos"/>
                <a:cs typeface="Aptos"/>
              </a:defRPr>
            </a:pPr>
            <a:r>
              <a:rPr sz="2850" b="1">
                <a:solidFill>
                  <a:srgbClr val="B28B4E"/>
                </a:solidFill>
                <a:latin typeface="Aptos"/>
                <a:ea typeface="Aptos"/>
                <a:cs typeface="Aptos"/>
              </a:rPr>
              <a:t>8</a:t>
            </a:r>
          </a:p>
        </p:txBody>
      </p:sp>
      <p:sp>
        <p:nvSpPr>
          <p:cNvPr id="19" name="text-548">
            <a:extLst xmlns:a="http://schemas.openxmlformats.org/drawingml/2006/main">
              <a:ext uri="{FF2B5EF4-FFF2-40B4-BE49-F238E27FC236}">
                <a16:creationId xmlns:a16="http://schemas.microsoft.com/office/drawing/2014/main" id="{BEBAD533-CC0E-4888-9625-16587EDCF85D}"/>
              </a:ext>
            </a:extLst>
          </p:cNvPr>
          <p:cNvSpPr>
            <a:spLocks xmlns:a="http://schemas.openxmlformats.org/drawingml/2006/main" noGrp="1"/>
          </p:cNvSpPr>
          <p:nvPr/>
        </p:nvSpPr>
        <p:spPr>
          <a:xfrm xmlns:a="http://schemas.openxmlformats.org/drawingml/2006/main">
            <a:off x="1714500" y="5981700"/>
            <a:ext cx="1283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03D43"/>
                </a:solidFill>
                <a:latin typeface="Aptos"/>
                <a:ea typeface="Aptos"/>
                <a:cs typeface="Aptos"/>
              </a:defRPr>
            </a:pPr>
            <a:r>
              <a:rPr sz="2475" b="1">
                <a:solidFill>
                  <a:srgbClr val="103D43"/>
                </a:solidFill>
                <a:latin typeface="Aptos"/>
                <a:ea typeface="Aptos"/>
                <a:cs typeface="Aptos"/>
              </a:rPr>
              <a:t>Cashier Shifts → close → reconciliation</a:t>
            </a:r>
          </a:p>
        </p:txBody>
      </p:sp>
      <p:sp>
        <p:nvSpPr>
          <p:cNvPr id="20" name="text-549">
            <a:extLst xmlns:a="http://schemas.openxmlformats.org/drawingml/2006/main">
              <a:ext uri="{FF2B5EF4-FFF2-40B4-BE49-F238E27FC236}">
                <a16:creationId xmlns:a16="http://schemas.microsoft.com/office/drawing/2014/main" id="{2618962D-0830-41FC-84BB-1A824CDD0DA3}"/>
              </a:ext>
            </a:extLst>
          </p:cNvPr>
          <p:cNvSpPr>
            <a:spLocks xmlns:a="http://schemas.openxmlformats.org/drawingml/2006/main" noGrp="1"/>
          </p:cNvSpPr>
          <p:nvPr/>
        </p:nvSpPr>
        <p:spPr>
          <a:xfrm xmlns:a="http://schemas.openxmlformats.org/drawingml/2006/main">
            <a:off x="1714500" y="6486525"/>
            <a:ext cx="12839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97071"/>
                </a:solidFill>
                <a:latin typeface="Aptos"/>
                <a:ea typeface="Aptos"/>
                <a:cs typeface="Aptos"/>
              </a:defRPr>
            </a:pPr>
            <a:r>
              <a:rPr sz="2025" b="0">
                <a:solidFill>
                  <a:srgbClr val="597071"/>
                </a:solidFill>
                <a:latin typeface="Aptos"/>
                <a:ea typeface="Aptos"/>
                <a:cs typeface="Aptos"/>
              </a:rPr>
              <a:t>Review expected cash; enter count; explain any variance.</a:t>
            </a:r>
          </a:p>
        </p:txBody>
      </p:sp>
      <p:sp>
        <p:nvSpPr>
          <p:cNvPr id="21" name="text-550">
            <a:extLst xmlns:a="http://schemas.openxmlformats.org/drawingml/2006/main">
              <a:ext uri="{FF2B5EF4-FFF2-40B4-BE49-F238E27FC236}">
                <a16:creationId xmlns:a16="http://schemas.microsoft.com/office/drawing/2014/main" id="{CA9CC1C6-47AA-483E-9DE5-C99A0802122B}"/>
              </a:ext>
            </a:extLst>
          </p:cNvPr>
          <p:cNvSpPr>
            <a:spLocks xmlns:a="http://schemas.openxmlformats.org/drawingml/2006/main" noGrp="1"/>
          </p:cNvSpPr>
          <p:nvPr/>
        </p:nvSpPr>
        <p:spPr>
          <a:xfrm xmlns:a="http://schemas.openxmlformats.org/drawingml/2006/main">
            <a:off x="1714500" y="6858000"/>
            <a:ext cx="1283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3716D"/>
                </a:solidFill>
                <a:latin typeface="Aptos"/>
                <a:ea typeface="Aptos"/>
                <a:cs typeface="Aptos"/>
              </a:defRPr>
            </a:pPr>
            <a:r>
              <a:rPr sz="1875" b="1">
                <a:solidFill>
                  <a:srgbClr val="23716D"/>
                </a:solidFill>
                <a:latin typeface="Aptos"/>
                <a:ea typeface="Aptos"/>
                <a:cs typeface="Aptos"/>
              </a:rPr>
              <a:t>Proof: frozen close record. Final stock = baseline + 4.*</a:t>
            </a:r>
          </a:p>
        </p:txBody>
      </p:sp>
      <p:sp>
        <p:nvSpPr>
          <p:cNvPr id="22" name="text-551">
            <a:extLst xmlns:a="http://schemas.openxmlformats.org/drawingml/2006/main">
              <a:ext uri="{FF2B5EF4-FFF2-40B4-BE49-F238E27FC236}">
                <a16:creationId xmlns:a16="http://schemas.microsoft.com/office/drawing/2014/main" id="{B37FCC33-3669-48F8-8484-E6794A1C06C2}"/>
              </a:ext>
            </a:extLst>
          </p:cNvPr>
          <p:cNvSpPr>
            <a:spLocks xmlns:a="http://schemas.openxmlformats.org/drawingml/2006/main" noGrp="1"/>
          </p:cNvSpPr>
          <p:nvPr/>
        </p:nvSpPr>
        <p:spPr>
          <a:xfrm xmlns:a="http://schemas.openxmlformats.org/drawingml/2006/main">
            <a:off x="1714500" y="7486650"/>
            <a:ext cx="12839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7071"/>
                </a:solidFill>
                <a:latin typeface="Aptos"/>
                <a:ea typeface="Aptos"/>
                <a:cs typeface="Aptos"/>
              </a:defRPr>
            </a:pPr>
            <a:r>
              <a:rPr sz="1650" b="0">
                <a:solidFill>
                  <a:srgbClr val="597071"/>
                </a:solidFill>
                <a:latin typeface="Aptos"/>
                <a:ea typeface="Aptos"/>
                <a:cs typeface="Aptos"/>
              </a:rPr>
              <a:t>*Assumes +5 received, −2 sold, +1 restocked, no transfer and no concurrent activity.</a:t>
            </a:r>
          </a:p>
        </p:txBody>
      </p:sp>
    </p:spTree>
    <p:extLst>
      <p:ext uri="{BB962C8B-B14F-4D97-AF65-F5344CB8AC3E}">
        <p14:creationId xmlns:p14="http://schemas.microsoft.com/office/powerpoint/2010/main" val="344789694"/>
      </p:ext>
    </p:extLst>
  </p:cSld>
</p:sld>
</file>

<file path=ppt/slides/slide25.xml><?xml version="1.0" encoding="utf-8"?>
<p:sld xmlns:p="http://schemas.openxmlformats.org/presentationml/2006/main" show="0">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0" name="text-552">
            <a:extLst xmlns:a="http://schemas.openxmlformats.org/drawingml/2006/main">
              <a:ext uri="{FF2B5EF4-FFF2-40B4-BE49-F238E27FC236}">
                <a16:creationId xmlns:a16="http://schemas.microsoft.com/office/drawing/2014/main" id="{B2A8E9D2-6396-417D-842C-5B42412B25FB}"/>
              </a:ext>
            </a:extLst>
          </p:cNvPr>
          <p:cNvSpPr>
            <a:spLocks xmlns:a="http://schemas.openxmlformats.org/drawingml/2006/main" noGrp="1"/>
          </p:cNvSpPr>
          <p:nvPr/>
        </p:nvSpPr>
        <p:spPr>
          <a:xfrm xmlns:a="http://schemas.openxmlformats.org/drawingml/2006/main">
            <a:off x="685800" y="400050"/>
            <a:ext cx="1343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3716D"/>
                </a:solidFill>
                <a:latin typeface="Aptos"/>
                <a:ea typeface="Aptos"/>
                <a:cs typeface="Aptos"/>
              </a:defRPr>
            </a:pPr>
            <a:r>
              <a:rPr sz="1650" b="1">
                <a:solidFill>
                  <a:srgbClr val="23716D"/>
                </a:solidFill>
                <a:latin typeface="Aptos"/>
                <a:ea typeface="Aptos"/>
                <a:cs typeface="Aptos"/>
              </a:rPr>
              <a:t>PRESENTER PLAYBOOK / QUESTIONS &amp; FALLBACK</a:t>
            </a:r>
          </a:p>
        </p:txBody>
      </p:sp>
      <p:sp>
        <p:nvSpPr>
          <p:cNvPr id="2" name="text-553">
            <a:extLst xmlns:a="http://schemas.openxmlformats.org/drawingml/2006/main">
              <a:ext uri="{FF2B5EF4-FFF2-40B4-BE49-F238E27FC236}">
                <a16:creationId xmlns:a16="http://schemas.microsoft.com/office/drawing/2014/main" id="{F613B9C9-2EEA-4E54-8F0D-280BD019103E}"/>
              </a:ext>
            </a:extLst>
          </p:cNvPr>
          <p:cNvSpPr>
            <a:spLocks xmlns:a="http://schemas.openxmlformats.org/drawingml/2006/main" noGrp="1"/>
          </p:cNvSpPr>
          <p:nvPr/>
        </p:nvSpPr>
        <p:spPr>
          <a:xfrm xmlns:a="http://schemas.openxmlformats.org/drawingml/2006/main">
            <a:off x="685800" y="866775"/>
            <a:ext cx="13868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03D43"/>
                </a:solidFill>
                <a:latin typeface="Aptos"/>
                <a:ea typeface="Aptos"/>
                <a:cs typeface="Aptos"/>
              </a:defRPr>
            </a:pPr>
            <a:r>
              <a:rPr sz="3900" b="1">
                <a:solidFill>
                  <a:srgbClr val="103D43"/>
                </a:solidFill>
                <a:latin typeface="Aptos"/>
                <a:ea typeface="Aptos"/>
                <a:cs typeface="Aptos"/>
              </a:rPr>
              <a:t>Answer clearly—and always return to value</a:t>
            </a:r>
          </a:p>
        </p:txBody>
      </p:sp>
      <p:sp>
        <p:nvSpPr>
          <p:cNvPr id="3" name="rule-554">
            <a:extLst xmlns:a="http://schemas.openxmlformats.org/drawingml/2006/main">
              <a:ext uri="{FF2B5EF4-FFF2-40B4-BE49-F238E27FC236}">
                <a16:creationId xmlns:a16="http://schemas.microsoft.com/office/drawing/2014/main" id="{681F2EA0-E963-4D9D-8FCC-E9DB938E1299}"/>
              </a:ext>
            </a:extLst>
          </p:cNvPr>
          <p:cNvSpPr>
            <a:spLocks xmlns:a="http://schemas.openxmlformats.org/drawingml/2006/main" noGrp="1"/>
          </p:cNvSpPr>
          <p:nvPr/>
        </p:nvSpPr>
        <p:spPr>
          <a:xfrm xmlns:a="http://schemas.openxmlformats.org/drawingml/2006/main">
            <a:off x="685800" y="78676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4" name="text-555">
            <a:extLst xmlns:a="http://schemas.openxmlformats.org/drawingml/2006/main">
              <a:ext uri="{FF2B5EF4-FFF2-40B4-BE49-F238E27FC236}">
                <a16:creationId xmlns:a16="http://schemas.microsoft.com/office/drawing/2014/main" id="{B493E5C7-6CCD-4DB4-988C-ECD66DB876C6}"/>
              </a:ext>
            </a:extLst>
          </p:cNvPr>
          <p:cNvSpPr>
            <a:spLocks xmlns:a="http://schemas.openxmlformats.org/drawingml/2006/main" noGrp="1"/>
          </p:cNvSpPr>
          <p:nvPr/>
        </p:nvSpPr>
        <p:spPr>
          <a:xfrm xmlns:a="http://schemas.openxmlformats.org/drawingml/2006/main">
            <a:off x="685800" y="8029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97071"/>
                </a:solidFill>
                <a:latin typeface="Aptos"/>
                <a:ea typeface="Aptos"/>
                <a:cs typeface="Aptos"/>
              </a:defRPr>
            </a:pPr>
            <a:r>
              <a:rPr sz="1500" b="1">
                <a:solidFill>
                  <a:srgbClr val="597071"/>
                </a:solidFill>
                <a:latin typeface="Aptos"/>
                <a:ea typeface="Aptos"/>
                <a:cs typeface="Aptos"/>
              </a:rPr>
              <a:t>FLAIR COSMETIC &amp; FRAGRANCE</a:t>
            </a:r>
          </a:p>
        </p:txBody>
      </p:sp>
      <p:sp>
        <p:nvSpPr>
          <p:cNvPr id="5" name="text-556">
            <a:extLst xmlns:a="http://schemas.openxmlformats.org/drawingml/2006/main">
              <a:ext uri="{FF2B5EF4-FFF2-40B4-BE49-F238E27FC236}">
                <a16:creationId xmlns:a16="http://schemas.microsoft.com/office/drawing/2014/main" id="{78F046E9-4CFE-44C4-9B40-8DB0D83ECADD}"/>
              </a:ext>
            </a:extLst>
          </p:cNvPr>
          <p:cNvSpPr>
            <a:spLocks xmlns:a="http://schemas.openxmlformats.org/drawingml/2006/main" noGrp="1"/>
          </p:cNvSpPr>
          <p:nvPr/>
        </p:nvSpPr>
        <p:spPr>
          <a:xfrm xmlns:a="http://schemas.openxmlformats.org/drawingml/2006/main">
            <a:off x="13716000" y="7972425"/>
            <a:ext cx="83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23716D"/>
                </a:solidFill>
                <a:latin typeface="Aptos"/>
                <a:ea typeface="Aptos"/>
                <a:cs typeface="Aptos"/>
              </a:defRPr>
            </a:pPr>
            <a:r>
              <a:rPr sz="1950" b="1">
                <a:solidFill>
                  <a:srgbClr val="23716D"/>
                </a:solidFill>
                <a:latin typeface="Aptos"/>
                <a:ea typeface="Aptos"/>
                <a:cs typeface="Aptos"/>
              </a:rPr>
              <a:t>25</a:t>
            </a:r>
          </a:p>
        </p:txBody>
      </p:sp>
      <p:sp>
        <p:nvSpPr>
          <p:cNvPr id="6" name="rule-557">
            <a:extLst xmlns:a="http://schemas.openxmlformats.org/drawingml/2006/main">
              <a:ext uri="{FF2B5EF4-FFF2-40B4-BE49-F238E27FC236}">
                <a16:creationId xmlns:a16="http://schemas.microsoft.com/office/drawing/2014/main" id="{B9454DE2-58D7-4C7A-914E-FA79EF4C0EFA}"/>
              </a:ext>
            </a:extLst>
          </p:cNvPr>
          <p:cNvSpPr>
            <a:spLocks xmlns:a="http://schemas.openxmlformats.org/drawingml/2006/main" noGrp="1"/>
          </p:cNvSpPr>
          <p:nvPr/>
        </p:nvSpPr>
        <p:spPr>
          <a:xfrm xmlns:a="http://schemas.openxmlformats.org/drawingml/2006/main">
            <a:off x="685800" y="2333625"/>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7" name="text-558">
            <a:extLst xmlns:a="http://schemas.openxmlformats.org/drawingml/2006/main">
              <a:ext uri="{FF2B5EF4-FFF2-40B4-BE49-F238E27FC236}">
                <a16:creationId xmlns:a16="http://schemas.microsoft.com/office/drawing/2014/main" id="{EC6BC3FA-510F-4E51-833F-EAD0B70E1C8E}"/>
              </a:ext>
            </a:extLst>
          </p:cNvPr>
          <p:cNvSpPr>
            <a:spLocks xmlns:a="http://schemas.openxmlformats.org/drawingml/2006/main" noGrp="1"/>
          </p:cNvSpPr>
          <p:nvPr/>
        </p:nvSpPr>
        <p:spPr>
          <a:xfrm xmlns:a="http://schemas.openxmlformats.org/drawingml/2006/main">
            <a:off x="685800" y="2447925"/>
            <a:ext cx="6429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D43"/>
                </a:solidFill>
                <a:latin typeface="Aptos"/>
                <a:ea typeface="Aptos"/>
                <a:cs typeface="Aptos"/>
              </a:defRPr>
            </a:pPr>
            <a:r>
              <a:rPr sz="2325" b="1">
                <a:solidFill>
                  <a:srgbClr val="103D43"/>
                </a:solidFill>
                <a:latin typeface="Aptos"/>
                <a:ea typeface="Aptos"/>
                <a:cs typeface="Aptos"/>
              </a:rPr>
              <a:t>“Is everything live?”</a:t>
            </a:r>
          </a:p>
        </p:txBody>
      </p:sp>
      <p:sp>
        <p:nvSpPr>
          <p:cNvPr id="8" name="text-559">
            <a:extLst xmlns:a="http://schemas.openxmlformats.org/drawingml/2006/main">
              <a:ext uri="{FF2B5EF4-FFF2-40B4-BE49-F238E27FC236}">
                <a16:creationId xmlns:a16="http://schemas.microsoft.com/office/drawing/2014/main" id="{30044195-D8AA-41D7-A3BF-D65ADB826A99}"/>
              </a:ext>
            </a:extLst>
          </p:cNvPr>
          <p:cNvSpPr>
            <a:spLocks xmlns:a="http://schemas.openxmlformats.org/drawingml/2006/main" noGrp="1"/>
          </p:cNvSpPr>
          <p:nvPr/>
        </p:nvSpPr>
        <p:spPr>
          <a:xfrm xmlns:a="http://schemas.openxmlformats.org/drawingml/2006/main">
            <a:off x="7858125" y="2447925"/>
            <a:ext cx="66960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Inventory and retail flows are working; Modules 04–09 are planned.</a:t>
            </a:r>
          </a:p>
        </p:txBody>
      </p:sp>
      <p:sp>
        <p:nvSpPr>
          <p:cNvPr id="9" name="rule-560">
            <a:extLst xmlns:a="http://schemas.openxmlformats.org/drawingml/2006/main">
              <a:ext uri="{FF2B5EF4-FFF2-40B4-BE49-F238E27FC236}">
                <a16:creationId xmlns:a16="http://schemas.microsoft.com/office/drawing/2014/main" id="{77448130-3461-4778-980F-75DBD9DBA733}"/>
              </a:ext>
            </a:extLst>
          </p:cNvPr>
          <p:cNvSpPr>
            <a:spLocks xmlns:a="http://schemas.openxmlformats.org/drawingml/2006/main" noGrp="1"/>
          </p:cNvSpPr>
          <p:nvPr/>
        </p:nvSpPr>
        <p:spPr>
          <a:xfrm xmlns:a="http://schemas.openxmlformats.org/drawingml/2006/main">
            <a:off x="685800" y="331470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10" name="text-561">
            <a:extLst xmlns:a="http://schemas.openxmlformats.org/drawingml/2006/main">
              <a:ext uri="{FF2B5EF4-FFF2-40B4-BE49-F238E27FC236}">
                <a16:creationId xmlns:a16="http://schemas.microsoft.com/office/drawing/2014/main" id="{2997D0AB-4C26-4B57-9AFF-19B15A338408}"/>
              </a:ext>
            </a:extLst>
          </p:cNvPr>
          <p:cNvSpPr>
            <a:spLocks xmlns:a="http://schemas.openxmlformats.org/drawingml/2006/main" noGrp="1"/>
          </p:cNvSpPr>
          <p:nvPr/>
        </p:nvSpPr>
        <p:spPr>
          <a:xfrm xmlns:a="http://schemas.openxmlformats.org/drawingml/2006/main">
            <a:off x="685800" y="3429000"/>
            <a:ext cx="6429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D43"/>
                </a:solidFill>
                <a:latin typeface="Aptos"/>
                <a:ea typeface="Aptos"/>
                <a:cs typeface="Aptos"/>
              </a:defRPr>
            </a:pPr>
            <a:r>
              <a:rPr sz="2325" b="1">
                <a:solidFill>
                  <a:srgbClr val="103D43"/>
                </a:solidFill>
                <a:latin typeface="Aptos"/>
                <a:ea typeface="Aptos"/>
                <a:cs typeface="Aptos"/>
              </a:rPr>
              <a:t>“Are cards and channels connected?”</a:t>
            </a:r>
          </a:p>
        </p:txBody>
      </p:sp>
      <p:sp>
        <p:nvSpPr>
          <p:cNvPr id="11" name="text-562">
            <a:extLst xmlns:a="http://schemas.openxmlformats.org/drawingml/2006/main">
              <a:ext uri="{FF2B5EF4-FFF2-40B4-BE49-F238E27FC236}">
                <a16:creationId xmlns:a16="http://schemas.microsoft.com/office/drawing/2014/main" id="{D97DB2DE-DDC2-43A3-9DC3-946B0D6F6E6F}"/>
              </a:ext>
            </a:extLst>
          </p:cNvPr>
          <p:cNvSpPr>
            <a:spLocks xmlns:a="http://schemas.openxmlformats.org/drawingml/2006/main" noGrp="1"/>
          </p:cNvSpPr>
          <p:nvPr/>
        </p:nvSpPr>
        <p:spPr>
          <a:xfrm xmlns:a="http://schemas.openxmlformats.org/drawingml/2006/main">
            <a:off x="7858125" y="3429000"/>
            <a:ext cx="66960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Card approvals are external today. Seller connections require validation.</a:t>
            </a:r>
          </a:p>
        </p:txBody>
      </p:sp>
      <p:sp>
        <p:nvSpPr>
          <p:cNvPr id="12" name="rule-563">
            <a:extLst xmlns:a="http://schemas.openxmlformats.org/drawingml/2006/main">
              <a:ext uri="{FF2B5EF4-FFF2-40B4-BE49-F238E27FC236}">
                <a16:creationId xmlns:a16="http://schemas.microsoft.com/office/drawing/2014/main" id="{C2C58C6F-105B-41A1-8364-97C94F4E665E}"/>
              </a:ext>
            </a:extLst>
          </p:cNvPr>
          <p:cNvSpPr>
            <a:spLocks xmlns:a="http://schemas.openxmlformats.org/drawingml/2006/main" noGrp="1"/>
          </p:cNvSpPr>
          <p:nvPr/>
        </p:nvSpPr>
        <p:spPr>
          <a:xfrm xmlns:a="http://schemas.openxmlformats.org/drawingml/2006/main">
            <a:off x="685800" y="4295775"/>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13" name="text-564">
            <a:extLst xmlns:a="http://schemas.openxmlformats.org/drawingml/2006/main">
              <a:ext uri="{FF2B5EF4-FFF2-40B4-BE49-F238E27FC236}">
                <a16:creationId xmlns:a16="http://schemas.microsoft.com/office/drawing/2014/main" id="{1C83C0A4-8331-4B4C-BC71-AE6865A04191}"/>
              </a:ext>
            </a:extLst>
          </p:cNvPr>
          <p:cNvSpPr>
            <a:spLocks xmlns:a="http://schemas.openxmlformats.org/drawingml/2006/main" noGrp="1"/>
          </p:cNvSpPr>
          <p:nvPr/>
        </p:nvSpPr>
        <p:spPr>
          <a:xfrm xmlns:a="http://schemas.openxmlformats.org/drawingml/2006/main">
            <a:off x="685800" y="4410075"/>
            <a:ext cx="6429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D43"/>
                </a:solidFill>
                <a:latin typeface="Aptos"/>
                <a:ea typeface="Aptos"/>
                <a:cs typeface="Aptos"/>
              </a:defRPr>
            </a:pPr>
            <a:r>
              <a:rPr sz="2325" b="1">
                <a:solidFill>
                  <a:srgbClr val="103D43"/>
                </a:solidFill>
                <a:latin typeface="Aptos"/>
                <a:ea typeface="Aptos"/>
                <a:cs typeface="Aptos"/>
              </a:rPr>
              <a:t>“Does it work offline?”</a:t>
            </a:r>
          </a:p>
        </p:txBody>
      </p:sp>
      <p:sp>
        <p:nvSpPr>
          <p:cNvPr id="14" name="text-565">
            <a:extLst xmlns:a="http://schemas.openxmlformats.org/drawingml/2006/main">
              <a:ext uri="{FF2B5EF4-FFF2-40B4-BE49-F238E27FC236}">
                <a16:creationId xmlns:a16="http://schemas.microsoft.com/office/drawing/2014/main" id="{DDC52C2A-A794-41B1-9803-A8F20FD37BED}"/>
              </a:ext>
            </a:extLst>
          </p:cNvPr>
          <p:cNvSpPr>
            <a:spLocks xmlns:a="http://schemas.openxmlformats.org/drawingml/2006/main" noGrp="1"/>
          </p:cNvSpPr>
          <p:nvPr/>
        </p:nvSpPr>
        <p:spPr>
          <a:xfrm xmlns:a="http://schemas.openxmlformats.org/drawingml/2006/main">
            <a:off x="7858125" y="4410075"/>
            <a:ext cx="66960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Loaded checkout can queue cash commands; only confirmed sales are final.</a:t>
            </a:r>
          </a:p>
        </p:txBody>
      </p:sp>
      <p:sp>
        <p:nvSpPr>
          <p:cNvPr id="15" name="rule-566">
            <a:extLst xmlns:a="http://schemas.openxmlformats.org/drawingml/2006/main">
              <a:ext uri="{FF2B5EF4-FFF2-40B4-BE49-F238E27FC236}">
                <a16:creationId xmlns:a16="http://schemas.microsoft.com/office/drawing/2014/main" id="{F76EF464-D2A0-4BFF-9A5E-056FEB977B12}"/>
              </a:ext>
            </a:extLst>
          </p:cNvPr>
          <p:cNvSpPr>
            <a:spLocks xmlns:a="http://schemas.openxmlformats.org/drawingml/2006/main" noGrp="1"/>
          </p:cNvSpPr>
          <p:nvPr/>
        </p:nvSpPr>
        <p:spPr>
          <a:xfrm xmlns:a="http://schemas.openxmlformats.org/drawingml/2006/main">
            <a:off x="685800" y="5276850"/>
            <a:ext cx="13868400" cy="19050"/>
          </a:xfrm>
          <a:prstGeom xmlns:a="http://schemas.openxmlformats.org/drawingml/2006/main" prst="rect">
            <a:avLst/>
          </a:prstGeom>
          <a:solidFill xmlns:a="http://schemas.openxmlformats.org/drawingml/2006/main">
            <a:srgbClr val="C5D1CC"/>
          </a:solidFill>
          <a:ln xmlns:a="http://schemas.openxmlformats.org/drawingml/2006/main" w="0">
            <a:noFill/>
            <a:prstDash val="solid"/>
          </a:ln>
        </p:spPr>
      </p:sp>
      <p:sp>
        <p:nvSpPr>
          <p:cNvPr id="16" name="text-567">
            <a:extLst xmlns:a="http://schemas.openxmlformats.org/drawingml/2006/main">
              <a:ext uri="{FF2B5EF4-FFF2-40B4-BE49-F238E27FC236}">
                <a16:creationId xmlns:a16="http://schemas.microsoft.com/office/drawing/2014/main" id="{D6E34113-9826-45C1-A31A-DCD969743494}"/>
              </a:ext>
            </a:extLst>
          </p:cNvPr>
          <p:cNvSpPr>
            <a:spLocks xmlns:a="http://schemas.openxmlformats.org/drawingml/2006/main" noGrp="1"/>
          </p:cNvSpPr>
          <p:nvPr/>
        </p:nvSpPr>
        <p:spPr>
          <a:xfrm xmlns:a="http://schemas.openxmlformats.org/drawingml/2006/main">
            <a:off x="685800" y="5391150"/>
            <a:ext cx="6429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3D43"/>
                </a:solidFill>
                <a:latin typeface="Aptos"/>
                <a:ea typeface="Aptos"/>
                <a:cs typeface="Aptos"/>
              </a:defRPr>
            </a:pPr>
            <a:r>
              <a:rPr sz="2325" b="1">
                <a:solidFill>
                  <a:srgbClr val="103D43"/>
                </a:solidFill>
                <a:latin typeface="Aptos"/>
                <a:ea typeface="Aptos"/>
                <a:cs typeface="Aptos"/>
              </a:rPr>
              <a:t>“What about rollout and support?”</a:t>
            </a:r>
          </a:p>
        </p:txBody>
      </p:sp>
      <p:sp>
        <p:nvSpPr>
          <p:cNvPr id="17" name="text-568">
            <a:extLst xmlns:a="http://schemas.openxmlformats.org/drawingml/2006/main">
              <a:ext uri="{FF2B5EF4-FFF2-40B4-BE49-F238E27FC236}">
                <a16:creationId xmlns:a16="http://schemas.microsoft.com/office/drawing/2014/main" id="{6854E6E3-6B8A-4B26-9E6B-661D5FBB1233}"/>
              </a:ext>
            </a:extLst>
          </p:cNvPr>
          <p:cNvSpPr>
            <a:spLocks xmlns:a="http://schemas.openxmlformats.org/drawingml/2006/main" noGrp="1"/>
          </p:cNvSpPr>
          <p:nvPr/>
        </p:nvSpPr>
        <p:spPr>
          <a:xfrm xmlns:a="http://schemas.openxmlformats.org/drawingml/2006/main">
            <a:off x="7858125" y="5391150"/>
            <a:ext cx="66960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97071"/>
                </a:solidFill>
                <a:latin typeface="Aptos"/>
                <a:ea typeface="Aptos"/>
                <a:cs typeface="Aptos"/>
              </a:defRPr>
            </a:pPr>
            <a:r>
              <a:rPr sz="2100" b="0">
                <a:solidFill>
                  <a:srgbClr val="597071"/>
                </a:solidFill>
                <a:latin typeface="Aptos"/>
                <a:ea typeface="Aptos"/>
                <a:cs typeface="Aptos"/>
              </a:rPr>
              <a:t>Agree data, pilot and acceptance first; ongoing support is quoted separately.</a:t>
            </a:r>
          </a:p>
        </p:txBody>
      </p:sp>
      <p:sp>
        <p:nvSpPr>
          <p:cNvPr id="18" name="rule-569">
            <a:extLst xmlns:a="http://schemas.openxmlformats.org/drawingml/2006/main">
              <a:ext uri="{FF2B5EF4-FFF2-40B4-BE49-F238E27FC236}">
                <a16:creationId xmlns:a16="http://schemas.microsoft.com/office/drawing/2014/main" id="{726CF0BB-3AC0-4110-BF35-5A8EF1597214}"/>
              </a:ext>
            </a:extLst>
          </p:cNvPr>
          <p:cNvSpPr>
            <a:spLocks xmlns:a="http://schemas.openxmlformats.org/drawingml/2006/main" noGrp="1"/>
          </p:cNvSpPr>
          <p:nvPr/>
        </p:nvSpPr>
        <p:spPr>
          <a:xfrm xmlns:a="http://schemas.openxmlformats.org/drawingml/2006/main">
            <a:off x="685800" y="6943725"/>
            <a:ext cx="571500" cy="19050"/>
          </a:xfrm>
          <a:prstGeom xmlns:a="http://schemas.openxmlformats.org/drawingml/2006/main" prst="rect">
            <a:avLst/>
          </a:prstGeom>
          <a:solidFill xmlns:a="http://schemas.openxmlformats.org/drawingml/2006/main">
            <a:srgbClr val="B28B4E"/>
          </a:solidFill>
          <a:ln xmlns:a="http://schemas.openxmlformats.org/drawingml/2006/main" w="0">
            <a:noFill/>
            <a:prstDash val="solid"/>
          </a:ln>
        </p:spPr>
      </p:sp>
      <p:sp>
        <p:nvSpPr>
          <p:cNvPr id="19" name="text-570">
            <a:extLst xmlns:a="http://schemas.openxmlformats.org/drawingml/2006/main">
              <a:ext uri="{FF2B5EF4-FFF2-40B4-BE49-F238E27FC236}">
                <a16:creationId xmlns:a16="http://schemas.microsoft.com/office/drawing/2014/main" id="{884AAD81-85B0-41E4-A17A-BE5B135D7D94}"/>
              </a:ext>
            </a:extLst>
          </p:cNvPr>
          <p:cNvSpPr>
            <a:spLocks xmlns:a="http://schemas.openxmlformats.org/drawingml/2006/main" noGrp="1"/>
          </p:cNvSpPr>
          <p:nvPr/>
        </p:nvSpPr>
        <p:spPr>
          <a:xfrm xmlns:a="http://schemas.openxmlformats.org/drawingml/2006/main">
            <a:off x="685800" y="7105650"/>
            <a:ext cx="13868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3D43"/>
                </a:solidFill>
                <a:latin typeface="Aptos"/>
                <a:ea typeface="Aptos"/>
                <a:cs typeface="Aptos"/>
              </a:defRPr>
            </a:pPr>
            <a:r>
              <a:rPr sz="2250" b="1">
                <a:solidFill>
                  <a:srgbClr val="103D43"/>
                </a:solidFill>
                <a:latin typeface="Aptos"/>
                <a:ea typeface="Aptos"/>
                <a:cs typeface="Aptos"/>
              </a:rPr>
              <a:t>If the app stalls: use slides 7–11, explain the intended result, and capture the open question.</a:t>
            </a:r>
          </a:p>
        </p:txBody>
      </p:sp>
    </p:spTree>
    <p:extLst>
      <p:ext uri="{BB962C8B-B14F-4D97-AF65-F5344CB8AC3E}">
        <p14:creationId xmlns:p14="http://schemas.microsoft.com/office/powerpoint/2010/main" val="5697654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2026-09-02T08:42:05.8550000Z</dcterms:created>
  <dcterms:modified xsi:type="dcterms:W3CDTF">2026-09-02T08:42:05.8550000Z</dcterms:modified>
</coreProperties>
</file>