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5ff1316f7e4561" /><Relationship Type="http://schemas.openxmlformats.org/officeDocument/2006/relationships/extended-properties" Target="/docProps/app.xml" Id="R8477eb6046d24412" /><Relationship Type="http://schemas.openxmlformats.org/officeDocument/2006/relationships/officeDocument" Target="/ppt/presentation.xml" Id="Rac857e62463a44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7f1dc737734a33"/>
  </p:sldMasterIdLst>
  <p:notesMasterIdLst>
    <p:notesMasterId xmlns:r="http://schemas.openxmlformats.org/officeDocument/2006/relationships" r:id="Rd15ffec6961d4888"/>
  </p:notesMasterIdLst>
  <p:sldIdLst>
    <p:sldId xmlns:r="http://schemas.openxmlformats.org/officeDocument/2006/relationships" id="256" r:id="Rff2aa9595bf34f5a"/>
    <p:sldId xmlns:r="http://schemas.openxmlformats.org/officeDocument/2006/relationships" id="257" r:id="R66de9e32c27b47e2"/>
    <p:sldId xmlns:r="http://schemas.openxmlformats.org/officeDocument/2006/relationships" id="258" r:id="R3d86459d11a14860"/>
    <p:sldId xmlns:r="http://schemas.openxmlformats.org/officeDocument/2006/relationships" id="259" r:id="R201518aec66049f0"/>
    <p:sldId xmlns:r="http://schemas.openxmlformats.org/officeDocument/2006/relationships" id="260" r:id="Rfcb3116d3a2845d1"/>
    <p:sldId xmlns:r="http://schemas.openxmlformats.org/officeDocument/2006/relationships" id="261" r:id="Rbafb29d3f8814a1e"/>
    <p:sldId xmlns:r="http://schemas.openxmlformats.org/officeDocument/2006/relationships" id="262" r:id="R2c9bb0dc05794bdd"/>
    <p:sldId xmlns:r="http://schemas.openxmlformats.org/officeDocument/2006/relationships" id="263" r:id="R0d73a516d14641b0"/>
    <p:sldId xmlns:r="http://schemas.openxmlformats.org/officeDocument/2006/relationships" id="264" r:id="R8b8152c0218441d2"/>
    <p:sldId xmlns:r="http://schemas.openxmlformats.org/officeDocument/2006/relationships" id="265" r:id="R465a7f882937464a"/>
    <p:sldId xmlns:r="http://schemas.openxmlformats.org/officeDocument/2006/relationships" id="266" r:id="R9bac1944047c4706"/>
    <p:sldId xmlns:r="http://schemas.openxmlformats.org/officeDocument/2006/relationships" id="267" r:id="R3be6da86e1454f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b9fe8963634ac3" /><Relationship Type="http://schemas.openxmlformats.org/officeDocument/2006/relationships/slideMaster" Target="/ppt/slideMasters/slideMaster1.xml" Id="Rd97f1dc737734a33" /><Relationship Type="http://schemas.openxmlformats.org/officeDocument/2006/relationships/notesMaster" Target="/ppt/notesMasters/notesMaster1.xml" Id="Rd15ffec6961d4888" /><Relationship Type="http://schemas.openxmlformats.org/officeDocument/2006/relationships/presProps" Target="/ppt/presProps.xml" Id="R0b89cb1ac55a4888" /><Relationship Type="http://schemas.openxmlformats.org/officeDocument/2006/relationships/tableStyles" Target="/ppt/tableStyles.xml" Id="R653f0f3a4a8c4e91" /><Relationship Type="http://schemas.openxmlformats.org/officeDocument/2006/relationships/slide" Target="/ppt/slides/slide1.xml" Id="Rff2aa9595bf34f5a" /><Relationship Type="http://schemas.openxmlformats.org/officeDocument/2006/relationships/slide" Target="/ppt/slides/slide2.xml" Id="R66de9e32c27b47e2" /><Relationship Type="http://schemas.openxmlformats.org/officeDocument/2006/relationships/slide" Target="/ppt/slides/slide3.xml" Id="R3d86459d11a14860" /><Relationship Type="http://schemas.openxmlformats.org/officeDocument/2006/relationships/slide" Target="/ppt/slides/slide4.xml" Id="R201518aec66049f0" /><Relationship Type="http://schemas.openxmlformats.org/officeDocument/2006/relationships/slide" Target="/ppt/slides/slide5.xml" Id="Rfcb3116d3a2845d1" /><Relationship Type="http://schemas.openxmlformats.org/officeDocument/2006/relationships/slide" Target="/ppt/slides/slide6.xml" Id="Rbafb29d3f8814a1e" /><Relationship Type="http://schemas.openxmlformats.org/officeDocument/2006/relationships/slide" Target="/ppt/slides/slide7.xml" Id="R2c9bb0dc05794bdd" /><Relationship Type="http://schemas.openxmlformats.org/officeDocument/2006/relationships/slide" Target="/ppt/slides/slide8.xml" Id="R0d73a516d14641b0" /><Relationship Type="http://schemas.openxmlformats.org/officeDocument/2006/relationships/slide" Target="/ppt/slides/slide9.xml" Id="R8b8152c0218441d2" /><Relationship Type="http://schemas.openxmlformats.org/officeDocument/2006/relationships/slide" Target="/ppt/slides/slide10.xml" Id="R465a7f882937464a" /><Relationship Type="http://schemas.openxmlformats.org/officeDocument/2006/relationships/slide" Target="/ppt/slides/slide11.xml" Id="R9bac1944047c4706" /><Relationship Type="http://schemas.openxmlformats.org/officeDocument/2006/relationships/slide" Target="/ppt/slides/slide12.xml" Id="R3be6da86e1454f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5ce64d520b49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866d7a38c34cd3" /><Relationship Type="http://schemas.openxmlformats.org/officeDocument/2006/relationships/notesMaster" Target="/ppt/notesMasters/notesMaster1.xml" Id="Rd2487c636e464e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7b9e3c6719456f" /><Relationship Type="http://schemas.openxmlformats.org/officeDocument/2006/relationships/notesMaster" Target="/ppt/notesMasters/notesMaster1.xml" Id="R9e544e3b363e4c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37f3cb5c24fba" /><Relationship Type="http://schemas.openxmlformats.org/officeDocument/2006/relationships/notesMaster" Target="/ppt/notesMasters/notesMaster1.xml" Id="Ref83c5e5bdfe46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bb2af72b7c4923" /><Relationship Type="http://schemas.openxmlformats.org/officeDocument/2006/relationships/notesMaster" Target="/ppt/notesMasters/notesMaster1.xml" Id="R918b96dc04fc47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761d1b002b461d" /><Relationship Type="http://schemas.openxmlformats.org/officeDocument/2006/relationships/notesMaster" Target="/ppt/notesMasters/notesMaster1.xml" Id="Reea10e5bbc3d40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eb9c8017a94279" /><Relationship Type="http://schemas.openxmlformats.org/officeDocument/2006/relationships/notesMaster" Target="/ppt/notesMasters/notesMaster1.xml" Id="R746276bb7e714f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e5e262ba434d87" /><Relationship Type="http://schemas.openxmlformats.org/officeDocument/2006/relationships/notesMaster" Target="/ppt/notesMasters/notesMaster1.xml" Id="Rebcd5a464f624e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9ac7dbf792427f" /><Relationship Type="http://schemas.openxmlformats.org/officeDocument/2006/relationships/notesMaster" Target="/ppt/notesMasters/notesMaster1.xml" Id="Rb7596e2deb1045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29b8db00454608" /><Relationship Type="http://schemas.openxmlformats.org/officeDocument/2006/relationships/notesMaster" Target="/ppt/notesMasters/notesMaster1.xml" Id="R2801373f5adc41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87878627074757" /><Relationship Type="http://schemas.openxmlformats.org/officeDocument/2006/relationships/notesMaster" Target="/ppt/notesMasters/notesMaster1.xml" Id="Rb1f5a0cd6e2948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4098071b1f4749" /><Relationship Type="http://schemas.openxmlformats.org/officeDocument/2006/relationships/notesMaster" Target="/ppt/notesMasters/notesMaster1.xml" Id="Rb6dc03712bab41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b5ecd789ea4e68" /><Relationship Type="http://schemas.openxmlformats.org/officeDocument/2006/relationships/notesMaster" Target="/ppt/notesMasters/notesMaster1.xml" Id="Rf43d506da7154e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 for the client progress review. The photograph and logo come from the application brand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D:\echo-work\flair-perfumes\public\brand\flair-logo.png</a:t>
            </a:r>
          </a:p>
          <a:p xmlns:a="http://schemas.openxmlformats.org/drawingml/2006/main">
            <a:r>
              <a:t>D:\echo-work\flair-perfumes\public\demo\locations\harwin-store.webp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summarizes commits created from Friday 4 September through Monday 7 September in the Asia/Karachi timezone. Validation figures come from the current unit, API and production build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git log --since=2026-09-04</a:t>
            </a:r>
          </a:p>
          <a:p xmlns:a="http://schemas.openxmlformats.org/drawingml/2006/main">
            <a:r>
              <a:t>npm test</a:t>
            </a:r>
          </a:p>
          <a:p xmlns:a="http://schemas.openxmlformats.org/drawingml/2006/main">
            <a:r>
              <a:t>npm run test:api</a:t>
            </a:r>
          </a:p>
          <a:p xmlns:a="http://schemas.openxmlformats.org/drawingml/2006/main">
            <a:r>
              <a:t>npm run build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application screenshot captured after deployment on 7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D:\echo-work\flair-perfumes\tmp\client-overview-build\screenshots\core-overview.png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multi-company creation dialog. No company record was submitted while capturing this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D:\echo-work\flair-perfumes\tmp\client-overview-build\screenshots\multi-company.png</a:t>
            </a:r>
          </a:p>
          <a:p xmlns:a="http://schemas.openxmlformats.org/drawingml/2006/main">
            <a:r>
              <a:t>D:\echo-work\flair-perfumes\components\core-setup\settings-page.tsx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pricing and margins screenshot with illustrative product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D:\echo-work\flair-perfumes\tmp\client-overview-build\screenshots\pricing-margins.png</a:t>
            </a:r>
          </a:p>
          <a:p xmlns:a="http://schemas.openxmlformats.org/drawingml/2006/main">
            <a:r>
              <a:t>D:\echo-work\flair-perfumes\components\inventory\pricing-page.tsx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screenshots of the bulk import center and seeded stock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D:\echo-work\flair-perfumes\tmp\client-overview-build\screenshots\bulk-import.png</a:t>
            </a:r>
          </a:p>
          <a:p xmlns:a="http://schemas.openxmlformats.org/drawingml/2006/main">
            <a:r>
              <a:t>D:\echo-work\flair-perfumes\tmp\client-overview-build\screenshots\inventory-operations.png</a:t>
            </a:r>
          </a:p>
          <a:p xmlns:a="http://schemas.openxmlformats.org/drawingml/2006/main">
            <a:r>
              <a:t>D:\echo-work\flair-perfumes\components\inventory\tools-dialogs.tsx</a:t>
            </a:r>
          </a:p>
          <a:p xmlns:a="http://schemas.openxmlformats.org/drawingml/2006/main">
            <a:r>
              <a:t>D:\echo-work\flair-perfumes\data\inventory.ts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returns screen showing seeded linked records. The listed controls were implemented in the POS workflow between 4 and 7 September.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D:\echo-work\flair-perfumes\tmp\client-overview-build\screenshots\returns-credit-notes.png</a:t>
            </a:r>
          </a:p>
          <a:p xmlns:a="http://schemas.openxmlformats.org/drawingml/2006/main">
            <a:r>
              <a:t>D:\echo-work\flair-perfumes\components\pos\terminal-page.tsx</a:t>
            </a:r>
          </a:p>
          <a:p xmlns:a="http://schemas.openxmlformats.org/drawingml/2006/main">
            <a:r>
              <a:t>D:\echo-work\flair-perfumes\components\pos\management-pages.tsx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purchasing screenshot. Amounts are seeded demonstration values, not client accounting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D:\echo-work\flair-perfumes\tmp\client-overview-build\screenshots\purchasing-landed-cost.png</a:t>
            </a:r>
          </a:p>
          <a:p xmlns:a="http://schemas.openxmlformats.org/drawingml/2006/main">
            <a:r>
              <a:t>D:\echo-work\flair-perfumes\components\roadmap\interactive-workflows.tsx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forecast screenshot with illustrative data. Recommendations are a demo of the planned interface, not a trained production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D:\echo-work\flair-perfumes\tmp\client-overview-build\screenshots\sales-forecast.png</a:t>
            </a:r>
          </a:p>
          <a:p xmlns:a="http://schemas.openxmlformats.org/drawingml/2006/main">
            <a:r>
              <a:t>D:\echo-work\flair-perfumes\components\roadmap\interactive-workflows.tsx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finance screenshot using the client-provided split tender example. Figures are correctly derived from a $600 tax-inclusive sale at 8.25%.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D:\echo-work\flair-perfumes\tmp\client-overview-build\screenshots\finance-split-payment.png</a:t>
            </a:r>
          </a:p>
          <a:p xmlns:a="http://schemas.openxmlformats.org/drawingml/2006/main">
            <a:r>
              <a:t>D:\echo-work\flair-perfumes\components\roadmap\interactive-workflows.tsx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closing report screenshot with illustrative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D:\echo-work\flair-perfumes\tmp\client-overview-build\screenshots\closing-report.png</a:t>
            </a:r>
          </a:p>
          <a:p xmlns:a="http://schemas.openxmlformats.org/drawingml/2006/main">
            <a:r>
              <a:t>D:\echo-work\flair-perfumes\components\roadmap\interactive-workflows.tsx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The live URL points to the deployment verified after commit 4fa765e. Demo records are synthetic. Offline sync remains empty when the device has no unconfirmed payments, which represents a healthy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https://flaiur-erp.vercel.app</a:t>
            </a:r>
          </a:p>
          <a:p xmlns:a="http://schemas.openxmlformats.org/drawingml/2006/main">
            <a:r>
              <a:t>git commit 4fa765e</a:t>
            </a:r>
          </a:p>
          <a:p xmlns:a="http://schemas.openxmlformats.org/drawingml/2006/main">
            <a:r>
              <a:t>D:\echo-work\flair-perfumes\data\inventory.ts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a78d774ae4e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7ccdb1fa9f4655" /><Relationship Type="http://schemas.openxmlformats.org/officeDocument/2006/relationships/slideLayout" Target="/ppt/slideLayouts/slideLayout1.xml" Id="R44ecae88d7e845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ecae88d7e845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030393efd4522" /><Relationship Type="http://schemas.openxmlformats.org/officeDocument/2006/relationships/image" Target="/ppt/media/image.bin" Id="Ra34fc2791e70441a" /><Relationship Type="http://schemas.openxmlformats.org/officeDocument/2006/relationships/image" Target="/ppt/media/image.png" Id="Rc3bf48d610f246eb" /><Relationship Type="http://schemas.openxmlformats.org/officeDocument/2006/relationships/notesSlide" Target="/ppt/notesSlides/notesSlide1.xml" Id="R1d2f069aeae849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f556122b74d48" /><Relationship Type="http://schemas.openxmlformats.org/officeDocument/2006/relationships/notesSlide" Target="/ppt/notesSlides/notesSlide2.xml" Id="Rd407e5bca84443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4189b185446b2" /><Relationship Type="http://schemas.openxmlformats.org/officeDocument/2006/relationships/image" Target="/ppt/media/image.jpeg" Id="R28067432a84a4c8d" /><Relationship Type="http://schemas.openxmlformats.org/officeDocument/2006/relationships/notesSlide" Target="/ppt/notesSlides/notesSlide3.xml" Id="R995e06cef37140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105bdb4ba447f" /><Relationship Type="http://schemas.openxmlformats.org/officeDocument/2006/relationships/image" Target="/ppt/media/image2.jpeg" Id="R844ba7c2c1aa49d1" /><Relationship Type="http://schemas.openxmlformats.org/officeDocument/2006/relationships/notesSlide" Target="/ppt/notesSlides/notesSlide4.xml" Id="R78c3f97dfbe147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54ec498e24d0b" /><Relationship Type="http://schemas.openxmlformats.org/officeDocument/2006/relationships/image" Target="/ppt/media/image3.jpeg" Id="R7cf76b2065c445ea" /><Relationship Type="http://schemas.openxmlformats.org/officeDocument/2006/relationships/notesSlide" Target="/ppt/notesSlides/notesSlide5.xml" Id="Rd61f99900b2d49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805c369ab493e" /><Relationship Type="http://schemas.openxmlformats.org/officeDocument/2006/relationships/image" Target="/ppt/media/image4.jpeg" Id="Rb62f4f5a41f34b2d" /><Relationship Type="http://schemas.openxmlformats.org/officeDocument/2006/relationships/image" Target="/ppt/media/image5.jpeg" Id="R441e90eb38674224" /><Relationship Type="http://schemas.openxmlformats.org/officeDocument/2006/relationships/notesSlide" Target="/ppt/notesSlides/notesSlide6.xml" Id="R4ccbeb36099745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4396b391a436d" /><Relationship Type="http://schemas.openxmlformats.org/officeDocument/2006/relationships/image" Target="/ppt/media/image6.jpeg" Id="Ra038c388d102467c" /><Relationship Type="http://schemas.openxmlformats.org/officeDocument/2006/relationships/notesSlide" Target="/ppt/notesSlides/notesSlide7.xml" Id="R725fa615011b4b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8ddeabcaf4664" /><Relationship Type="http://schemas.openxmlformats.org/officeDocument/2006/relationships/image" Target="/ppt/media/image7.jpeg" Id="R516f5009ea3c40b0" /><Relationship Type="http://schemas.openxmlformats.org/officeDocument/2006/relationships/notesSlide" Target="/ppt/notesSlides/notesSlide8.xml" Id="Ra93030c5e00a4a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b55918a7348a3" /><Relationship Type="http://schemas.openxmlformats.org/officeDocument/2006/relationships/image" Target="/ppt/media/image8.jpeg" Id="R970adf1d039447d6" /><Relationship Type="http://schemas.openxmlformats.org/officeDocument/2006/relationships/notesSlide" Target="/ppt/notesSlides/notesSlide9.xml" Id="R6bd568e37d8249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efb2b733e485c" /><Relationship Type="http://schemas.openxmlformats.org/officeDocument/2006/relationships/image" Target="/ppt/media/image9.jpeg" Id="R4d7ad5f3811244e2" /><Relationship Type="http://schemas.openxmlformats.org/officeDocument/2006/relationships/notesSlide" Target="/ppt/notesSlides/notesSlide10.xml" Id="R2cef2a88858642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de3c0029447c9" /><Relationship Type="http://schemas.openxmlformats.org/officeDocument/2006/relationships/image" Target="/ppt/media/image10.jpeg" Id="R1ffd542d702c40f0" /><Relationship Type="http://schemas.openxmlformats.org/officeDocument/2006/relationships/notesSlide" Target="/ppt/notesSlides/notesSlide11.xml" Id="Rc801738b86db45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194f1448d4a12" /><Relationship Type="http://schemas.openxmlformats.org/officeDocument/2006/relationships/notesSlide" Target="/ppt/notesSlides/notesSlide12.xml" Id="R27c25dbe0a234a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28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fc2791e70441a"/>
          <a:srcRect xmlns:a="http://schemas.openxmlformats.org/drawingml/2006/main" l="27865" t="0" r="278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f48d610f246eb"/>
          <a:stretch xmlns:a="http://schemas.openxmlformats.org/drawingml/2006/main"/>
        </p:blipFill>
        <p:spPr>
          <a:xfrm xmlns:a="http://schemas.openxmlformats.org/drawingml/2006/main">
            <a:off x="691579" y="400050"/>
            <a:ext cx="2350643" cy="1219200"/>
          </a:xfrm>
          <a:prstGeom xmlns:a="http://schemas.openxmlformats.org/drawingml/2006/main" prst="roundRect">
            <a:avLst>
              <a:gd name="adj" fmla="val 9375"/>
            </a:avLst>
          </a:prstGeom>
        </p:spPr>
      </p:pic>
      <p:sp>
        <p:nvSpPr>
          <p:cNvPr id="3" name="surface-2">
            <a:extLst xmlns:a="http://schemas.openxmlformats.org/drawingml/2006/main">
              <a:ext uri="{FF2B5EF4-FFF2-40B4-BE49-F238E27FC236}">
                <a16:creationId xmlns:a16="http://schemas.microsoft.com/office/drawing/2014/main" id="{74D212B8-53A9-4CF0-A90D-ECCFB09E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CLIENT PROGRESS REVIEW</a:t>
            </a:r>
          </a:p>
        </p:txBody>
      </p:sp>
      <p:sp>
        <p:nvSpPr>
          <p:cNvPr id="4" name="surface-3">
            <a:extLst xmlns:a="http://schemas.openxmlformats.org/drawingml/2006/main">
              <a:ext uri="{FF2B5EF4-FFF2-40B4-BE49-F238E27FC236}">
                <a16:creationId xmlns:a16="http://schemas.microsoft.com/office/drawing/2014/main" id="{639D7A3F-D0D5-4A1A-936D-F63630A4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619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Flair ERP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Friday to now</a:t>
            </a:r>
          </a:p>
        </p:txBody>
      </p:sp>
      <p:sp>
        <p:nvSpPr>
          <p:cNvPr id="5" name="surface-4">
            <a:extLst xmlns:a="http://schemas.openxmlformats.org/drawingml/2006/main">
              <a:ext uri="{FF2B5EF4-FFF2-40B4-BE49-F238E27FC236}">
                <a16:creationId xmlns:a16="http://schemas.microsoft.com/office/drawing/2014/main" id="{10FBADD3-0E4A-45E8-82E5-F5B61FE7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Working Phase One flows, complete demo data and interactive previews for finance, forecasting and operations.</a:t>
            </a:r>
          </a:p>
        </p:txBody>
      </p:sp>
      <p:sp>
        <p:nvSpPr>
          <p:cNvPr id="6" name="surface-5">
            <a:extLst xmlns:a="http://schemas.openxmlformats.org/drawingml/2006/main">
              <a:ext uri="{FF2B5EF4-FFF2-40B4-BE49-F238E27FC236}">
                <a16:creationId xmlns:a16="http://schemas.microsoft.com/office/drawing/2014/main" id="{B53B357A-71B1-41EA-AFA7-486ED679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rface-6">
            <a:extLst xmlns:a="http://schemas.openxmlformats.org/drawingml/2006/main">
              <a:ext uri="{FF2B5EF4-FFF2-40B4-BE49-F238E27FC236}">
                <a16:creationId xmlns:a16="http://schemas.microsoft.com/office/drawing/2014/main" id="{BCF9DE1C-3AE0-4470-9C30-178EB11C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9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C7"/>
                </a:solidFill>
                <a:latin typeface="Aptos"/>
                <a:ea typeface="Aptos"/>
                <a:cs typeface="Aptos"/>
              </a:rPr>
              <a:t>Prepared 7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39102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-7">
            <a:extLst xmlns:a="http://schemas.openxmlformats.org/drawingml/2006/main">
              <a:ext uri="{FF2B5EF4-FFF2-40B4-BE49-F238E27FC236}">
                <a16:creationId xmlns:a16="http://schemas.microsoft.com/office/drawing/2014/main" id="{98BF404A-59AF-43CE-A8BC-FBFA86A2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02</a:t>
            </a:r>
          </a:p>
        </p:txBody>
      </p:sp>
      <p:sp>
        <p:nvSpPr>
          <p:cNvPr id="2" name="surface-8">
            <a:extLst xmlns:a="http://schemas.openxmlformats.org/drawingml/2006/main">
              <a:ext uri="{FF2B5EF4-FFF2-40B4-BE49-F238E27FC236}">
                <a16:creationId xmlns:a16="http://schemas.microsoft.com/office/drawing/2014/main" id="{0063C3C3-F4B0-4121-9F39-713CCE4B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Friday feedback became a working client demo</a:t>
            </a:r>
          </a:p>
        </p:txBody>
      </p:sp>
      <p:sp>
        <p:nvSpPr>
          <p:cNvPr id="3" name="surface-9">
            <a:extLst xmlns:a="http://schemas.openxmlformats.org/drawingml/2006/main">
              <a:ext uri="{FF2B5EF4-FFF2-40B4-BE49-F238E27FC236}">
                <a16:creationId xmlns:a16="http://schemas.microsoft.com/office/drawing/2014/main" id="{601D7E0F-D275-45E1-AEBF-2097808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Nine production commits moved the application from static coverage to connected, testable workflows.</a:t>
            </a:r>
          </a:p>
        </p:txBody>
      </p:sp>
      <p:sp>
        <p:nvSpPr>
          <p:cNvPr id="4" name="surface-10">
            <a:extLst xmlns:a="http://schemas.openxmlformats.org/drawingml/2006/main">
              <a:ext uri="{FF2B5EF4-FFF2-40B4-BE49-F238E27FC236}">
                <a16:creationId xmlns:a16="http://schemas.microsoft.com/office/drawing/2014/main" id="{AC08E263-E237-4A93-B6D7-C3273E4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1">
            <a:extLst xmlns:a="http://schemas.openxmlformats.org/drawingml/2006/main">
              <a:ext uri="{FF2B5EF4-FFF2-40B4-BE49-F238E27FC236}">
                <a16:creationId xmlns:a16="http://schemas.microsoft.com/office/drawing/2014/main" id="{C2569E47-41C8-40A0-B887-496AC207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2">
            <a:extLst xmlns:a="http://schemas.openxmlformats.org/drawingml/2006/main">
              <a:ext uri="{FF2B5EF4-FFF2-40B4-BE49-F238E27FC236}">
                <a16:creationId xmlns:a16="http://schemas.microsoft.com/office/drawing/2014/main" id="{1CC60CA9-E27D-4671-8D26-34B3F010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surface-13">
            <a:extLst xmlns:a="http://schemas.openxmlformats.org/drawingml/2006/main">
              <a:ext uri="{FF2B5EF4-FFF2-40B4-BE49-F238E27FC236}">
                <a16:creationId xmlns:a16="http://schemas.microsoft.com/office/drawing/2014/main" id="{304C95B9-C798-44F1-A99F-DB498AA9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rface-14">
            <a:extLst xmlns:a="http://schemas.openxmlformats.org/drawingml/2006/main">
              <a:ext uri="{FF2B5EF4-FFF2-40B4-BE49-F238E27FC236}">
                <a16:creationId xmlns:a16="http://schemas.microsoft.com/office/drawing/2014/main" id="{B1B716A5-ABA5-4DF2-9834-E9DD6803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-15">
            <a:extLst xmlns:a="http://schemas.openxmlformats.org/drawingml/2006/main">
              <a:ext uri="{FF2B5EF4-FFF2-40B4-BE49-F238E27FC236}">
                <a16:creationId xmlns:a16="http://schemas.microsoft.com/office/drawing/2014/main" id="{9811705C-F808-42D8-AA30-2D4CF0F1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FRI 04 SEP</a:t>
            </a:r>
          </a:p>
        </p:txBody>
      </p:sp>
      <p:sp>
        <p:nvSpPr>
          <p:cNvPr id="10" name="surface-16">
            <a:extLst xmlns:a="http://schemas.openxmlformats.org/drawingml/2006/main">
              <a:ext uri="{FF2B5EF4-FFF2-40B4-BE49-F238E27FC236}">
                <a16:creationId xmlns:a16="http://schemas.microsoft.com/office/drawing/2014/main" id="{3708693F-A7EA-41BE-9159-B6F07DBB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Client priorities</a:t>
            </a:r>
          </a:p>
        </p:txBody>
      </p:sp>
      <p:sp>
        <p:nvSpPr>
          <p:cNvPr id="11" name="surface-17">
            <a:extLst xmlns:a="http://schemas.openxmlformats.org/drawingml/2006/main">
              <a:ext uri="{FF2B5EF4-FFF2-40B4-BE49-F238E27FC236}">
                <a16:creationId xmlns:a16="http://schemas.microsoft.com/office/drawing/2014/main" id="{13E0C786-75CB-4D4B-9A8E-F4296122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Retail discounting, returns, refunds, customer follow-up, hold and recall, closing reports.</a:t>
            </a:r>
          </a:p>
        </p:txBody>
      </p:sp>
      <p:sp>
        <p:nvSpPr>
          <p:cNvPr id="12" name="surface-18">
            <a:extLst xmlns:a="http://schemas.openxmlformats.org/drawingml/2006/main">
              <a:ext uri="{FF2B5EF4-FFF2-40B4-BE49-F238E27FC236}">
                <a16:creationId xmlns:a16="http://schemas.microsoft.com/office/drawing/2014/main" id="{4A265C9A-1AA9-4867-AC6B-C9171BEE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62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rface-19">
            <a:extLst xmlns:a="http://schemas.openxmlformats.org/drawingml/2006/main">
              <a:ext uri="{FF2B5EF4-FFF2-40B4-BE49-F238E27FC236}">
                <a16:creationId xmlns:a16="http://schemas.microsoft.com/office/drawing/2014/main" id="{CF8FA6BF-09E6-415E-92BA-F4C0E951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WEEKEND</a:t>
            </a:r>
          </a:p>
        </p:txBody>
      </p:sp>
      <p:sp>
        <p:nvSpPr>
          <p:cNvPr id="14" name="surface-20">
            <a:extLst xmlns:a="http://schemas.openxmlformats.org/drawingml/2006/main">
              <a:ext uri="{FF2B5EF4-FFF2-40B4-BE49-F238E27FC236}">
                <a16:creationId xmlns:a16="http://schemas.microsoft.com/office/drawing/2014/main" id="{E9138762-3D04-42A0-BC9A-9010154C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9567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Operational controls</a:t>
            </a:r>
          </a:p>
        </p:txBody>
      </p:sp>
      <p:sp>
        <p:nvSpPr>
          <p:cNvPr id="15" name="surface-21">
            <a:extLst xmlns:a="http://schemas.openxmlformats.org/drawingml/2006/main">
              <a:ext uri="{FF2B5EF4-FFF2-40B4-BE49-F238E27FC236}">
                <a16:creationId xmlns:a16="http://schemas.microsoft.com/office/drawing/2014/main" id="{660F7D93-3B7F-4723-848C-00481D75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05275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POS history, invoice-linked returns, store credit, shifts, 8.25% tax and safer Vercel storage.</a:t>
            </a:r>
          </a:p>
        </p:txBody>
      </p:sp>
      <p:sp>
        <p:nvSpPr>
          <p:cNvPr id="16" name="surface-22">
            <a:extLst xmlns:a="http://schemas.openxmlformats.org/drawingml/2006/main">
              <a:ext uri="{FF2B5EF4-FFF2-40B4-BE49-F238E27FC236}">
                <a16:creationId xmlns:a16="http://schemas.microsoft.com/office/drawing/2014/main" id="{29CE1A4F-9B22-4A13-9D70-0B073891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rface-23">
            <a:extLst xmlns:a="http://schemas.openxmlformats.org/drawingml/2006/main">
              <a:ext uri="{FF2B5EF4-FFF2-40B4-BE49-F238E27FC236}">
                <a16:creationId xmlns:a16="http://schemas.microsoft.com/office/drawing/2014/main" id="{6397E6F5-0D35-4C89-8829-E63DCDE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623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MON 07 SEP</a:t>
            </a:r>
          </a:p>
        </p:txBody>
      </p:sp>
      <p:sp>
        <p:nvSpPr>
          <p:cNvPr id="18" name="surface-24">
            <a:extLst xmlns:a="http://schemas.openxmlformats.org/drawingml/2006/main">
              <a:ext uri="{FF2B5EF4-FFF2-40B4-BE49-F238E27FC236}">
                <a16:creationId xmlns:a16="http://schemas.microsoft.com/office/drawing/2014/main" id="{56AF0A66-AB73-4686-B7D2-84BF3155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9567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Commercial workflows</a:t>
            </a:r>
          </a:p>
        </p:txBody>
      </p:sp>
      <p:sp>
        <p:nvSpPr>
          <p:cNvPr id="19" name="surface-25">
            <a:extLst xmlns:a="http://schemas.openxmlformats.org/drawingml/2006/main">
              <a:ext uri="{FF2B5EF4-FFF2-40B4-BE49-F238E27FC236}">
                <a16:creationId xmlns:a16="http://schemas.microsoft.com/office/drawing/2014/main" id="{D40418C2-8B16-46A4-9602-8BC60BBE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Split tender, margin tiers, bulk import, multi-company setup and modules 04 to 09.</a:t>
            </a:r>
          </a:p>
        </p:txBody>
      </p:sp>
      <p:sp>
        <p:nvSpPr>
          <p:cNvPr id="20" name="surface-26">
            <a:extLst xmlns:a="http://schemas.openxmlformats.org/drawingml/2006/main">
              <a:ext uri="{FF2B5EF4-FFF2-40B4-BE49-F238E27FC236}">
                <a16:creationId xmlns:a16="http://schemas.microsoft.com/office/drawing/2014/main" id="{5B761525-B8C6-4A02-AEBD-F0ADB2AB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62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37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-27">
            <a:extLst xmlns:a="http://schemas.openxmlformats.org/drawingml/2006/main">
              <a:ext uri="{FF2B5EF4-FFF2-40B4-BE49-F238E27FC236}">
                <a16:creationId xmlns:a16="http://schemas.microsoft.com/office/drawing/2014/main" id="{54ECBDD7-45DC-4B64-90A0-95718E24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LIVE NOW</a:t>
            </a:r>
          </a:p>
        </p:txBody>
      </p:sp>
      <p:sp>
        <p:nvSpPr>
          <p:cNvPr id="22" name="surface-28">
            <a:extLst xmlns:a="http://schemas.openxmlformats.org/drawingml/2006/main">
              <a:ext uri="{FF2B5EF4-FFF2-40B4-BE49-F238E27FC236}">
                <a16:creationId xmlns:a16="http://schemas.microsoft.com/office/drawing/2014/main" id="{F876EE83-B882-4AFE-A54A-4ECE0071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9567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Client-ready data</a:t>
            </a:r>
          </a:p>
        </p:txBody>
      </p:sp>
      <p:sp>
        <p:nvSpPr>
          <p:cNvPr id="23" name="surface-29">
            <a:extLst xmlns:a="http://schemas.openxmlformats.org/drawingml/2006/main">
              <a:ext uri="{FF2B5EF4-FFF2-40B4-BE49-F238E27FC236}">
                <a16:creationId xmlns:a16="http://schemas.microsoft.com/office/drawing/2014/main" id="{D16237E3-C1CD-44B7-9A89-5CC2573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05275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Interactive purchasing, finance, forecasting and populated operational records.</a:t>
            </a:r>
          </a:p>
        </p:txBody>
      </p:sp>
      <p:sp>
        <p:nvSpPr>
          <p:cNvPr id="24" name="surface-30">
            <a:extLst xmlns:a="http://schemas.openxmlformats.org/drawingml/2006/main">
              <a:ext uri="{FF2B5EF4-FFF2-40B4-BE49-F238E27FC236}">
                <a16:creationId xmlns:a16="http://schemas.microsoft.com/office/drawing/2014/main" id="{0447C1EA-57FD-49A3-89ED-5A552C49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25" name="surface-31">
            <a:extLst xmlns:a="http://schemas.openxmlformats.org/drawingml/2006/main">
              <a:ext uri="{FF2B5EF4-FFF2-40B4-BE49-F238E27FC236}">
                <a16:creationId xmlns:a16="http://schemas.microsoft.com/office/drawing/2014/main" id="{E74420F7-029E-49DF-A5EE-23547BB3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2927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unit checks</a:t>
            </a:r>
          </a:p>
        </p:txBody>
      </p:sp>
      <p:sp>
        <p:nvSpPr>
          <p:cNvPr id="26" name="surface-32">
            <a:extLst xmlns:a="http://schemas.openxmlformats.org/drawingml/2006/main">
              <a:ext uri="{FF2B5EF4-FFF2-40B4-BE49-F238E27FC236}">
                <a16:creationId xmlns:a16="http://schemas.microsoft.com/office/drawing/2014/main" id="{0D0D3725-36B7-4CC1-91A1-38649AF3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534025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27" name="surface-33">
            <a:extLst xmlns:a="http://schemas.openxmlformats.org/drawingml/2006/main">
              <a:ext uri="{FF2B5EF4-FFF2-40B4-BE49-F238E27FC236}">
                <a16:creationId xmlns:a16="http://schemas.microsoft.com/office/drawing/2014/main" id="{0B6B39D5-E47F-4DA0-A457-489CC7B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62927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API checks</a:t>
            </a:r>
          </a:p>
        </p:txBody>
      </p:sp>
      <p:sp>
        <p:nvSpPr>
          <p:cNvPr id="28" name="surface-34">
            <a:extLst xmlns:a="http://schemas.openxmlformats.org/drawingml/2006/main">
              <a:ext uri="{FF2B5EF4-FFF2-40B4-BE49-F238E27FC236}">
                <a16:creationId xmlns:a16="http://schemas.microsoft.com/office/drawing/2014/main" id="{85EFF08A-2952-4F27-975E-45E1CA2F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29" name="surface-35">
            <a:extLst xmlns:a="http://schemas.openxmlformats.org/drawingml/2006/main">
              <a:ext uri="{FF2B5EF4-FFF2-40B4-BE49-F238E27FC236}">
                <a16:creationId xmlns:a16="http://schemas.microsoft.com/office/drawing/2014/main" id="{6B6870CB-AF07-4811-9486-7C4983A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292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built routes</a:t>
            </a:r>
          </a:p>
        </p:txBody>
      </p:sp>
    </p:spTree>
    <p:extLst>
      <p:ext uri="{BB962C8B-B14F-4D97-AF65-F5344CB8AC3E}">
        <p14:creationId xmlns:p14="http://schemas.microsoft.com/office/powerpoint/2010/main" val="974332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-36">
            <a:extLst xmlns:a="http://schemas.openxmlformats.org/drawingml/2006/main">
              <a:ext uri="{FF2B5EF4-FFF2-40B4-BE49-F238E27FC236}">
                <a16:creationId xmlns:a16="http://schemas.microsoft.com/office/drawing/2014/main" id="{B8112AD7-62F6-4889-AD08-34187C43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03</a:t>
            </a:r>
          </a:p>
        </p:txBody>
      </p:sp>
      <p:sp>
        <p:nvSpPr>
          <p:cNvPr id="2" name="surface-37">
            <a:extLst xmlns:a="http://schemas.openxmlformats.org/drawingml/2006/main">
              <a:ext uri="{FF2B5EF4-FFF2-40B4-BE49-F238E27FC236}">
                <a16:creationId xmlns:a16="http://schemas.microsoft.com/office/drawing/2014/main" id="{92C6B482-4F99-4929-89C5-B23D07DB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Phase One now gives the client a clear starting path</a:t>
            </a:r>
          </a:p>
        </p:txBody>
      </p:sp>
      <p:sp>
        <p:nvSpPr>
          <p:cNvPr id="3" name="surface-38">
            <a:extLst xmlns:a="http://schemas.openxmlformats.org/drawingml/2006/main">
              <a:ext uri="{FF2B5EF4-FFF2-40B4-BE49-F238E27FC236}">
                <a16:creationId xmlns:a16="http://schemas.microsoft.com/office/drawing/2014/main" id="{D1900C54-E76E-4BC1-8B6F-363D1F01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overview points directly to four working demonstrations instead of leaving the client to explore without context.</a:t>
            </a:r>
          </a:p>
        </p:txBody>
      </p:sp>
      <p:sp>
        <p:nvSpPr>
          <p:cNvPr id="4" name="surface-39">
            <a:extLst xmlns:a="http://schemas.openxmlformats.org/drawingml/2006/main">
              <a:ext uri="{FF2B5EF4-FFF2-40B4-BE49-F238E27FC236}">
                <a16:creationId xmlns:a16="http://schemas.microsoft.com/office/drawing/2014/main" id="{FA492F64-135A-47C1-B0CA-851C3590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40">
            <a:extLst xmlns:a="http://schemas.openxmlformats.org/drawingml/2006/main">
              <a:ext uri="{FF2B5EF4-FFF2-40B4-BE49-F238E27FC236}">
                <a16:creationId xmlns:a16="http://schemas.microsoft.com/office/drawing/2014/main" id="{91D080A9-4CA2-4F7D-9039-DD159667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41">
            <a:extLst xmlns:a="http://schemas.openxmlformats.org/drawingml/2006/main">
              <a:ext uri="{FF2B5EF4-FFF2-40B4-BE49-F238E27FC236}">
                <a16:creationId xmlns:a16="http://schemas.microsoft.com/office/drawing/2014/main" id="{63C40C87-C264-4F9D-923F-80A8F049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67432a84a4c8d"/>
          <a:srcRect xmlns:a="http://schemas.openxmlformats.org/drawingml/2006/main" l="10926" t="0" r="10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5247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8" name="surface-43">
            <a:extLst xmlns:a="http://schemas.openxmlformats.org/drawingml/2006/main">
              <a:ext uri="{FF2B5EF4-FFF2-40B4-BE49-F238E27FC236}">
                <a16:creationId xmlns:a16="http://schemas.microsoft.com/office/drawing/2014/main" id="{1430BFE9-64D0-4B0B-B44F-B67AD69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CHANGE MADE</a:t>
            </a:r>
          </a:p>
        </p:txBody>
      </p:sp>
      <p:sp>
        <p:nvSpPr>
          <p:cNvPr id="9" name="surface-44">
            <a:extLst xmlns:a="http://schemas.openxmlformats.org/drawingml/2006/main">
              <a:ext uri="{FF2B5EF4-FFF2-40B4-BE49-F238E27FC236}">
                <a16:creationId xmlns:a16="http://schemas.microsoft.com/office/drawing/2014/main" id="{D12EBCFA-86EC-45CB-853B-1995DC00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57425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A guided sequence covers split tender, product margins, bulk import and company setup.</a:t>
            </a:r>
          </a:p>
        </p:txBody>
      </p:sp>
      <p:sp>
        <p:nvSpPr>
          <p:cNvPr id="10" name="surface-45">
            <a:extLst xmlns:a="http://schemas.openxmlformats.org/drawingml/2006/main">
              <a:ext uri="{FF2B5EF4-FFF2-40B4-BE49-F238E27FC236}">
                <a16:creationId xmlns:a16="http://schemas.microsoft.com/office/drawing/2014/main" id="{4E54D204-2672-4E80-838B-4AFD2328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1" name="surface-46">
            <a:extLst xmlns:a="http://schemas.openxmlformats.org/drawingml/2006/main">
              <a:ext uri="{FF2B5EF4-FFF2-40B4-BE49-F238E27FC236}">
                <a16:creationId xmlns:a16="http://schemas.microsoft.com/office/drawing/2014/main" id="{6087B17E-05A1-42E4-8300-3CA6B02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meeting has an obvious route. Every step opens the exact screen the presenter needs.</a:t>
            </a:r>
          </a:p>
        </p:txBody>
      </p:sp>
      <p:sp>
        <p:nvSpPr>
          <p:cNvPr id="12" name="surface-47">
            <a:extLst xmlns:a="http://schemas.openxmlformats.org/drawingml/2006/main">
              <a:ext uri="{FF2B5EF4-FFF2-40B4-BE49-F238E27FC236}">
                <a16:creationId xmlns:a16="http://schemas.microsoft.com/office/drawing/2014/main" id="{1D027589-DF82-467B-A687-DD1DC195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53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Core Setup  ·  Inventory  ·  Retail POS</a:t>
            </a:r>
          </a:p>
        </p:txBody>
      </p:sp>
    </p:spTree>
    <p:extLst>
      <p:ext uri="{BB962C8B-B14F-4D97-AF65-F5344CB8AC3E}">
        <p14:creationId xmlns:p14="http://schemas.microsoft.com/office/powerpoint/2010/main" val="3516802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-48">
            <a:extLst xmlns:a="http://schemas.openxmlformats.org/drawingml/2006/main">
              <a:ext uri="{FF2B5EF4-FFF2-40B4-BE49-F238E27FC236}">
                <a16:creationId xmlns:a16="http://schemas.microsoft.com/office/drawing/2014/main" id="{48415AFC-621F-495B-B2A1-FF959DE3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04</a:t>
            </a:r>
          </a:p>
        </p:txBody>
      </p:sp>
      <p:sp>
        <p:nvSpPr>
          <p:cNvPr id="2" name="surface-49">
            <a:extLst xmlns:a="http://schemas.openxmlformats.org/drawingml/2006/main">
              <a:ext uri="{FF2B5EF4-FFF2-40B4-BE49-F238E27FC236}">
                <a16:creationId xmlns:a16="http://schemas.microsoft.com/office/drawing/2014/main" id="{BBF0FB9D-1559-4357-BF6E-4D938E93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A second company starts from proven Flair settings</a:t>
            </a:r>
          </a:p>
        </p:txBody>
      </p:sp>
      <p:sp>
        <p:nvSpPr>
          <p:cNvPr id="3" name="surface-50">
            <a:extLst xmlns:a="http://schemas.openxmlformats.org/drawingml/2006/main">
              <a:ext uri="{FF2B5EF4-FFF2-40B4-BE49-F238E27FC236}">
                <a16:creationId xmlns:a16="http://schemas.microsoft.com/office/drawing/2014/main" id="{17C113FB-101A-40EE-B8BD-498CDC96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new workspace keeps its own identity while copying regional and operating defaults from the current company.</a:t>
            </a:r>
          </a:p>
        </p:txBody>
      </p:sp>
      <p:sp>
        <p:nvSpPr>
          <p:cNvPr id="4" name="surface-51">
            <a:extLst xmlns:a="http://schemas.openxmlformats.org/drawingml/2006/main">
              <a:ext uri="{FF2B5EF4-FFF2-40B4-BE49-F238E27FC236}">
                <a16:creationId xmlns:a16="http://schemas.microsoft.com/office/drawing/2014/main" id="{37D9206D-F514-4011-B37E-9D5517A1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52">
            <a:extLst xmlns:a="http://schemas.openxmlformats.org/drawingml/2006/main">
              <a:ext uri="{FF2B5EF4-FFF2-40B4-BE49-F238E27FC236}">
                <a16:creationId xmlns:a16="http://schemas.microsoft.com/office/drawing/2014/main" id="{70671736-9B11-4FE4-92CA-E392250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53">
            <a:extLst xmlns:a="http://schemas.openxmlformats.org/drawingml/2006/main">
              <a:ext uri="{FF2B5EF4-FFF2-40B4-BE49-F238E27FC236}">
                <a16:creationId xmlns:a16="http://schemas.microsoft.com/office/drawing/2014/main" id="{547120FF-1261-4908-BA4C-A6360CAB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ba7c2c1aa49d1"/>
          <a:srcRect xmlns:a="http://schemas.openxmlformats.org/drawingml/2006/main" l="14493" t="0" r="14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762125"/>
            <a:ext cx="68961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8" name="surface-55">
            <a:extLst xmlns:a="http://schemas.openxmlformats.org/drawingml/2006/main">
              <a:ext uri="{FF2B5EF4-FFF2-40B4-BE49-F238E27FC236}">
                <a16:creationId xmlns:a16="http://schemas.microsoft.com/office/drawing/2014/main" id="{2E24F08F-D5CF-4BF5-B8EB-DA5F4C45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surface-56">
            <a:extLst xmlns:a="http://schemas.openxmlformats.org/drawingml/2006/main">
              <a:ext uri="{FF2B5EF4-FFF2-40B4-BE49-F238E27FC236}">
                <a16:creationId xmlns:a16="http://schemas.microsoft.com/office/drawing/2014/main" id="{4ABDDCA1-850E-4BF2-ACB4-EFE1E8EF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325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Required identity</a:t>
            </a:r>
          </a:p>
        </p:txBody>
      </p:sp>
      <p:sp>
        <p:nvSpPr>
          <p:cNvPr id="10" name="surface-57">
            <a:extLst xmlns:a="http://schemas.openxmlformats.org/drawingml/2006/main">
              <a:ext uri="{FF2B5EF4-FFF2-40B4-BE49-F238E27FC236}">
                <a16:creationId xmlns:a16="http://schemas.microsoft.com/office/drawing/2014/main" id="{BEE08CEC-F53B-4AF0-8265-DB6F5016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Name, code, contact and address fields keep each company distinct.</a:t>
            </a:r>
          </a:p>
        </p:txBody>
      </p:sp>
      <p:sp>
        <p:nvSpPr>
          <p:cNvPr id="11" name="surface-58">
            <a:extLst xmlns:a="http://schemas.openxmlformats.org/drawingml/2006/main">
              <a:ext uri="{FF2B5EF4-FFF2-40B4-BE49-F238E27FC236}">
                <a16:creationId xmlns:a16="http://schemas.microsoft.com/office/drawing/2014/main" id="{71012B34-4392-4F2E-B9AF-312418D1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surface-59">
            <a:extLst xmlns:a="http://schemas.openxmlformats.org/drawingml/2006/main">
              <a:ext uri="{FF2B5EF4-FFF2-40B4-BE49-F238E27FC236}">
                <a16:creationId xmlns:a16="http://schemas.microsoft.com/office/drawing/2014/main" id="{1EFA65A0-A43F-476E-8AAC-BF38A92E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325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Faster setup</a:t>
            </a:r>
          </a:p>
        </p:txBody>
      </p:sp>
      <p:sp>
        <p:nvSpPr>
          <p:cNvPr id="13" name="surface-60">
            <a:extLst xmlns:a="http://schemas.openxmlformats.org/drawingml/2006/main">
              <a:ext uri="{FF2B5EF4-FFF2-40B4-BE49-F238E27FC236}">
                <a16:creationId xmlns:a16="http://schemas.microsoft.com/office/drawing/2014/main" id="{3675B59E-3C91-4F6F-90B8-F32C54BC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Regional formats, branding and notification defaults copy from the active company.</a:t>
            </a:r>
          </a:p>
        </p:txBody>
      </p:sp>
      <p:sp>
        <p:nvSpPr>
          <p:cNvPr id="14" name="surface-61">
            <a:extLst xmlns:a="http://schemas.openxmlformats.org/drawingml/2006/main">
              <a:ext uri="{FF2B5EF4-FFF2-40B4-BE49-F238E27FC236}">
                <a16:creationId xmlns:a16="http://schemas.microsoft.com/office/drawing/2014/main" id="{2779DC02-63E4-4598-8426-A7873FA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surface-62">
            <a:extLst xmlns:a="http://schemas.openxmlformats.org/drawingml/2006/main">
              <a:ext uri="{FF2B5EF4-FFF2-40B4-BE49-F238E27FC236}">
                <a16:creationId xmlns:a16="http://schemas.microsoft.com/office/drawing/2014/main" id="{62D82708-4E5D-4AE2-B7CF-86E8ACF6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325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Independent control</a:t>
            </a:r>
          </a:p>
        </p:txBody>
      </p:sp>
      <p:sp>
        <p:nvSpPr>
          <p:cNvPr id="16" name="surface-63">
            <a:extLst xmlns:a="http://schemas.openxmlformats.org/drawingml/2006/main">
              <a:ext uri="{FF2B5EF4-FFF2-40B4-BE49-F238E27FC236}">
                <a16:creationId xmlns:a16="http://schemas.microsoft.com/office/drawing/2014/main" id="{7BFB388E-EDC9-4436-997F-3BBF668C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user can switch the active company and maintain its profile separately.</a:t>
            </a:r>
          </a:p>
        </p:txBody>
      </p:sp>
    </p:spTree>
    <p:extLst>
      <p:ext uri="{BB962C8B-B14F-4D97-AF65-F5344CB8AC3E}">
        <p14:creationId xmlns:p14="http://schemas.microsoft.com/office/powerpoint/2010/main" val="1833633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-64">
            <a:extLst xmlns:a="http://schemas.openxmlformats.org/drawingml/2006/main">
              <a:ext uri="{FF2B5EF4-FFF2-40B4-BE49-F238E27FC236}">
                <a16:creationId xmlns:a16="http://schemas.microsoft.com/office/drawing/2014/main" id="{2051D6A8-C414-4A70-9289-C2306A10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05</a:t>
            </a:r>
          </a:p>
        </p:txBody>
      </p:sp>
      <p:sp>
        <p:nvSpPr>
          <p:cNvPr id="2" name="surface-65">
            <a:extLst xmlns:a="http://schemas.openxmlformats.org/drawingml/2006/main">
              <a:ext uri="{FF2B5EF4-FFF2-40B4-BE49-F238E27FC236}">
                <a16:creationId xmlns:a16="http://schemas.microsoft.com/office/drawing/2014/main" id="{92AE613D-0A74-4BF2-9824-09FDE64C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Every product shows the margin for each sales channel</a:t>
            </a:r>
          </a:p>
        </p:txBody>
      </p:sp>
      <p:sp>
        <p:nvSpPr>
          <p:cNvPr id="3" name="surface-66">
            <a:extLst xmlns:a="http://schemas.openxmlformats.org/drawingml/2006/main">
              <a:ext uri="{FF2B5EF4-FFF2-40B4-BE49-F238E27FC236}">
                <a16:creationId xmlns:a16="http://schemas.microsoft.com/office/drawing/2014/main" id="{95999EF5-9CE9-4DC9-94E2-36A56121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Retail, wholesale, e-commerce and VIP prices use the same average cost, with gross profit and margin visible by SKU.</a:t>
            </a:r>
          </a:p>
        </p:txBody>
      </p:sp>
      <p:sp>
        <p:nvSpPr>
          <p:cNvPr id="4" name="surface-67">
            <a:extLst xmlns:a="http://schemas.openxmlformats.org/drawingml/2006/main">
              <a:ext uri="{FF2B5EF4-FFF2-40B4-BE49-F238E27FC236}">
                <a16:creationId xmlns:a16="http://schemas.microsoft.com/office/drawing/2014/main" id="{139F9E83-5051-494C-BCAB-6ADCFD5C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68">
            <a:extLst xmlns:a="http://schemas.openxmlformats.org/drawingml/2006/main">
              <a:ext uri="{FF2B5EF4-FFF2-40B4-BE49-F238E27FC236}">
                <a16:creationId xmlns:a16="http://schemas.microsoft.com/office/drawing/2014/main" id="{2D729103-962A-42BC-B08E-628B61B6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69">
            <a:extLst xmlns:a="http://schemas.openxmlformats.org/drawingml/2006/main">
              <a:ext uri="{FF2B5EF4-FFF2-40B4-BE49-F238E27FC236}">
                <a16:creationId xmlns:a16="http://schemas.microsoft.com/office/drawing/2014/main" id="{D0092A68-4FC8-446B-BF21-7B3A3105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76b2065c445ea"/>
          <a:srcRect xmlns:a="http://schemas.openxmlformats.org/drawingml/2006/main" l="9957" t="0" r="99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67715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8" name="surface-71">
            <a:extLst xmlns:a="http://schemas.openxmlformats.org/drawingml/2006/main">
              <a:ext uri="{FF2B5EF4-FFF2-40B4-BE49-F238E27FC236}">
                <a16:creationId xmlns:a16="http://schemas.microsoft.com/office/drawing/2014/main" id="{DE815715-C000-4D0C-BA0C-0B5B4386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CHANGE MADE</a:t>
            </a:r>
          </a:p>
        </p:txBody>
      </p:sp>
      <p:sp>
        <p:nvSpPr>
          <p:cNvPr id="9" name="surface-72">
            <a:extLst xmlns:a="http://schemas.openxmlformats.org/drawingml/2006/main">
              <a:ext uri="{FF2B5EF4-FFF2-40B4-BE49-F238E27FC236}">
                <a16:creationId xmlns:a16="http://schemas.microsoft.com/office/drawing/2014/main" id="{3A5A8D18-08B3-4526-9E7B-7CECB826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Four price tiers now calculate profit and margin independently.</a:t>
            </a:r>
          </a:p>
        </p:txBody>
      </p:sp>
      <p:sp>
        <p:nvSpPr>
          <p:cNvPr id="10" name="surface-73">
            <a:extLst xmlns:a="http://schemas.openxmlformats.org/drawingml/2006/main">
              <a:ext uri="{FF2B5EF4-FFF2-40B4-BE49-F238E27FC236}">
                <a16:creationId xmlns:a16="http://schemas.microsoft.com/office/drawing/2014/main" id="{D300B0CD-03D4-48FA-B435-8F202396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1" name="surface-74">
            <a:extLst xmlns:a="http://schemas.openxmlformats.org/drawingml/2006/main">
              <a:ext uri="{FF2B5EF4-FFF2-40B4-BE49-F238E27FC236}">
                <a16:creationId xmlns:a16="http://schemas.microsoft.com/office/drawing/2014/main" id="{A9892527-ADC6-4238-9B13-ACF51F44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481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Management can compare channel contribution before approving prices or discounts.</a:t>
            </a:r>
          </a:p>
        </p:txBody>
      </p:sp>
      <p:sp>
        <p:nvSpPr>
          <p:cNvPr id="12" name="surface-75">
            <a:extLst xmlns:a="http://schemas.openxmlformats.org/drawingml/2006/main">
              <a:ext uri="{FF2B5EF4-FFF2-40B4-BE49-F238E27FC236}">
                <a16:creationId xmlns:a16="http://schemas.microsoft.com/office/drawing/2014/main" id="{E6C257B3-AABE-4C0F-BCF6-E7C6E217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006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26 seeded products</a:t>
            </a:r>
          </a:p>
        </p:txBody>
      </p:sp>
    </p:spTree>
    <p:extLst>
      <p:ext uri="{BB962C8B-B14F-4D97-AF65-F5344CB8AC3E}">
        <p14:creationId xmlns:p14="http://schemas.microsoft.com/office/powerpoint/2010/main" val="1657542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rface-76">
            <a:extLst xmlns:a="http://schemas.openxmlformats.org/drawingml/2006/main">
              <a:ext uri="{FF2B5EF4-FFF2-40B4-BE49-F238E27FC236}">
                <a16:creationId xmlns:a16="http://schemas.microsoft.com/office/drawing/2014/main" id="{F3914A29-B4F0-4D19-BD05-CFB32162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06</a:t>
            </a:r>
          </a:p>
        </p:txBody>
      </p:sp>
      <p:sp>
        <p:nvSpPr>
          <p:cNvPr id="2" name="surface-77">
            <a:extLst xmlns:a="http://schemas.openxmlformats.org/drawingml/2006/main">
              <a:ext uri="{FF2B5EF4-FFF2-40B4-BE49-F238E27FC236}">
                <a16:creationId xmlns:a16="http://schemas.microsoft.com/office/drawing/2014/main" id="{5833D824-8887-4B30-9E92-6A99E965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Bulk import and stock documents make the demo practical</a:t>
            </a:r>
          </a:p>
        </p:txBody>
      </p:sp>
      <p:sp>
        <p:nvSpPr>
          <p:cNvPr id="3" name="surface-78">
            <a:extLst xmlns:a="http://schemas.openxmlformats.org/drawingml/2006/main">
              <a:ext uri="{FF2B5EF4-FFF2-40B4-BE49-F238E27FC236}">
                <a16:creationId xmlns:a16="http://schemas.microsoft.com/office/drawing/2014/main" id="{33D657FE-3C63-48D5-B103-D83F2A57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Products, organization and starting quantities can enter through validated CSV files, then move through traceable stock records.</a:t>
            </a:r>
          </a:p>
        </p:txBody>
      </p:sp>
      <p:sp>
        <p:nvSpPr>
          <p:cNvPr id="4" name="surface-79">
            <a:extLst xmlns:a="http://schemas.openxmlformats.org/drawingml/2006/main">
              <a:ext uri="{FF2B5EF4-FFF2-40B4-BE49-F238E27FC236}">
                <a16:creationId xmlns:a16="http://schemas.microsoft.com/office/drawing/2014/main" id="{34EEB583-D1B5-4E85-9AC6-3AC29510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80">
            <a:extLst xmlns:a="http://schemas.openxmlformats.org/drawingml/2006/main">
              <a:ext uri="{FF2B5EF4-FFF2-40B4-BE49-F238E27FC236}">
                <a16:creationId xmlns:a16="http://schemas.microsoft.com/office/drawing/2014/main" id="{7A3C60E5-BFDF-4C23-9B71-9B46FF81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81">
            <a:extLst xmlns:a="http://schemas.openxmlformats.org/drawingml/2006/main">
              <a:ext uri="{FF2B5EF4-FFF2-40B4-BE49-F238E27FC236}">
                <a16:creationId xmlns:a16="http://schemas.microsoft.com/office/drawing/2014/main" id="{9BF9DA98-B8FB-435F-A0EE-F1164085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f4f5a41f34b2d"/>
          <a:srcRect xmlns:a="http://schemas.openxmlformats.org/drawingml/2006/main" l="0" t="276" r="0" b="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5334000" cy="23622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e90eb38674224"/>
          <a:srcRect xmlns:a="http://schemas.openxmlformats.org/drawingml/2006/main" l="0" t="11905" r="0" b="11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305300"/>
            <a:ext cx="533400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9" name="surface-84">
            <a:extLst xmlns:a="http://schemas.openxmlformats.org/drawingml/2006/main">
              <a:ext uri="{FF2B5EF4-FFF2-40B4-BE49-F238E27FC236}">
                <a16:creationId xmlns:a16="http://schemas.microsoft.com/office/drawing/2014/main" id="{522943FA-EEC9-4F16-9DA7-7AD45219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surface-85">
            <a:extLst xmlns:a="http://schemas.openxmlformats.org/drawingml/2006/main">
              <a:ext uri="{FF2B5EF4-FFF2-40B4-BE49-F238E27FC236}">
                <a16:creationId xmlns:a16="http://schemas.microsoft.com/office/drawing/2014/main" id="{ED9A9B98-7736-465C-94E2-F0D847FE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977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Four import modes</a:t>
            </a:r>
          </a:p>
        </p:txBody>
      </p:sp>
      <p:sp>
        <p:nvSpPr>
          <p:cNvPr id="11" name="surface-86">
            <a:extLst xmlns:a="http://schemas.openxmlformats.org/drawingml/2006/main">
              <a:ext uri="{FF2B5EF4-FFF2-40B4-BE49-F238E27FC236}">
                <a16:creationId xmlns:a16="http://schemas.microsoft.com/office/drawing/2014/main" id="{3E1465BF-FD93-4496-ADC6-09FDC0CF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717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Separate templates cover products, categories, brands and inventory balances.</a:t>
            </a:r>
          </a:p>
        </p:txBody>
      </p:sp>
      <p:sp>
        <p:nvSpPr>
          <p:cNvPr id="12" name="surface-87">
            <a:extLst xmlns:a="http://schemas.openxmlformats.org/drawingml/2006/main">
              <a:ext uri="{FF2B5EF4-FFF2-40B4-BE49-F238E27FC236}">
                <a16:creationId xmlns:a16="http://schemas.microsoft.com/office/drawing/2014/main" id="{C1D245A2-A3FD-4C45-9A96-F00AD6FC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24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surface-88">
            <a:extLst xmlns:a="http://schemas.openxmlformats.org/drawingml/2006/main">
              <a:ext uri="{FF2B5EF4-FFF2-40B4-BE49-F238E27FC236}">
                <a16:creationId xmlns:a16="http://schemas.microsoft.com/office/drawing/2014/main" id="{E34A5F1A-0806-4AA3-9991-C3C026D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Validation before posting</a:t>
            </a:r>
          </a:p>
        </p:txBody>
      </p:sp>
      <p:sp>
        <p:nvSpPr>
          <p:cNvPr id="14" name="surface-89">
            <a:extLst xmlns:a="http://schemas.openxmlformats.org/drawingml/2006/main">
              <a:ext uri="{FF2B5EF4-FFF2-40B4-BE49-F238E27FC236}">
                <a16:creationId xmlns:a16="http://schemas.microsoft.com/office/drawing/2014/main" id="{CF2A4158-F549-43D8-8ECE-D801F6E2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preview catches missing fields and invalid identifiers before changing data.</a:t>
            </a:r>
          </a:p>
        </p:txBody>
      </p:sp>
      <p:sp>
        <p:nvSpPr>
          <p:cNvPr id="15" name="surface-90">
            <a:extLst xmlns:a="http://schemas.openxmlformats.org/drawingml/2006/main">
              <a:ext uri="{FF2B5EF4-FFF2-40B4-BE49-F238E27FC236}">
                <a16:creationId xmlns:a16="http://schemas.microsoft.com/office/drawing/2014/main" id="{E8D54D92-4368-4111-A8C0-9E13F033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surface-91">
            <a:extLst xmlns:a="http://schemas.openxmlformats.org/drawingml/2006/main">
              <a:ext uri="{FF2B5EF4-FFF2-40B4-BE49-F238E27FC236}">
                <a16:creationId xmlns:a16="http://schemas.microsoft.com/office/drawing/2014/main" id="{E6EF0EFD-ADDF-422C-A7E8-EB8F56AA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Traceable stock history</a:t>
            </a:r>
          </a:p>
        </p:txBody>
      </p:sp>
      <p:sp>
        <p:nvSpPr>
          <p:cNvPr id="17" name="surface-92">
            <a:extLst xmlns:a="http://schemas.openxmlformats.org/drawingml/2006/main">
              <a:ext uri="{FF2B5EF4-FFF2-40B4-BE49-F238E27FC236}">
                <a16:creationId xmlns:a16="http://schemas.microsoft.com/office/drawing/2014/main" id="{4E0545A1-39CB-42C7-B993-DB2D9DB4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815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Seeded receipts, transfers, adjustments and counts show the full document lifecycle.</a:t>
            </a:r>
          </a:p>
        </p:txBody>
      </p:sp>
    </p:spTree>
    <p:extLst>
      <p:ext uri="{BB962C8B-B14F-4D97-AF65-F5344CB8AC3E}">
        <p14:creationId xmlns:p14="http://schemas.microsoft.com/office/powerpoint/2010/main" val="1867116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-93">
            <a:extLst xmlns:a="http://schemas.openxmlformats.org/drawingml/2006/main">
              <a:ext uri="{FF2B5EF4-FFF2-40B4-BE49-F238E27FC236}">
                <a16:creationId xmlns:a16="http://schemas.microsoft.com/office/drawing/2014/main" id="{102BD568-1DC8-4064-A407-F0609E9C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07</a:t>
            </a:r>
          </a:p>
        </p:txBody>
      </p:sp>
      <p:sp>
        <p:nvSpPr>
          <p:cNvPr id="2" name="surface-94">
            <a:extLst xmlns:a="http://schemas.openxmlformats.org/drawingml/2006/main">
              <a:ext uri="{FF2B5EF4-FFF2-40B4-BE49-F238E27FC236}">
                <a16:creationId xmlns:a16="http://schemas.microsoft.com/office/drawing/2014/main" id="{1F8F0A22-5769-47A0-8B92-4DAB9829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POS history keeps the sale, return and customer credit connected</a:t>
            </a:r>
          </a:p>
        </p:txBody>
      </p:sp>
      <p:sp>
        <p:nvSpPr>
          <p:cNvPr id="3" name="surface-95">
            <a:extLst xmlns:a="http://schemas.openxmlformats.org/drawingml/2006/main">
              <a:ext uri="{FF2B5EF4-FFF2-40B4-BE49-F238E27FC236}">
                <a16:creationId xmlns:a16="http://schemas.microsoft.com/office/drawing/2014/main" id="{9DCC60E4-A299-43A4-A7CE-E22CF64D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Seeded receipts and credit notes let the client inspect the full flow without entering setup data first.</a:t>
            </a:r>
          </a:p>
        </p:txBody>
      </p:sp>
      <p:sp>
        <p:nvSpPr>
          <p:cNvPr id="4" name="surface-96">
            <a:extLst xmlns:a="http://schemas.openxmlformats.org/drawingml/2006/main">
              <a:ext uri="{FF2B5EF4-FFF2-40B4-BE49-F238E27FC236}">
                <a16:creationId xmlns:a16="http://schemas.microsoft.com/office/drawing/2014/main" id="{D7C55D89-1D0F-4BF3-B6BA-A045400C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97">
            <a:extLst xmlns:a="http://schemas.openxmlformats.org/drawingml/2006/main">
              <a:ext uri="{FF2B5EF4-FFF2-40B4-BE49-F238E27FC236}">
                <a16:creationId xmlns:a16="http://schemas.microsoft.com/office/drawing/2014/main" id="{E129E192-B113-4C13-B383-C3FF6C75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98">
            <a:extLst xmlns:a="http://schemas.openxmlformats.org/drawingml/2006/main">
              <a:ext uri="{FF2B5EF4-FFF2-40B4-BE49-F238E27FC236}">
                <a16:creationId xmlns:a16="http://schemas.microsoft.com/office/drawing/2014/main" id="{E2B99B9D-4B6C-4F09-89AF-DE6845C4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8c388d102467c"/>
          <a:srcRect xmlns:a="http://schemas.openxmlformats.org/drawingml/2006/main" l="10926" t="0" r="10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5247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8" name="surface-100">
            <a:extLst xmlns:a="http://schemas.openxmlformats.org/drawingml/2006/main">
              <a:ext uri="{FF2B5EF4-FFF2-40B4-BE49-F238E27FC236}">
                <a16:creationId xmlns:a16="http://schemas.microsoft.com/office/drawing/2014/main" id="{527BF728-C023-4947-B42B-5A2375E1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RETAIL CONTROLS ADDED</a:t>
            </a:r>
          </a:p>
        </p:txBody>
      </p:sp>
      <p:sp>
        <p:nvSpPr>
          <p:cNvPr id="9" name="surface-101">
            <a:extLst xmlns:a="http://schemas.openxmlformats.org/drawingml/2006/main">
              <a:ext uri="{FF2B5EF4-FFF2-40B4-BE49-F238E27FC236}">
                <a16:creationId xmlns:a16="http://schemas.microsoft.com/office/drawing/2014/main" id="{4B88487A-342F-4874-ABC7-51861F8F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31242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Split cash and card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Buy one, second 50% off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Last sale lookup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Hold and recall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Refund or store credit</a:t>
            </a:r>
          </a:p>
          <a:p xmlns:a="http://schemas.openxmlformats.org/drawingml/2006/main">
            <a:pPr algn="l">
              <a:defRPr sz="16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Retail and wholesale close</a:t>
            </a:r>
          </a:p>
        </p:txBody>
      </p:sp>
      <p:sp>
        <p:nvSpPr>
          <p:cNvPr id="10" name="surface-102">
            <a:extLst xmlns:a="http://schemas.openxmlformats.org/drawingml/2006/main">
              <a:ext uri="{FF2B5EF4-FFF2-40B4-BE49-F238E27FC236}">
                <a16:creationId xmlns:a16="http://schemas.microsoft.com/office/drawing/2014/main" id="{18B8CB90-0EDC-4216-9810-08DF21F2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291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1" name="surface-103">
            <a:extLst xmlns:a="http://schemas.openxmlformats.org/drawingml/2006/main">
              <a:ext uri="{FF2B5EF4-FFF2-40B4-BE49-F238E27FC236}">
                <a16:creationId xmlns:a16="http://schemas.microsoft.com/office/drawing/2014/main" id="{6F1DC023-61F7-43E6-8ACA-AFA2F27D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53025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Staff can recover the original transaction and keep stock and credit adjustments auditable.</a:t>
            </a:r>
          </a:p>
        </p:txBody>
      </p:sp>
    </p:spTree>
    <p:extLst>
      <p:ext uri="{BB962C8B-B14F-4D97-AF65-F5344CB8AC3E}">
        <p14:creationId xmlns:p14="http://schemas.microsoft.com/office/powerpoint/2010/main" val="1605912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urface-104">
            <a:extLst xmlns:a="http://schemas.openxmlformats.org/drawingml/2006/main">
              <a:ext uri="{FF2B5EF4-FFF2-40B4-BE49-F238E27FC236}">
                <a16:creationId xmlns:a16="http://schemas.microsoft.com/office/drawing/2014/main" id="{63A0F1AF-0D6A-4790-9130-38B65FC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08</a:t>
            </a:r>
          </a:p>
        </p:txBody>
      </p:sp>
      <p:sp>
        <p:nvSpPr>
          <p:cNvPr id="2" name="surface-105">
            <a:extLst xmlns:a="http://schemas.openxmlformats.org/drawingml/2006/main">
              <a:ext uri="{FF2B5EF4-FFF2-40B4-BE49-F238E27FC236}">
                <a16:creationId xmlns:a16="http://schemas.microsoft.com/office/drawing/2014/main" id="{FDA881E8-1D5F-4BC3-A2F6-5841A1AC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Purchasing preserves the real invoice cost</a:t>
            </a:r>
          </a:p>
        </p:txBody>
      </p:sp>
      <p:sp>
        <p:nvSpPr>
          <p:cNvPr id="3" name="surface-106">
            <a:extLst xmlns:a="http://schemas.openxmlformats.org/drawingml/2006/main">
              <a:ext uri="{FF2B5EF4-FFF2-40B4-BE49-F238E27FC236}">
                <a16:creationId xmlns:a16="http://schemas.microsoft.com/office/drawing/2014/main" id="{B51B82C7-4358-409F-87C7-8B53D77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Transportation, duty and local delivery stay separate while the application calculates landed and weighted average cost per piece.</a:t>
            </a:r>
          </a:p>
        </p:txBody>
      </p:sp>
      <p:sp>
        <p:nvSpPr>
          <p:cNvPr id="4" name="surface-107">
            <a:extLst xmlns:a="http://schemas.openxmlformats.org/drawingml/2006/main">
              <a:ext uri="{FF2B5EF4-FFF2-40B4-BE49-F238E27FC236}">
                <a16:creationId xmlns:a16="http://schemas.microsoft.com/office/drawing/2014/main" id="{63317358-3EB8-4C15-98A4-47134DB6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08">
            <a:extLst xmlns:a="http://schemas.openxmlformats.org/drawingml/2006/main">
              <a:ext uri="{FF2B5EF4-FFF2-40B4-BE49-F238E27FC236}">
                <a16:creationId xmlns:a16="http://schemas.microsoft.com/office/drawing/2014/main" id="{DBE3E756-C4A5-4B15-BA8A-06BE5BEA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09">
            <a:extLst xmlns:a="http://schemas.openxmlformats.org/drawingml/2006/main">
              <a:ext uri="{FF2B5EF4-FFF2-40B4-BE49-F238E27FC236}">
                <a16:creationId xmlns:a16="http://schemas.microsoft.com/office/drawing/2014/main" id="{6B1D6B5F-2625-4EF5-B9D1-88F99666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f5009ea3c40b0"/>
          <a:srcRect xmlns:a="http://schemas.openxmlformats.org/drawingml/2006/main" l="9228" t="0" r="92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8867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8" name="surface-111">
            <a:extLst xmlns:a="http://schemas.openxmlformats.org/drawingml/2006/main">
              <a:ext uri="{FF2B5EF4-FFF2-40B4-BE49-F238E27FC236}">
                <a16:creationId xmlns:a16="http://schemas.microsoft.com/office/drawing/2014/main" id="{E4ADC57D-308E-46C8-9BB3-A3A8AE8C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81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EXAMPLE RESULT</a:t>
            </a:r>
          </a:p>
        </p:txBody>
      </p:sp>
      <p:sp>
        <p:nvSpPr>
          <p:cNvPr id="9" name="surface-112">
            <a:extLst xmlns:a="http://schemas.openxmlformats.org/drawingml/2006/main">
              <a:ext uri="{FF2B5EF4-FFF2-40B4-BE49-F238E27FC236}">
                <a16:creationId xmlns:a16="http://schemas.microsoft.com/office/drawing/2014/main" id="{B6581251-F603-49E2-BD81-2FABBAC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$16.00</a:t>
            </a:r>
          </a:p>
        </p:txBody>
      </p:sp>
      <p:sp>
        <p:nvSpPr>
          <p:cNvPr id="10" name="surface-113">
            <a:extLst xmlns:a="http://schemas.openxmlformats.org/drawingml/2006/main">
              <a:ext uri="{FF2B5EF4-FFF2-40B4-BE49-F238E27FC236}">
                <a16:creationId xmlns:a16="http://schemas.microsoft.com/office/drawing/2014/main" id="{67B98A3B-FCD8-4645-B9AA-5852CE2B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90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original unit price</a:t>
            </a:r>
          </a:p>
        </p:txBody>
      </p:sp>
      <p:sp>
        <p:nvSpPr>
          <p:cNvPr id="11" name="surface-114">
            <a:extLst xmlns:a="http://schemas.openxmlformats.org/drawingml/2006/main">
              <a:ext uri="{FF2B5EF4-FFF2-40B4-BE49-F238E27FC236}">
                <a16:creationId xmlns:a16="http://schemas.microsoft.com/office/drawing/2014/main" id="{4B4975E6-5C66-468C-8AE4-A2C5895A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$5.75</a:t>
            </a:r>
          </a:p>
        </p:txBody>
      </p:sp>
      <p:sp>
        <p:nvSpPr>
          <p:cNvPr id="12" name="surface-115">
            <a:extLst xmlns:a="http://schemas.openxmlformats.org/drawingml/2006/main">
              <a:ext uri="{FF2B5EF4-FFF2-40B4-BE49-F238E27FC236}">
                <a16:creationId xmlns:a16="http://schemas.microsoft.com/office/drawing/2014/main" id="{8C001393-0FBB-4704-827D-9A6291E4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allocated extra cost</a:t>
            </a:r>
          </a:p>
        </p:txBody>
      </p:sp>
      <p:sp>
        <p:nvSpPr>
          <p:cNvPr id="13" name="surface-116">
            <a:extLst xmlns:a="http://schemas.openxmlformats.org/drawingml/2006/main">
              <a:ext uri="{FF2B5EF4-FFF2-40B4-BE49-F238E27FC236}">
                <a16:creationId xmlns:a16="http://schemas.microsoft.com/office/drawing/2014/main" id="{303461EA-2B3D-44E7-BD09-56661CB3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719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$21.75</a:t>
            </a:r>
          </a:p>
        </p:txBody>
      </p:sp>
      <p:sp>
        <p:nvSpPr>
          <p:cNvPr id="14" name="surface-117">
            <a:extLst xmlns:a="http://schemas.openxmlformats.org/drawingml/2006/main">
              <a:ext uri="{FF2B5EF4-FFF2-40B4-BE49-F238E27FC236}">
                <a16:creationId xmlns:a16="http://schemas.microsoft.com/office/drawing/2014/main" id="{30737837-FD5B-4E24-B761-58458A0B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291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landed cost per piece</a:t>
            </a:r>
          </a:p>
        </p:txBody>
      </p:sp>
      <p:sp>
        <p:nvSpPr>
          <p:cNvPr id="15" name="surface-118">
            <a:extLst xmlns:a="http://schemas.openxmlformats.org/drawingml/2006/main">
              <a:ext uri="{FF2B5EF4-FFF2-40B4-BE49-F238E27FC236}">
                <a16:creationId xmlns:a16="http://schemas.microsoft.com/office/drawing/2014/main" id="{A85DF868-2C49-4FD5-83FE-F44BFAEE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530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The purchase history remains comparable without reopening a physical invoice.</a:t>
            </a:r>
          </a:p>
        </p:txBody>
      </p:sp>
    </p:spTree>
    <p:extLst>
      <p:ext uri="{BB962C8B-B14F-4D97-AF65-F5344CB8AC3E}">
        <p14:creationId xmlns:p14="http://schemas.microsoft.com/office/powerpoint/2010/main" val="1951769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-119">
            <a:extLst xmlns:a="http://schemas.openxmlformats.org/drawingml/2006/main">
              <a:ext uri="{FF2B5EF4-FFF2-40B4-BE49-F238E27FC236}">
                <a16:creationId xmlns:a16="http://schemas.microsoft.com/office/drawing/2014/main" id="{48AD1CEB-B08F-4FFC-AA4A-3764583C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09</a:t>
            </a:r>
          </a:p>
        </p:txBody>
      </p:sp>
      <p:sp>
        <p:nvSpPr>
          <p:cNvPr id="2" name="surface-120">
            <a:extLst xmlns:a="http://schemas.openxmlformats.org/drawingml/2006/main">
              <a:ext uri="{FF2B5EF4-FFF2-40B4-BE49-F238E27FC236}">
                <a16:creationId xmlns:a16="http://schemas.microsoft.com/office/drawing/2014/main" id="{7A5B3303-7B06-4D0A-AD4B-9E8519B8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The sales forecast produces a purchase decision</a:t>
            </a:r>
          </a:p>
        </p:txBody>
      </p:sp>
      <p:sp>
        <p:nvSpPr>
          <p:cNvPr id="3" name="surface-121">
            <a:extLst xmlns:a="http://schemas.openxmlformats.org/drawingml/2006/main">
              <a:ext uri="{FF2B5EF4-FFF2-40B4-BE49-F238E27FC236}">
                <a16:creationId xmlns:a16="http://schemas.microsoft.com/office/drawing/2014/main" id="{192A6861-9E57-4B61-B57D-96F0BFC2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presenter can select recommended SKUs, change lead time and create a draft purchase order from the scenario.</a:t>
            </a:r>
          </a:p>
        </p:txBody>
      </p:sp>
      <p:sp>
        <p:nvSpPr>
          <p:cNvPr id="4" name="surface-122">
            <a:extLst xmlns:a="http://schemas.openxmlformats.org/drawingml/2006/main">
              <a:ext uri="{FF2B5EF4-FFF2-40B4-BE49-F238E27FC236}">
                <a16:creationId xmlns:a16="http://schemas.microsoft.com/office/drawing/2014/main" id="{8CD56BAC-6F59-4E4D-96BE-9415E38D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23">
            <a:extLst xmlns:a="http://schemas.openxmlformats.org/drawingml/2006/main">
              <a:ext uri="{FF2B5EF4-FFF2-40B4-BE49-F238E27FC236}">
                <a16:creationId xmlns:a16="http://schemas.microsoft.com/office/drawing/2014/main" id="{7A327705-1763-40B3-99D7-FAAED4C0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24">
            <a:extLst xmlns:a="http://schemas.openxmlformats.org/drawingml/2006/main">
              <a:ext uri="{FF2B5EF4-FFF2-40B4-BE49-F238E27FC236}">
                <a16:creationId xmlns:a16="http://schemas.microsoft.com/office/drawing/2014/main" id="{D2483B2D-B103-4FC7-892A-DD2626BF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adf1d039447d6"/>
          <a:srcRect xmlns:a="http://schemas.openxmlformats.org/drawingml/2006/main" l="9129" t="0" r="9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90575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8" name="surface-126">
            <a:extLst xmlns:a="http://schemas.openxmlformats.org/drawingml/2006/main">
              <a:ext uri="{FF2B5EF4-FFF2-40B4-BE49-F238E27FC236}">
                <a16:creationId xmlns:a16="http://schemas.microsoft.com/office/drawing/2014/main" id="{76BFECF2-E724-4527-9690-21FA40E2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240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surface-127">
            <a:extLst xmlns:a="http://schemas.openxmlformats.org/drawingml/2006/main">
              <a:ext uri="{FF2B5EF4-FFF2-40B4-BE49-F238E27FC236}">
                <a16:creationId xmlns:a16="http://schemas.microsoft.com/office/drawing/2014/main" id="{22BB0241-C623-454D-933B-146C683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Demand signal</a:t>
            </a:r>
          </a:p>
        </p:txBody>
      </p:sp>
      <p:sp>
        <p:nvSpPr>
          <p:cNvPr id="10" name="surface-128">
            <a:extLst xmlns:a="http://schemas.openxmlformats.org/drawingml/2006/main">
              <a:ext uri="{FF2B5EF4-FFF2-40B4-BE49-F238E27FC236}">
                <a16:creationId xmlns:a16="http://schemas.microsoft.com/office/drawing/2014/main" id="{B1885515-1A19-4BB2-96F0-2025FBEE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Thirty-day demand sits next to available stock for each product.</a:t>
            </a:r>
          </a:p>
        </p:txBody>
      </p:sp>
      <p:sp>
        <p:nvSpPr>
          <p:cNvPr id="11" name="surface-129">
            <a:extLst xmlns:a="http://schemas.openxmlformats.org/drawingml/2006/main">
              <a:ext uri="{FF2B5EF4-FFF2-40B4-BE49-F238E27FC236}">
                <a16:creationId xmlns:a16="http://schemas.microsoft.com/office/drawing/2014/main" id="{D6343128-343B-4197-9AB7-BF9BB2FE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861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surface-130">
            <a:extLst xmlns:a="http://schemas.openxmlformats.org/drawingml/2006/main">
              <a:ext uri="{FF2B5EF4-FFF2-40B4-BE49-F238E27FC236}">
                <a16:creationId xmlns:a16="http://schemas.microsoft.com/office/drawing/2014/main" id="{56C7C05B-2D73-4EDF-854C-4B716E1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13" name="surface-131">
            <a:extLst xmlns:a="http://schemas.openxmlformats.org/drawingml/2006/main">
              <a:ext uri="{FF2B5EF4-FFF2-40B4-BE49-F238E27FC236}">
                <a16:creationId xmlns:a16="http://schemas.microsoft.com/office/drawing/2014/main" id="{D5B38D13-4325-48E1-B0D5-C30A0948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3857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Each suggestion shows the model confidence used in the demo scenario.</a:t>
            </a:r>
          </a:p>
        </p:txBody>
      </p:sp>
      <p:sp>
        <p:nvSpPr>
          <p:cNvPr id="14" name="surface-132">
            <a:extLst xmlns:a="http://schemas.openxmlformats.org/drawingml/2006/main">
              <a:ext uri="{FF2B5EF4-FFF2-40B4-BE49-F238E27FC236}">
                <a16:creationId xmlns:a16="http://schemas.microsoft.com/office/drawing/2014/main" id="{EF8327E5-1395-4DE2-9E5F-CF19BBEE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48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surface-133">
            <a:extLst xmlns:a="http://schemas.openxmlformats.org/drawingml/2006/main">
              <a:ext uri="{FF2B5EF4-FFF2-40B4-BE49-F238E27FC236}">
                <a16:creationId xmlns:a16="http://schemas.microsoft.com/office/drawing/2014/main" id="{E835ECB4-B553-42D2-B59A-36234C5D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3870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Purchase action</a:t>
            </a:r>
          </a:p>
        </p:txBody>
      </p:sp>
      <p:sp>
        <p:nvSpPr>
          <p:cNvPr id="16" name="surface-134">
            <a:extLst xmlns:a="http://schemas.openxmlformats.org/drawingml/2006/main">
              <a:ext uri="{FF2B5EF4-FFF2-40B4-BE49-F238E27FC236}">
                <a16:creationId xmlns:a16="http://schemas.microsoft.com/office/drawing/2014/main" id="{C8835927-BAFC-441C-B4EA-A8FF5667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006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Selected recommendations become an estimated commitment and draft order.</a:t>
            </a:r>
          </a:p>
        </p:txBody>
      </p:sp>
    </p:spTree>
    <p:extLst>
      <p:ext uri="{BB962C8B-B14F-4D97-AF65-F5344CB8AC3E}">
        <p14:creationId xmlns:p14="http://schemas.microsoft.com/office/powerpoint/2010/main" val="16036292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-135">
            <a:extLst xmlns:a="http://schemas.openxmlformats.org/drawingml/2006/main">
              <a:ext uri="{FF2B5EF4-FFF2-40B4-BE49-F238E27FC236}">
                <a16:creationId xmlns:a16="http://schemas.microsoft.com/office/drawing/2014/main" id="{D21A00DE-47CC-435A-8FCE-66A3C0A5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10</a:t>
            </a:r>
          </a:p>
        </p:txBody>
      </p:sp>
      <p:sp>
        <p:nvSpPr>
          <p:cNvPr id="2" name="surface-136">
            <a:extLst xmlns:a="http://schemas.openxmlformats.org/drawingml/2006/main">
              <a:ext uri="{FF2B5EF4-FFF2-40B4-BE49-F238E27FC236}">
                <a16:creationId xmlns:a16="http://schemas.microsoft.com/office/drawing/2014/main" id="{D8C30A18-4E61-449B-9BE6-5E6EDC18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A split payment becomes clear finance activity</a:t>
            </a:r>
          </a:p>
        </p:txBody>
      </p:sp>
      <p:sp>
        <p:nvSpPr>
          <p:cNvPr id="3" name="surface-137">
            <a:extLst xmlns:a="http://schemas.openxmlformats.org/drawingml/2006/main">
              <a:ext uri="{FF2B5EF4-FFF2-40B4-BE49-F238E27FC236}">
                <a16:creationId xmlns:a16="http://schemas.microsoft.com/office/drawing/2014/main" id="{1E0A7C5B-1617-4D70-B5C5-23B1BE99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The $600 example records $200 cash and $400 card, separates 8.25% sales tax and posts a readable ledger entry.</a:t>
            </a:r>
          </a:p>
        </p:txBody>
      </p:sp>
      <p:sp>
        <p:nvSpPr>
          <p:cNvPr id="4" name="surface-138">
            <a:extLst xmlns:a="http://schemas.openxmlformats.org/drawingml/2006/main">
              <a:ext uri="{FF2B5EF4-FFF2-40B4-BE49-F238E27FC236}">
                <a16:creationId xmlns:a16="http://schemas.microsoft.com/office/drawing/2014/main" id="{A01346E2-0216-41A7-B9D7-A5F5915C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39">
            <a:extLst xmlns:a="http://schemas.openxmlformats.org/drawingml/2006/main">
              <a:ext uri="{FF2B5EF4-FFF2-40B4-BE49-F238E27FC236}">
                <a16:creationId xmlns:a16="http://schemas.microsoft.com/office/drawing/2014/main" id="{1889EA22-0765-4361-817F-879DF1C5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40">
            <a:extLst xmlns:a="http://schemas.openxmlformats.org/drawingml/2006/main">
              <a:ext uri="{FF2B5EF4-FFF2-40B4-BE49-F238E27FC236}">
                <a16:creationId xmlns:a16="http://schemas.microsoft.com/office/drawing/2014/main" id="{9C8146BE-9F03-47BE-A708-B5F7CFD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ad5f3811244e2"/>
          <a:srcRect xmlns:a="http://schemas.openxmlformats.org/drawingml/2006/main" l="9523" t="0" r="95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82955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8" name="surface-142">
            <a:extLst xmlns:a="http://schemas.openxmlformats.org/drawingml/2006/main">
              <a:ext uri="{FF2B5EF4-FFF2-40B4-BE49-F238E27FC236}">
                <a16:creationId xmlns:a16="http://schemas.microsoft.com/office/drawing/2014/main" id="{241E028F-193A-4D0A-A1F7-5B593C27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TRANSACTION</a:t>
            </a:r>
          </a:p>
        </p:txBody>
      </p:sp>
      <p:sp>
        <p:nvSpPr>
          <p:cNvPr id="9" name="surface-143">
            <a:extLst xmlns:a="http://schemas.openxmlformats.org/drawingml/2006/main">
              <a:ext uri="{FF2B5EF4-FFF2-40B4-BE49-F238E27FC236}">
                <a16:creationId xmlns:a16="http://schemas.microsoft.com/office/drawing/2014/main" id="{56576F41-00DD-4B5B-B309-4382E145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$600.00</a:t>
            </a:r>
          </a:p>
        </p:txBody>
      </p:sp>
      <p:sp>
        <p:nvSpPr>
          <p:cNvPr id="10" name="surface-144">
            <a:extLst xmlns:a="http://schemas.openxmlformats.org/drawingml/2006/main">
              <a:ext uri="{FF2B5EF4-FFF2-40B4-BE49-F238E27FC236}">
                <a16:creationId xmlns:a16="http://schemas.microsoft.com/office/drawing/2014/main" id="{210A58DE-3F2E-474F-890A-EFD7BC50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2705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$554.27 net sale</a:t>
            </a:r>
          </a:p>
          <a:p xmlns:a="http://schemas.openxmlformats.org/drawingml/2006/main">
            <a:pPr algn="l">
              <a:defRPr sz="172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$45.73 tax</a:t>
            </a:r>
          </a:p>
          <a:p xmlns:a="http://schemas.openxmlformats.org/drawingml/2006/main">
            <a:pPr algn="l">
              <a:defRPr sz="172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$200 cash</a:t>
            </a:r>
          </a:p>
          <a:p xmlns:a="http://schemas.openxmlformats.org/drawingml/2006/main">
            <a:pPr algn="l">
              <a:defRPr sz="172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$400 card</a:t>
            </a:r>
          </a:p>
        </p:txBody>
      </p:sp>
      <p:sp>
        <p:nvSpPr>
          <p:cNvPr id="11" name="surface-145">
            <a:extLst xmlns:a="http://schemas.openxmlformats.org/drawingml/2006/main">
              <a:ext uri="{FF2B5EF4-FFF2-40B4-BE49-F238E27FC236}">
                <a16:creationId xmlns:a16="http://schemas.microsoft.com/office/drawing/2014/main" id="{AC098118-C7F2-4159-A7C8-2CA00A0F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006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2" name="surface-146">
            <a:extLst xmlns:a="http://schemas.openxmlformats.org/drawingml/2006/main">
              <a:ext uri="{FF2B5EF4-FFF2-40B4-BE49-F238E27FC236}">
                <a16:creationId xmlns:a16="http://schemas.microsoft.com/office/drawing/2014/main" id="{05109705-3B10-4EA5-B326-25D48632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14950"/>
            <a:ext cx="2705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Cash drawer and card settlement no longer appear as one unexplained payment.</a:t>
            </a:r>
          </a:p>
        </p:txBody>
      </p:sp>
    </p:spTree>
    <p:extLst>
      <p:ext uri="{BB962C8B-B14F-4D97-AF65-F5344CB8AC3E}">
        <p14:creationId xmlns:p14="http://schemas.microsoft.com/office/powerpoint/2010/main" val="2132649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-147">
            <a:extLst xmlns:a="http://schemas.openxmlformats.org/drawingml/2006/main">
              <a:ext uri="{FF2B5EF4-FFF2-40B4-BE49-F238E27FC236}">
                <a16:creationId xmlns:a16="http://schemas.microsoft.com/office/drawing/2014/main" id="{69C0544A-B49B-4395-A212-5216A04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UPDATE 11</a:t>
            </a:r>
          </a:p>
        </p:txBody>
      </p:sp>
      <p:sp>
        <p:nvSpPr>
          <p:cNvPr id="2" name="surface-148">
            <a:extLst xmlns:a="http://schemas.openxmlformats.org/drawingml/2006/main">
              <a:ext uri="{FF2B5EF4-FFF2-40B4-BE49-F238E27FC236}">
                <a16:creationId xmlns:a16="http://schemas.microsoft.com/office/drawing/2014/main" id="{B004371E-F8EB-4DFE-88DB-F5696336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Daily closing separates retail, wholesale and tender totals</a:t>
            </a:r>
          </a:p>
        </p:txBody>
      </p:sp>
      <p:sp>
        <p:nvSpPr>
          <p:cNvPr id="3" name="surface-149">
            <a:extLst xmlns:a="http://schemas.openxmlformats.org/drawingml/2006/main">
              <a:ext uri="{FF2B5EF4-FFF2-40B4-BE49-F238E27FC236}">
                <a16:creationId xmlns:a16="http://schemas.microsoft.com/office/drawing/2014/main" id="{1D328351-D473-4DD0-BF2D-781503E6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One report shows transactions, net sales, tax, cash and card settlement, with a CSV export for reconciliation.</a:t>
            </a:r>
          </a:p>
        </p:txBody>
      </p:sp>
      <p:sp>
        <p:nvSpPr>
          <p:cNvPr id="4" name="surface-150">
            <a:extLst xmlns:a="http://schemas.openxmlformats.org/drawingml/2006/main">
              <a:ext uri="{FF2B5EF4-FFF2-40B4-BE49-F238E27FC236}">
                <a16:creationId xmlns:a16="http://schemas.microsoft.com/office/drawing/2014/main" id="{3377B23E-45A6-4F48-A588-553718AA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51">
            <a:extLst xmlns:a="http://schemas.openxmlformats.org/drawingml/2006/main">
              <a:ext uri="{FF2B5EF4-FFF2-40B4-BE49-F238E27FC236}">
                <a16:creationId xmlns:a16="http://schemas.microsoft.com/office/drawing/2014/main" id="{FCD1F835-07C0-4F2E-9660-CB125730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4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52">
            <a:extLst xmlns:a="http://schemas.openxmlformats.org/drawingml/2006/main">
              <a:ext uri="{FF2B5EF4-FFF2-40B4-BE49-F238E27FC236}">
                <a16:creationId xmlns:a16="http://schemas.microsoft.com/office/drawing/2014/main" id="{B8BA93CB-42ED-4814-A4B3-9EA9DA62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4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B5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542d702c40f0"/>
          <a:srcRect xmlns:a="http://schemas.openxmlformats.org/drawingml/2006/main" l="9622" t="0" r="96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78105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8" name="surface-154">
            <a:extLst xmlns:a="http://schemas.openxmlformats.org/drawingml/2006/main">
              <a:ext uri="{FF2B5EF4-FFF2-40B4-BE49-F238E27FC236}">
                <a16:creationId xmlns:a16="http://schemas.microsoft.com/office/drawing/2014/main" id="{B3A97B69-B8DA-4EF4-B81A-4B77070B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812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268"/>
                </a:solidFill>
                <a:latin typeface="Aptos"/>
                <a:ea typeface="Aptos"/>
                <a:cs typeface="Aptos"/>
              </a:rPr>
              <a:t>WHAT THE CLIENT SEES</a:t>
            </a:r>
          </a:p>
        </p:txBody>
      </p:sp>
      <p:sp>
        <p:nvSpPr>
          <p:cNvPr id="9" name="surface-155">
            <a:extLst xmlns:a="http://schemas.openxmlformats.org/drawingml/2006/main">
              <a:ext uri="{FF2B5EF4-FFF2-40B4-BE49-F238E27FC236}">
                <a16:creationId xmlns:a16="http://schemas.microsoft.com/office/drawing/2014/main" id="{58BBDEE9-4ADF-4E93-9C85-5E85AE17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724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Retail POS</a:t>
            </a:r>
          </a:p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Wholesale</a:t>
            </a:r>
          </a:p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Sales tax</a:t>
            </a:r>
          </a:p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Cash drawer</a:t>
            </a:r>
          </a:p>
          <a:p xmlns:a="http://schemas.openxmlformats.org/drawingml/2006/main">
            <a:pPr algn="l">
              <a:defRPr sz="1800" b="1">
                <a:solidFill>
                  <a:srgbClr val="0728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2835"/>
                </a:solidFill>
                <a:latin typeface="Aptos"/>
                <a:ea typeface="Aptos"/>
                <a:cs typeface="Aptos"/>
              </a:rPr>
              <a:t>Card settlement</a:t>
            </a:r>
          </a:p>
        </p:txBody>
      </p:sp>
      <p:sp>
        <p:nvSpPr>
          <p:cNvPr id="10" name="surface-156">
            <a:extLst xmlns:a="http://schemas.openxmlformats.org/drawingml/2006/main">
              <a:ext uri="{FF2B5EF4-FFF2-40B4-BE49-F238E27FC236}">
                <a16:creationId xmlns:a16="http://schemas.microsoft.com/office/drawing/2014/main" id="{0C5F35D0-D09F-4F7E-BFD0-FD5E1F1F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339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PROBLEM SOLVED</a:t>
            </a:r>
          </a:p>
        </p:txBody>
      </p:sp>
      <p:sp>
        <p:nvSpPr>
          <p:cNvPr id="11" name="surface-157">
            <a:extLst xmlns:a="http://schemas.openxmlformats.org/drawingml/2006/main">
              <a:ext uri="{FF2B5EF4-FFF2-40B4-BE49-F238E27FC236}">
                <a16:creationId xmlns:a16="http://schemas.microsoft.com/office/drawing/2014/main" id="{CF3C0117-A48A-456E-9281-5C9106C1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6727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74"/>
                </a:solidFill>
                <a:latin typeface="Aptos"/>
                <a:ea typeface="Aptos"/>
                <a:cs typeface="Aptos"/>
              </a:rPr>
              <a:t>Managers can reconcile both selling channels without combining tender types or rebuilding totals manually.</a:t>
            </a:r>
          </a:p>
        </p:txBody>
      </p:sp>
    </p:spTree>
    <p:extLst>
      <p:ext uri="{BB962C8B-B14F-4D97-AF65-F5344CB8AC3E}">
        <p14:creationId xmlns:p14="http://schemas.microsoft.com/office/powerpoint/2010/main" val="391562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28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-158">
            <a:extLst xmlns:a="http://schemas.openxmlformats.org/drawingml/2006/main">
              <a:ext uri="{FF2B5EF4-FFF2-40B4-BE49-F238E27FC236}">
                <a16:creationId xmlns:a16="http://schemas.microsoft.com/office/drawing/2014/main" id="{CBC317BB-B567-456D-8A3D-4746D798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UPDATE 12</a:t>
            </a:r>
          </a:p>
        </p:txBody>
      </p:sp>
      <p:sp>
        <p:nvSpPr>
          <p:cNvPr id="2" name="surface-159">
            <a:extLst xmlns:a="http://schemas.openxmlformats.org/drawingml/2006/main">
              <a:ext uri="{FF2B5EF4-FFF2-40B4-BE49-F238E27FC236}">
                <a16:creationId xmlns:a16="http://schemas.microsoft.com/office/drawing/2014/main" id="{380C99B0-BD3E-4023-8851-0B7E319B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client can now test the whole operating story</a:t>
            </a:r>
          </a:p>
        </p:txBody>
      </p:sp>
      <p:sp>
        <p:nvSpPr>
          <p:cNvPr id="3" name="surface-160">
            <a:extLst xmlns:a="http://schemas.openxmlformats.org/drawingml/2006/main">
              <a:ext uri="{FF2B5EF4-FFF2-40B4-BE49-F238E27FC236}">
                <a16:creationId xmlns:a16="http://schemas.microsoft.com/office/drawing/2014/main" id="{F3E89144-CDFD-4135-B38C-B1759AE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5D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6D5D2"/>
                </a:solidFill>
                <a:latin typeface="Aptos"/>
                <a:ea typeface="Aptos"/>
                <a:cs typeface="Aptos"/>
              </a:rPr>
              <a:t>The live demo combines populated records with safe reset controls and direct links to each important workflow.</a:t>
            </a:r>
          </a:p>
        </p:txBody>
      </p:sp>
      <p:sp>
        <p:nvSpPr>
          <p:cNvPr id="4" name="surface-161">
            <a:extLst xmlns:a="http://schemas.openxmlformats.org/drawingml/2006/main">
              <a:ext uri="{FF2B5EF4-FFF2-40B4-BE49-F238E27FC236}">
                <a16:creationId xmlns:a16="http://schemas.microsoft.com/office/drawing/2014/main" id="{2FADD04A-E1EE-4383-9E8E-024A4AA2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162">
            <a:extLst xmlns:a="http://schemas.openxmlformats.org/drawingml/2006/main">
              <a:ext uri="{FF2B5EF4-FFF2-40B4-BE49-F238E27FC236}">
                <a16:creationId xmlns:a16="http://schemas.microsoft.com/office/drawing/2014/main" id="{447E711D-BFB3-4D7C-9857-30365159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C9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C9C7"/>
                </a:solidFill>
                <a:latin typeface="Aptos"/>
                <a:ea typeface="Aptos"/>
                <a:cs typeface="Aptos"/>
              </a:rPr>
              <a:t>FLAIR ERP · CLIENT UPDATE · 7 SEP 2026</a:t>
            </a:r>
          </a:p>
        </p:txBody>
      </p:sp>
      <p:sp>
        <p:nvSpPr>
          <p:cNvPr id="6" name="surface-163">
            <a:extLst xmlns:a="http://schemas.openxmlformats.org/drawingml/2006/main">
              <a:ext uri="{FF2B5EF4-FFF2-40B4-BE49-F238E27FC236}">
                <a16:creationId xmlns:a16="http://schemas.microsoft.com/office/drawing/2014/main" id="{964623D2-7BD1-4C95-B2F9-1D6BB77E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86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surface-164">
            <a:extLst xmlns:a="http://schemas.openxmlformats.org/drawingml/2006/main">
              <a:ext uri="{FF2B5EF4-FFF2-40B4-BE49-F238E27FC236}">
                <a16:creationId xmlns:a16="http://schemas.microsoft.com/office/drawing/2014/main" id="{0CA1D407-1754-4711-9FB6-EF48A83D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surface-165">
            <a:extLst xmlns:a="http://schemas.openxmlformats.org/drawingml/2006/main">
              <a:ext uri="{FF2B5EF4-FFF2-40B4-BE49-F238E27FC236}">
                <a16:creationId xmlns:a16="http://schemas.microsoft.com/office/drawing/2014/main" id="{EA9F66A3-C5D1-47B1-80B0-3707ECEA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 up</a:t>
            </a:r>
          </a:p>
        </p:txBody>
      </p:sp>
      <p:sp>
        <p:nvSpPr>
          <p:cNvPr id="9" name="surface-166">
            <a:extLst xmlns:a="http://schemas.openxmlformats.org/drawingml/2006/main">
              <a:ext uri="{FF2B5EF4-FFF2-40B4-BE49-F238E27FC236}">
                <a16:creationId xmlns:a16="http://schemas.microsoft.com/office/drawing/2014/main" id="{57B1BA4C-2060-4FBF-85B5-39C65ECB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Locations, users, access and companies</a:t>
            </a:r>
          </a:p>
        </p:txBody>
      </p:sp>
      <p:sp>
        <p:nvSpPr>
          <p:cNvPr id="10" name="surface-167">
            <a:extLst xmlns:a="http://schemas.openxmlformats.org/drawingml/2006/main">
              <a:ext uri="{FF2B5EF4-FFF2-40B4-BE49-F238E27FC236}">
                <a16:creationId xmlns:a16="http://schemas.microsoft.com/office/drawing/2014/main" id="{D1D3A5E2-A9FB-4D6B-A2A8-8269B0EC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urface-168">
            <a:extLst xmlns:a="http://schemas.openxmlformats.org/drawingml/2006/main">
              <a:ext uri="{FF2B5EF4-FFF2-40B4-BE49-F238E27FC236}">
                <a16:creationId xmlns:a16="http://schemas.microsoft.com/office/drawing/2014/main" id="{035DD830-896C-467F-99B1-007EBE71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stock</a:t>
            </a:r>
          </a:p>
        </p:txBody>
      </p:sp>
      <p:sp>
        <p:nvSpPr>
          <p:cNvPr id="12" name="surface-169">
            <a:extLst xmlns:a="http://schemas.openxmlformats.org/drawingml/2006/main">
              <a:ext uri="{FF2B5EF4-FFF2-40B4-BE49-F238E27FC236}">
                <a16:creationId xmlns:a16="http://schemas.microsoft.com/office/drawing/2014/main" id="{08B99AA3-238B-4FEC-9B6D-01C4B94D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Products, margins, imports and movements</a:t>
            </a:r>
          </a:p>
        </p:txBody>
      </p:sp>
      <p:sp>
        <p:nvSpPr>
          <p:cNvPr id="13" name="surface-170">
            <a:extLst xmlns:a="http://schemas.openxmlformats.org/drawingml/2006/main">
              <a:ext uri="{FF2B5EF4-FFF2-40B4-BE49-F238E27FC236}">
                <a16:creationId xmlns:a16="http://schemas.microsoft.com/office/drawing/2014/main" id="{B57670C2-88F6-4A96-B62D-1DAC4BE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surface-171">
            <a:extLst xmlns:a="http://schemas.openxmlformats.org/drawingml/2006/main">
              <a:ext uri="{FF2B5EF4-FFF2-40B4-BE49-F238E27FC236}">
                <a16:creationId xmlns:a16="http://schemas.microsoft.com/office/drawing/2014/main" id="{95070DD8-B8D9-4B10-A575-9F7028F5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719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Serve customers</a:t>
            </a:r>
          </a:p>
        </p:txBody>
      </p:sp>
      <p:sp>
        <p:nvSpPr>
          <p:cNvPr id="15" name="surface-172">
            <a:extLst xmlns:a="http://schemas.openxmlformats.org/drawingml/2006/main">
              <a:ext uri="{FF2B5EF4-FFF2-40B4-BE49-F238E27FC236}">
                <a16:creationId xmlns:a16="http://schemas.microsoft.com/office/drawing/2014/main" id="{FC336727-6E55-46CB-8933-13BA97DE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Sales, promotions, returns and credit</a:t>
            </a:r>
          </a:p>
        </p:txBody>
      </p:sp>
      <p:sp>
        <p:nvSpPr>
          <p:cNvPr id="16" name="surface-173">
            <a:extLst xmlns:a="http://schemas.openxmlformats.org/drawingml/2006/main">
              <a:ext uri="{FF2B5EF4-FFF2-40B4-BE49-F238E27FC236}">
                <a16:creationId xmlns:a16="http://schemas.microsoft.com/office/drawing/2014/main" id="{9B99694C-C1B0-485D-A19F-BA9CBE2D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surface-174">
            <a:extLst xmlns:a="http://schemas.openxmlformats.org/drawingml/2006/main">
              <a:ext uri="{FF2B5EF4-FFF2-40B4-BE49-F238E27FC236}">
                <a16:creationId xmlns:a16="http://schemas.microsoft.com/office/drawing/2014/main" id="{FB9F4060-2954-471C-868F-AB45A10A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10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 and close</a:t>
            </a:r>
          </a:p>
        </p:txBody>
      </p:sp>
      <p:sp>
        <p:nvSpPr>
          <p:cNvPr id="18" name="surface-175">
            <a:extLst xmlns:a="http://schemas.openxmlformats.org/drawingml/2006/main">
              <a:ext uri="{FF2B5EF4-FFF2-40B4-BE49-F238E27FC236}">
                <a16:creationId xmlns:a16="http://schemas.microsoft.com/office/drawing/2014/main" id="{25F44B3D-A4F6-4642-BAAC-C126C9A3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9D7D4"/>
                </a:solidFill>
                <a:latin typeface="Aptos"/>
                <a:ea typeface="Aptos"/>
                <a:cs typeface="Aptos"/>
              </a:rPr>
              <a:t>Purchasing, forecasting, finance and reports</a:t>
            </a:r>
          </a:p>
        </p:txBody>
      </p:sp>
      <p:sp>
        <p:nvSpPr>
          <p:cNvPr id="19" name="surface-176">
            <a:extLst xmlns:a="http://schemas.openxmlformats.org/drawingml/2006/main">
              <a:ext uri="{FF2B5EF4-FFF2-40B4-BE49-F238E27FC236}">
                <a16:creationId xmlns:a16="http://schemas.microsoft.com/office/drawing/2014/main" id="{DAAD7EFC-D936-4531-BD15-56111A81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177">
            <a:extLst xmlns:a="http://schemas.openxmlformats.org/drawingml/2006/main">
              <a:ext uri="{FF2B5EF4-FFF2-40B4-BE49-F238E27FC236}">
                <a16:creationId xmlns:a16="http://schemas.microsoft.com/office/drawing/2014/main" id="{C714BBA2-6C24-4E27-97EF-B93D0D75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91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9154"/>
                </a:solidFill>
                <a:latin typeface="Aptos"/>
                <a:ea typeface="Aptos"/>
                <a:cs typeface="Aptos"/>
              </a:rPr>
              <a:t>Live application</a:t>
            </a:r>
          </a:p>
        </p:txBody>
      </p:sp>
      <p:sp>
        <p:nvSpPr>
          <p:cNvPr id="21" name="surface-178">
            <a:extLst xmlns:a="http://schemas.openxmlformats.org/drawingml/2006/main">
              <a:ext uri="{FF2B5EF4-FFF2-40B4-BE49-F238E27FC236}">
                <a16:creationId xmlns:a16="http://schemas.microsoft.com/office/drawing/2014/main" id="{3721B8C3-F909-47E8-BC7E-73E41A17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72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https://flaiur-erp.vercel.app</a:t>
            </a:r>
          </a:p>
        </p:txBody>
      </p:sp>
    </p:spTree>
    <p:extLst>
      <p:ext uri="{BB962C8B-B14F-4D97-AF65-F5344CB8AC3E}">
        <p14:creationId xmlns:p14="http://schemas.microsoft.com/office/powerpoint/2010/main" val="1369531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2026-09-07T08:28:39.9150000Z</dcterms:created>
  <dcterms:modified xsi:type="dcterms:W3CDTF">2026-09-07T08:28:39.9150000Z</dcterms:modified>
</coreProperties>
</file>