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7e7a06bcd84241" /><Relationship Type="http://schemas.openxmlformats.org/officeDocument/2006/relationships/extended-properties" Target="/docProps/app.xml" Id="Raaceb4c9201743bd" /><Relationship Type="http://schemas.openxmlformats.org/officeDocument/2006/relationships/officeDocument" Target="/ppt/presentation.xml" Id="R961d221aea0949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de2f13313e4f44"/>
  </p:sldMasterIdLst>
  <p:notesMasterIdLst>
    <p:notesMasterId xmlns:r="http://schemas.openxmlformats.org/officeDocument/2006/relationships" r:id="R61b5268953244652"/>
  </p:notesMasterIdLst>
  <p:sldIdLst>
    <p:sldId xmlns:r="http://schemas.openxmlformats.org/officeDocument/2006/relationships" id="256" r:id="R0f1f9f14de984fe1"/>
    <p:sldId xmlns:r="http://schemas.openxmlformats.org/officeDocument/2006/relationships" id="257" r:id="R29483ebd28bb4af2"/>
    <p:sldId xmlns:r="http://schemas.openxmlformats.org/officeDocument/2006/relationships" id="258" r:id="R2660a9c9c7fe4f05"/>
    <p:sldId xmlns:r="http://schemas.openxmlformats.org/officeDocument/2006/relationships" id="259" r:id="R846070441a5b40be"/>
    <p:sldId xmlns:r="http://schemas.openxmlformats.org/officeDocument/2006/relationships" id="260" r:id="R75822289185945a1"/>
    <p:sldId xmlns:r="http://schemas.openxmlformats.org/officeDocument/2006/relationships" id="261" r:id="Rfd98ce87840f4250"/>
    <p:sldId xmlns:r="http://schemas.openxmlformats.org/officeDocument/2006/relationships" id="262" r:id="R3707eebfd4844ae1"/>
    <p:sldId xmlns:r="http://schemas.openxmlformats.org/officeDocument/2006/relationships" id="263" r:id="R5ab3466546cb4c98"/>
    <p:sldId xmlns:r="http://schemas.openxmlformats.org/officeDocument/2006/relationships" id="264" r:id="R5e736a5ea8b3426f"/>
    <p:sldId xmlns:r="http://schemas.openxmlformats.org/officeDocument/2006/relationships" id="265" r:id="Rfbdde36a209c4656"/>
    <p:sldId xmlns:r="http://schemas.openxmlformats.org/officeDocument/2006/relationships" id="266" r:id="R6db1972938b14d9f"/>
    <p:sldId xmlns:r="http://schemas.openxmlformats.org/officeDocument/2006/relationships" id="267" r:id="R1a86d1ef378d49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82a5fa6e754b72" /><Relationship Type="http://schemas.openxmlformats.org/officeDocument/2006/relationships/slideMaster" Target="/ppt/slideMasters/slideMaster1.xml" Id="Rc8de2f13313e4f44" /><Relationship Type="http://schemas.openxmlformats.org/officeDocument/2006/relationships/notesMaster" Target="/ppt/notesMasters/notesMaster1.xml" Id="R61b5268953244652" /><Relationship Type="http://schemas.openxmlformats.org/officeDocument/2006/relationships/presProps" Target="/ppt/presProps.xml" Id="Rf3eb035e36d84065" /><Relationship Type="http://schemas.openxmlformats.org/officeDocument/2006/relationships/tableStyles" Target="/ppt/tableStyles.xml" Id="Rb8906785ad2342d5" /><Relationship Type="http://schemas.openxmlformats.org/officeDocument/2006/relationships/slide" Target="/ppt/slides/slide1.xml" Id="R0f1f9f14de984fe1" /><Relationship Type="http://schemas.openxmlformats.org/officeDocument/2006/relationships/slide" Target="/ppt/slides/slide2.xml" Id="R29483ebd28bb4af2" /><Relationship Type="http://schemas.openxmlformats.org/officeDocument/2006/relationships/slide" Target="/ppt/slides/slide3.xml" Id="R2660a9c9c7fe4f05" /><Relationship Type="http://schemas.openxmlformats.org/officeDocument/2006/relationships/slide" Target="/ppt/slides/slide4.xml" Id="R846070441a5b40be" /><Relationship Type="http://schemas.openxmlformats.org/officeDocument/2006/relationships/slide" Target="/ppt/slides/slide5.xml" Id="R75822289185945a1" /><Relationship Type="http://schemas.openxmlformats.org/officeDocument/2006/relationships/slide" Target="/ppt/slides/slide6.xml" Id="Rfd98ce87840f4250" /><Relationship Type="http://schemas.openxmlformats.org/officeDocument/2006/relationships/slide" Target="/ppt/slides/slide7.xml" Id="R3707eebfd4844ae1" /><Relationship Type="http://schemas.openxmlformats.org/officeDocument/2006/relationships/slide" Target="/ppt/slides/slide8.xml" Id="R5ab3466546cb4c98" /><Relationship Type="http://schemas.openxmlformats.org/officeDocument/2006/relationships/slide" Target="/ppt/slides/slide9.xml" Id="R5e736a5ea8b3426f" /><Relationship Type="http://schemas.openxmlformats.org/officeDocument/2006/relationships/slide" Target="/ppt/slides/slide10.xml" Id="Rfbdde36a209c4656" /><Relationship Type="http://schemas.openxmlformats.org/officeDocument/2006/relationships/slide" Target="/ppt/slides/slide11.xml" Id="R6db1972938b14d9f" /><Relationship Type="http://schemas.openxmlformats.org/officeDocument/2006/relationships/slide" Target="/ppt/slides/slide12.xml" Id="R1a86d1ef378d49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404e7e0aef4a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52baab6dbf4532" /><Relationship Type="http://schemas.openxmlformats.org/officeDocument/2006/relationships/notesMaster" Target="/ppt/notesMasters/notesMaster1.xml" Id="Rad88b5a12c6e4b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ef2321ae004a21" /><Relationship Type="http://schemas.openxmlformats.org/officeDocument/2006/relationships/notesMaster" Target="/ppt/notesMasters/notesMaster1.xml" Id="R4301913ca4c843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2dad6739874892" /><Relationship Type="http://schemas.openxmlformats.org/officeDocument/2006/relationships/notesMaster" Target="/ppt/notesMasters/notesMaster1.xml" Id="R554bcc94773d47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a51734641143c5" /><Relationship Type="http://schemas.openxmlformats.org/officeDocument/2006/relationships/notesMaster" Target="/ppt/notesMasters/notesMaster1.xml" Id="R8e2c10d8df3f41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3704fcdc134025" /><Relationship Type="http://schemas.openxmlformats.org/officeDocument/2006/relationships/notesMaster" Target="/ppt/notesMasters/notesMaster1.xml" Id="R009522cb0e0348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a454cdcb2c41c0" /><Relationship Type="http://schemas.openxmlformats.org/officeDocument/2006/relationships/notesMaster" Target="/ppt/notesMasters/notesMaster1.xml" Id="R4221baf8457646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ff71f39f6e405f" /><Relationship Type="http://schemas.openxmlformats.org/officeDocument/2006/relationships/notesMaster" Target="/ppt/notesMasters/notesMaster1.xml" Id="Rfb883c1ea58241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af6449e7b24822" /><Relationship Type="http://schemas.openxmlformats.org/officeDocument/2006/relationships/notesMaster" Target="/ppt/notesMasters/notesMaster1.xml" Id="Re421620d9c4d4c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11d2da7e664418" /><Relationship Type="http://schemas.openxmlformats.org/officeDocument/2006/relationships/notesMaster" Target="/ppt/notesMasters/notesMaster1.xml" Id="Rb3f95780285647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43f4d93ba24a48" /><Relationship Type="http://schemas.openxmlformats.org/officeDocument/2006/relationships/notesMaster" Target="/ppt/notesMasters/notesMaster1.xml" Id="R23b8a7e90c384a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c87e694bb14b34" /><Relationship Type="http://schemas.openxmlformats.org/officeDocument/2006/relationships/notesMaster" Target="/ppt/notesMasters/notesMaster1.xml" Id="R5bfb1ac9228243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80658083774c80" /><Relationship Type="http://schemas.openxmlformats.org/officeDocument/2006/relationships/notesMaster" Target="/ppt/notesMasters/notesMaster1.xml" Id="Rae944e6efd7540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 for the client progress review. The photograph and logo come from the application brand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D:\echo-work\flair-perfumes\public\brand\flair-logo.png</a:t>
            </a:r>
          </a:p>
          <a:p xmlns:a="http://schemas.openxmlformats.org/drawingml/2006/main">
            <a:r>
              <a:t>D:\echo-work\flair-perfumes\public\demo\locations\harwin-store.webp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summarizes commits created from Friday 4 September through Monday 7 September in the Asia/Karachi timezone. Validation figures come from the current unit, API and production build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git log --since=2026-09-04</a:t>
            </a:r>
          </a:p>
          <a:p xmlns:a="http://schemas.openxmlformats.org/drawingml/2006/main">
            <a:r>
              <a:t>npm test</a:t>
            </a:r>
          </a:p>
          <a:p xmlns:a="http://schemas.openxmlformats.org/drawingml/2006/main">
            <a:r>
              <a:t>npm run test:api</a:t>
            </a:r>
          </a:p>
          <a:p xmlns:a="http://schemas.openxmlformats.org/drawingml/2006/main">
            <a:r>
              <a:t>npm run build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application screenshot captured after deployment on 7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D:\echo-work\flair-perfumes\tmp\client-overview-build\screenshots\core-overview.png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multi-company creation dialog. No company record was submitted while capturing this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D:\echo-work\flair-perfumes\tmp\client-overview-build\screenshots\multi-company.png</a:t>
            </a:r>
          </a:p>
          <a:p xmlns:a="http://schemas.openxmlformats.org/drawingml/2006/main">
            <a:r>
              <a:t>D:\echo-work\flair-perfumes\components\core-setup\settings-page.tsx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pricing and margins screenshot with illustrative product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D:\echo-work\flair-perfumes\tmp\client-overview-build\screenshots\pricing-margins.png</a:t>
            </a:r>
          </a:p>
          <a:p xmlns:a="http://schemas.openxmlformats.org/drawingml/2006/main">
            <a:r>
              <a:t>D:\echo-work\flair-perfumes\components\inventory\pricing-page.tsx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screenshots of the bulk import center and seeded stock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D:\echo-work\flair-perfumes\tmp\client-overview-build\screenshots\bulk-import.png</a:t>
            </a:r>
          </a:p>
          <a:p xmlns:a="http://schemas.openxmlformats.org/drawingml/2006/main">
            <a:r>
              <a:t>D:\echo-work\flair-perfumes\tmp\client-overview-build\screenshots\inventory-operations.png</a:t>
            </a:r>
          </a:p>
          <a:p xmlns:a="http://schemas.openxmlformats.org/drawingml/2006/main">
            <a:r>
              <a:t>D:\echo-work\flair-perfumes\components\inventory\tools-dialogs.tsx</a:t>
            </a:r>
          </a:p>
          <a:p xmlns:a="http://schemas.openxmlformats.org/drawingml/2006/main">
            <a:r>
              <a:t>D:\echo-work\flair-perfumes\data\inventory.ts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returns screen showing seeded linked records. The listed controls were implemented in the POS workflow between 4 and 7 September.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D:\echo-work\flair-perfumes\tmp\client-overview-build\screenshots\returns-credit-notes.png</a:t>
            </a:r>
          </a:p>
          <a:p xmlns:a="http://schemas.openxmlformats.org/drawingml/2006/main">
            <a:r>
              <a:t>D:\echo-work\flair-perfumes\components\pos\terminal-page.tsx</a:t>
            </a:r>
          </a:p>
          <a:p xmlns:a="http://schemas.openxmlformats.org/drawingml/2006/main">
            <a:r>
              <a:t>D:\echo-work\flair-perfumes\components\pos\management-pages.tsx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purchasing screenshot. Amounts are seeded demonstration values, not client accounting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D:\echo-work\flair-perfumes\tmp\client-overview-build\screenshots\purchasing-landed-cost.png</a:t>
            </a:r>
          </a:p>
          <a:p xmlns:a="http://schemas.openxmlformats.org/drawingml/2006/main">
            <a:r>
              <a:t>D:\echo-work\flair-perfumes\components\roadmap\interactive-workflows.tsx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forecast screenshot with illustrative data. Recommendations are a demo of the planned interface, not a trained production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D:\echo-work\flair-perfumes\tmp\client-overview-build\screenshots\sales-forecast.png</a:t>
            </a:r>
          </a:p>
          <a:p xmlns:a="http://schemas.openxmlformats.org/drawingml/2006/main">
            <a:r>
              <a:t>D:\echo-work\flair-perfumes\components\roadmap\interactive-workflows.tsx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finance screenshot using the client-provided split tender example. Figures are correctly derived from a $600 tax-inclusive sale at 8.25%.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D:\echo-work\flair-perfumes\tmp\client-overview-build\screenshots\finance-split-payment.png</a:t>
            </a:r>
          </a:p>
          <a:p xmlns:a="http://schemas.openxmlformats.org/drawingml/2006/main">
            <a:r>
              <a:t>D:\echo-work\flair-perfumes\components\roadmap\interactive-workflows.tsx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closing report screenshot with illustrative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D:\echo-work\flair-perfumes\tmp\client-overview-build\screenshots\closing-report.png</a:t>
            </a:r>
          </a:p>
          <a:p xmlns:a="http://schemas.openxmlformats.org/drawingml/2006/main">
            <a:r>
              <a:t>D:\echo-work\flair-perfumes\components\roadmap\interactive-workflows.tsx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The live URL points to the deployment verified after commit 4fa765e. Demo records are synthetic. Offline sync remains empty when the device has no unconfirmed payments, which represents a healthy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https://flaiur-erp.vercel.app</a:t>
            </a:r>
          </a:p>
          <a:p xmlns:a="http://schemas.openxmlformats.org/drawingml/2006/main">
            <a:r>
              <a:t>git commit 4fa765e</a:t>
            </a:r>
          </a:p>
          <a:p xmlns:a="http://schemas.openxmlformats.org/drawingml/2006/main">
            <a:r>
              <a:t>D:\echo-work\flair-perfumes\data\inventory.ts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2cb5e80b74e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4e6eefe35149d9" /><Relationship Type="http://schemas.openxmlformats.org/officeDocument/2006/relationships/slideLayout" Target="/ppt/slideLayouts/slideLayout1.xml" Id="R97503d50e21e4e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503d50e21e4e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c13eb92214f90" /><Relationship Type="http://schemas.openxmlformats.org/officeDocument/2006/relationships/image" Target="/ppt/media/image.bin" Id="Rd54c7ae634ca4242" /><Relationship Type="http://schemas.openxmlformats.org/officeDocument/2006/relationships/image" Target="/ppt/media/image.png" Id="R816613873f244e1b" /><Relationship Type="http://schemas.openxmlformats.org/officeDocument/2006/relationships/notesSlide" Target="/ppt/notesSlides/notesSlide1.xml" Id="R65e3bd361dd749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318215f404683" /><Relationship Type="http://schemas.openxmlformats.org/officeDocument/2006/relationships/notesSlide" Target="/ppt/notesSlides/notesSlide2.xml" Id="Rb81df6de6a4f4d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7678b99274118" /><Relationship Type="http://schemas.openxmlformats.org/officeDocument/2006/relationships/image" Target="/ppt/media/image.jpeg" Id="Re9bb74e362d1469d" /><Relationship Type="http://schemas.openxmlformats.org/officeDocument/2006/relationships/notesSlide" Target="/ppt/notesSlides/notesSlide3.xml" Id="Re3a69e00974a45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a524e21f14b81" /><Relationship Type="http://schemas.openxmlformats.org/officeDocument/2006/relationships/image" Target="/ppt/media/image2.jpeg" Id="R0ed6d0a6e849493c" /><Relationship Type="http://schemas.openxmlformats.org/officeDocument/2006/relationships/notesSlide" Target="/ppt/notesSlides/notesSlide4.xml" Id="R3673c691b4b64b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fea0270094c77" /><Relationship Type="http://schemas.openxmlformats.org/officeDocument/2006/relationships/image" Target="/ppt/media/image3.jpeg" Id="Rca7ac4e885a94b2b" /><Relationship Type="http://schemas.openxmlformats.org/officeDocument/2006/relationships/notesSlide" Target="/ppt/notesSlides/notesSlide5.xml" Id="R43d8c0901c5345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ca9e08b194a74" /><Relationship Type="http://schemas.openxmlformats.org/officeDocument/2006/relationships/image" Target="/ppt/media/image4.jpeg" Id="Re99b0a077ed34f9d" /><Relationship Type="http://schemas.openxmlformats.org/officeDocument/2006/relationships/image" Target="/ppt/media/image5.jpeg" Id="R8a0b3f2715434c82" /><Relationship Type="http://schemas.openxmlformats.org/officeDocument/2006/relationships/notesSlide" Target="/ppt/notesSlides/notesSlide6.xml" Id="R05dbbb5f523042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abe13f8d14f57" /><Relationship Type="http://schemas.openxmlformats.org/officeDocument/2006/relationships/image" Target="/ppt/media/image6.jpeg" Id="R5a1a56301c5f48b4" /><Relationship Type="http://schemas.openxmlformats.org/officeDocument/2006/relationships/notesSlide" Target="/ppt/notesSlides/notesSlide7.xml" Id="Ree0475791b1041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d30bcae0c4a41" /><Relationship Type="http://schemas.openxmlformats.org/officeDocument/2006/relationships/image" Target="/ppt/media/image7.jpeg" Id="R16e625a792474186" /><Relationship Type="http://schemas.openxmlformats.org/officeDocument/2006/relationships/notesSlide" Target="/ppt/notesSlides/notesSlide8.xml" Id="R3385f9cb94a74c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cbe4d78b34f45" /><Relationship Type="http://schemas.openxmlformats.org/officeDocument/2006/relationships/image" Target="/ppt/media/image8.jpeg" Id="R213185fe21494470" /><Relationship Type="http://schemas.openxmlformats.org/officeDocument/2006/relationships/notesSlide" Target="/ppt/notesSlides/notesSlide9.xml" Id="Rdcf8bb0364fb49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ad58aacde4173" /><Relationship Type="http://schemas.openxmlformats.org/officeDocument/2006/relationships/image" Target="/ppt/media/image9.jpeg" Id="R3e8523a70e27468b" /><Relationship Type="http://schemas.openxmlformats.org/officeDocument/2006/relationships/notesSlide" Target="/ppt/notesSlides/notesSlide10.xml" Id="Re0576160fdae41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61eda9d26430c" /><Relationship Type="http://schemas.openxmlformats.org/officeDocument/2006/relationships/image" Target="/ppt/media/image10.jpeg" Id="R9bb02cf9be3e42b2" /><Relationship Type="http://schemas.openxmlformats.org/officeDocument/2006/relationships/notesSlide" Target="/ppt/notesSlides/notesSlide11.xml" Id="Re062f7c6856242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aa6d41bab4f15" /><Relationship Type="http://schemas.openxmlformats.org/officeDocument/2006/relationships/notesSlide" Target="/ppt/notesSlides/notesSlide12.xml" Id="R5c7085f6aa1142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28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c7ae634ca4242"/>
          <a:srcRect xmlns:a="http://schemas.openxmlformats.org/drawingml/2006/main" l="27865" t="0" r="278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613873f244e1b"/>
          <a:stretch xmlns:a="http://schemas.openxmlformats.org/drawingml/2006/main"/>
        </p:blipFill>
        <p:spPr>
          <a:xfrm xmlns:a="http://schemas.openxmlformats.org/drawingml/2006/main">
            <a:off x="691579" y="400050"/>
            <a:ext cx="2350643" cy="1219200"/>
          </a:xfrm>
          <a:prstGeom xmlns:a="http://schemas.openxmlformats.org/drawingml/2006/main" prst="roundRect">
            <a:avLst>
              <a:gd name="adj" fmla="val 9375"/>
            </a:avLst>
          </a:prstGeom>
        </p:spPr>
      </p:pic>
      <p:sp>
        <p:nvSpPr>
          <p:cNvPr id="3" name="surface-2">
            <a:extLst xmlns:a="http://schemas.openxmlformats.org/drawingml/2006/main">
              <a:ext uri="{FF2B5EF4-FFF2-40B4-BE49-F238E27FC236}">
                <a16:creationId xmlns:a16="http://schemas.microsoft.com/office/drawing/2014/main" id="{5134BB7D-B0B3-4C87-AE48-B56A83D3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CLIENT PROGRESS REVIEW</a:t>
            </a:r>
          </a:p>
        </p:txBody>
      </p:sp>
      <p:sp>
        <p:nvSpPr>
          <p:cNvPr id="4" name="surface-3">
            <a:extLst xmlns:a="http://schemas.openxmlformats.org/drawingml/2006/main">
              <a:ext uri="{FF2B5EF4-FFF2-40B4-BE49-F238E27FC236}">
                <a16:creationId xmlns:a16="http://schemas.microsoft.com/office/drawing/2014/main" id="{51672BCC-636E-4D36-B0A2-E055330A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619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Flair ERP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Friday to now</a:t>
            </a:r>
          </a:p>
        </p:txBody>
      </p:sp>
      <p:sp>
        <p:nvSpPr>
          <p:cNvPr id="5" name="surface-4">
            <a:extLst xmlns:a="http://schemas.openxmlformats.org/drawingml/2006/main">
              <a:ext uri="{FF2B5EF4-FFF2-40B4-BE49-F238E27FC236}">
                <a16:creationId xmlns:a16="http://schemas.microsoft.com/office/drawing/2014/main" id="{1CFC5C8F-22FB-451E-B633-B1C092CF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7D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9D7D4"/>
                </a:solidFill>
                <a:latin typeface="Aptos"/>
                <a:ea typeface="Aptos"/>
                <a:cs typeface="Aptos"/>
              </a:rPr>
              <a:t>Working Phase One flows, complete demo data and interactive previews for finance, forecasting and operations.</a:t>
            </a:r>
          </a:p>
        </p:txBody>
      </p:sp>
      <p:sp>
        <p:nvSpPr>
          <p:cNvPr id="6" name="surface-5">
            <a:extLst xmlns:a="http://schemas.openxmlformats.org/drawingml/2006/main">
              <a:ext uri="{FF2B5EF4-FFF2-40B4-BE49-F238E27FC236}">
                <a16:creationId xmlns:a16="http://schemas.microsoft.com/office/drawing/2014/main" id="{3991EC92-701D-4C60-ADC3-79100E6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rface-6">
            <a:extLst xmlns:a="http://schemas.openxmlformats.org/drawingml/2006/main">
              <a:ext uri="{FF2B5EF4-FFF2-40B4-BE49-F238E27FC236}">
                <a16:creationId xmlns:a16="http://schemas.microsoft.com/office/drawing/2014/main" id="{5A55A559-360D-4B24-BDCA-7BADDF0E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9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9C7"/>
                </a:solidFill>
                <a:latin typeface="Aptos"/>
                <a:ea typeface="Aptos"/>
                <a:cs typeface="Aptos"/>
              </a:rPr>
              <a:t>Prepared 7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72401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-7">
            <a:extLst xmlns:a="http://schemas.openxmlformats.org/drawingml/2006/main">
              <a:ext uri="{FF2B5EF4-FFF2-40B4-BE49-F238E27FC236}">
                <a16:creationId xmlns:a16="http://schemas.microsoft.com/office/drawing/2014/main" id="{C84A790C-5B43-4B0E-9477-3C681468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02</a:t>
            </a:r>
          </a:p>
        </p:txBody>
      </p:sp>
      <p:sp>
        <p:nvSpPr>
          <p:cNvPr id="2" name="surface-8">
            <a:extLst xmlns:a="http://schemas.openxmlformats.org/drawingml/2006/main">
              <a:ext uri="{FF2B5EF4-FFF2-40B4-BE49-F238E27FC236}">
                <a16:creationId xmlns:a16="http://schemas.microsoft.com/office/drawing/2014/main" id="{9E96EA5C-701E-40BF-B5D8-9CEACEF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Friday feedback became a working client demo</a:t>
            </a:r>
          </a:p>
        </p:txBody>
      </p:sp>
      <p:sp>
        <p:nvSpPr>
          <p:cNvPr id="3" name="surface-9">
            <a:extLst xmlns:a="http://schemas.openxmlformats.org/drawingml/2006/main">
              <a:ext uri="{FF2B5EF4-FFF2-40B4-BE49-F238E27FC236}">
                <a16:creationId xmlns:a16="http://schemas.microsoft.com/office/drawing/2014/main" id="{E5B973B2-7621-48DA-B7CC-BFCB3D66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Nine production commits moved the application from static coverage to connected, testable workflows.</a:t>
            </a:r>
          </a:p>
        </p:txBody>
      </p:sp>
      <p:sp>
        <p:nvSpPr>
          <p:cNvPr id="4" name="surface-10">
            <a:extLst xmlns:a="http://schemas.openxmlformats.org/drawingml/2006/main">
              <a:ext uri="{FF2B5EF4-FFF2-40B4-BE49-F238E27FC236}">
                <a16:creationId xmlns:a16="http://schemas.microsoft.com/office/drawing/2014/main" id="{D1F5AA1C-228F-420E-A8C0-B9E7498E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1">
            <a:extLst xmlns:a="http://schemas.openxmlformats.org/drawingml/2006/main">
              <a:ext uri="{FF2B5EF4-FFF2-40B4-BE49-F238E27FC236}">
                <a16:creationId xmlns:a16="http://schemas.microsoft.com/office/drawing/2014/main" id="{6921F393-F1CC-4689-B02C-9598DD61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2">
            <a:extLst xmlns:a="http://schemas.openxmlformats.org/drawingml/2006/main">
              <a:ext uri="{FF2B5EF4-FFF2-40B4-BE49-F238E27FC236}">
                <a16:creationId xmlns:a16="http://schemas.microsoft.com/office/drawing/2014/main" id="{29A5C00F-7B82-43D6-B0CF-E66A9259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surface-13">
            <a:extLst xmlns:a="http://schemas.openxmlformats.org/drawingml/2006/main">
              <a:ext uri="{FF2B5EF4-FFF2-40B4-BE49-F238E27FC236}">
                <a16:creationId xmlns:a16="http://schemas.microsoft.com/office/drawing/2014/main" id="{38456B85-B9CB-49CF-99E6-D3CA491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rface-14">
            <a:extLst xmlns:a="http://schemas.openxmlformats.org/drawingml/2006/main">
              <a:ext uri="{FF2B5EF4-FFF2-40B4-BE49-F238E27FC236}">
                <a16:creationId xmlns:a16="http://schemas.microsoft.com/office/drawing/2014/main" id="{8D1407A7-A0F4-4C0D-971B-41A440F0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rface-15">
            <a:extLst xmlns:a="http://schemas.openxmlformats.org/drawingml/2006/main">
              <a:ext uri="{FF2B5EF4-FFF2-40B4-BE49-F238E27FC236}">
                <a16:creationId xmlns:a16="http://schemas.microsoft.com/office/drawing/2014/main" id="{9425FBE1-99D3-4879-A6D4-91490B15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FRI 04 SEP</a:t>
            </a:r>
          </a:p>
        </p:txBody>
      </p:sp>
      <p:sp>
        <p:nvSpPr>
          <p:cNvPr id="10" name="surface-16">
            <a:extLst xmlns:a="http://schemas.openxmlformats.org/drawingml/2006/main">
              <a:ext uri="{FF2B5EF4-FFF2-40B4-BE49-F238E27FC236}">
                <a16:creationId xmlns:a16="http://schemas.microsoft.com/office/drawing/2014/main" id="{8D719CA4-7F2E-4EAE-98D8-0AF99FF4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Client priorities</a:t>
            </a:r>
          </a:p>
        </p:txBody>
      </p:sp>
      <p:sp>
        <p:nvSpPr>
          <p:cNvPr id="11" name="surface-17">
            <a:extLst xmlns:a="http://schemas.openxmlformats.org/drawingml/2006/main">
              <a:ext uri="{FF2B5EF4-FFF2-40B4-BE49-F238E27FC236}">
                <a16:creationId xmlns:a16="http://schemas.microsoft.com/office/drawing/2014/main" id="{1246B02F-7079-435E-ABD8-9FA9CF72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247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Retail discounting, returns, refunds, customer follow-up, hold and recall, closing reports.</a:t>
            </a:r>
          </a:p>
        </p:txBody>
      </p:sp>
      <p:sp>
        <p:nvSpPr>
          <p:cNvPr id="12" name="surface-18">
            <a:extLst xmlns:a="http://schemas.openxmlformats.org/drawingml/2006/main">
              <a:ext uri="{FF2B5EF4-FFF2-40B4-BE49-F238E27FC236}">
                <a16:creationId xmlns:a16="http://schemas.microsoft.com/office/drawing/2014/main" id="{F15B7638-3428-44C4-A764-BC607CD9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62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rface-19">
            <a:extLst xmlns:a="http://schemas.openxmlformats.org/drawingml/2006/main">
              <a:ext uri="{FF2B5EF4-FFF2-40B4-BE49-F238E27FC236}">
                <a16:creationId xmlns:a16="http://schemas.microsoft.com/office/drawing/2014/main" id="{42189672-6CFD-4671-99A6-5AA6502D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WEEKEND</a:t>
            </a:r>
          </a:p>
        </p:txBody>
      </p:sp>
      <p:sp>
        <p:nvSpPr>
          <p:cNvPr id="14" name="surface-20">
            <a:extLst xmlns:a="http://schemas.openxmlformats.org/drawingml/2006/main">
              <a:ext uri="{FF2B5EF4-FFF2-40B4-BE49-F238E27FC236}">
                <a16:creationId xmlns:a16="http://schemas.microsoft.com/office/drawing/2014/main" id="{EB63081C-1E39-40EA-9FA4-7EDFA817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9567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Operational controls</a:t>
            </a:r>
          </a:p>
        </p:txBody>
      </p:sp>
      <p:sp>
        <p:nvSpPr>
          <p:cNvPr id="15" name="surface-21">
            <a:extLst xmlns:a="http://schemas.openxmlformats.org/drawingml/2006/main">
              <a:ext uri="{FF2B5EF4-FFF2-40B4-BE49-F238E27FC236}">
                <a16:creationId xmlns:a16="http://schemas.microsoft.com/office/drawing/2014/main" id="{677EEB59-BF49-4409-A726-08B61D2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05275"/>
            <a:ext cx="2247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POS history, invoice-linked returns, store credit, shifts, 8.25% tax and safer Vercel storage.</a:t>
            </a:r>
          </a:p>
        </p:txBody>
      </p:sp>
      <p:sp>
        <p:nvSpPr>
          <p:cNvPr id="16" name="surface-22">
            <a:extLst xmlns:a="http://schemas.openxmlformats.org/drawingml/2006/main">
              <a:ext uri="{FF2B5EF4-FFF2-40B4-BE49-F238E27FC236}">
                <a16:creationId xmlns:a16="http://schemas.microsoft.com/office/drawing/2014/main" id="{227A6710-F080-4060-8C5A-BF68ABAC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rface-23">
            <a:extLst xmlns:a="http://schemas.openxmlformats.org/drawingml/2006/main">
              <a:ext uri="{FF2B5EF4-FFF2-40B4-BE49-F238E27FC236}">
                <a16:creationId xmlns:a16="http://schemas.microsoft.com/office/drawing/2014/main" id="{663D8B6A-59E4-4364-9D83-0AC755D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623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MON 07 SEP</a:t>
            </a:r>
          </a:p>
        </p:txBody>
      </p:sp>
      <p:sp>
        <p:nvSpPr>
          <p:cNvPr id="18" name="surface-24">
            <a:extLst xmlns:a="http://schemas.openxmlformats.org/drawingml/2006/main">
              <a:ext uri="{FF2B5EF4-FFF2-40B4-BE49-F238E27FC236}">
                <a16:creationId xmlns:a16="http://schemas.microsoft.com/office/drawing/2014/main" id="{F24C57BB-5270-4092-B8CD-9E19CB3C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9567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Commercial workflows</a:t>
            </a:r>
          </a:p>
        </p:txBody>
      </p:sp>
      <p:sp>
        <p:nvSpPr>
          <p:cNvPr id="19" name="surface-25">
            <a:extLst xmlns:a="http://schemas.openxmlformats.org/drawingml/2006/main">
              <a:ext uri="{FF2B5EF4-FFF2-40B4-BE49-F238E27FC236}">
                <a16:creationId xmlns:a16="http://schemas.microsoft.com/office/drawing/2014/main" id="{BCBAAA3D-2179-45B3-9EC4-EB52AA35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2247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Split tender, margin tiers, bulk import, multi-company setup and modules 04 to 09.</a:t>
            </a:r>
          </a:p>
        </p:txBody>
      </p:sp>
      <p:sp>
        <p:nvSpPr>
          <p:cNvPr id="20" name="surface-26">
            <a:extLst xmlns:a="http://schemas.openxmlformats.org/drawingml/2006/main">
              <a:ext uri="{FF2B5EF4-FFF2-40B4-BE49-F238E27FC236}">
                <a16:creationId xmlns:a16="http://schemas.microsoft.com/office/drawing/2014/main" id="{50F4A6D6-DC1A-4D27-8168-17061BB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62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37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-27">
            <a:extLst xmlns:a="http://schemas.openxmlformats.org/drawingml/2006/main">
              <a:ext uri="{FF2B5EF4-FFF2-40B4-BE49-F238E27FC236}">
                <a16:creationId xmlns:a16="http://schemas.microsoft.com/office/drawing/2014/main" id="{16EC5867-FF40-4D27-9D9B-BB917D34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LIVE NOW</a:t>
            </a:r>
          </a:p>
        </p:txBody>
      </p:sp>
      <p:sp>
        <p:nvSpPr>
          <p:cNvPr id="22" name="surface-28">
            <a:extLst xmlns:a="http://schemas.openxmlformats.org/drawingml/2006/main">
              <a:ext uri="{FF2B5EF4-FFF2-40B4-BE49-F238E27FC236}">
                <a16:creationId xmlns:a16="http://schemas.microsoft.com/office/drawing/2014/main" id="{41813131-6C5C-49B2-BD1B-75F0EA96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9567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Client-ready data</a:t>
            </a:r>
          </a:p>
        </p:txBody>
      </p:sp>
      <p:sp>
        <p:nvSpPr>
          <p:cNvPr id="23" name="surface-29">
            <a:extLst xmlns:a="http://schemas.openxmlformats.org/drawingml/2006/main">
              <a:ext uri="{FF2B5EF4-FFF2-40B4-BE49-F238E27FC236}">
                <a16:creationId xmlns:a16="http://schemas.microsoft.com/office/drawing/2014/main" id="{360E620E-51A5-4B9A-9539-328C70DA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05275"/>
            <a:ext cx="2247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Interactive purchasing, finance, forecasting and populated operational records.</a:t>
            </a:r>
          </a:p>
        </p:txBody>
      </p:sp>
      <p:sp>
        <p:nvSpPr>
          <p:cNvPr id="24" name="surface-30">
            <a:extLst xmlns:a="http://schemas.openxmlformats.org/drawingml/2006/main">
              <a:ext uri="{FF2B5EF4-FFF2-40B4-BE49-F238E27FC236}">
                <a16:creationId xmlns:a16="http://schemas.microsoft.com/office/drawing/2014/main" id="{B458656C-4C0E-437E-A35E-6BAC65D2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25" name="surface-31">
            <a:extLst xmlns:a="http://schemas.openxmlformats.org/drawingml/2006/main">
              <a:ext uri="{FF2B5EF4-FFF2-40B4-BE49-F238E27FC236}">
                <a16:creationId xmlns:a16="http://schemas.microsoft.com/office/drawing/2014/main" id="{6936EAD4-51A3-4490-B46C-9FC921E9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29275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unit checks</a:t>
            </a:r>
          </a:p>
        </p:txBody>
      </p:sp>
      <p:sp>
        <p:nvSpPr>
          <p:cNvPr id="26" name="surface-32">
            <a:extLst xmlns:a="http://schemas.openxmlformats.org/drawingml/2006/main">
              <a:ext uri="{FF2B5EF4-FFF2-40B4-BE49-F238E27FC236}">
                <a16:creationId xmlns:a16="http://schemas.microsoft.com/office/drawing/2014/main" id="{6F571883-A0E4-4914-B368-D119258B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534025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27" name="surface-33">
            <a:extLst xmlns:a="http://schemas.openxmlformats.org/drawingml/2006/main">
              <a:ext uri="{FF2B5EF4-FFF2-40B4-BE49-F238E27FC236}">
                <a16:creationId xmlns:a16="http://schemas.microsoft.com/office/drawing/2014/main" id="{64A2367F-5AA9-4930-AE20-3D55F485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629275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API checks</a:t>
            </a:r>
          </a:p>
        </p:txBody>
      </p:sp>
      <p:sp>
        <p:nvSpPr>
          <p:cNvPr id="28" name="surface-34">
            <a:extLst xmlns:a="http://schemas.openxmlformats.org/drawingml/2006/main">
              <a:ext uri="{FF2B5EF4-FFF2-40B4-BE49-F238E27FC236}">
                <a16:creationId xmlns:a16="http://schemas.microsoft.com/office/drawing/2014/main" id="{B757B5F3-5F86-480F-A407-66F091BD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29" name="surface-35">
            <a:extLst xmlns:a="http://schemas.openxmlformats.org/drawingml/2006/main">
              <a:ext uri="{FF2B5EF4-FFF2-40B4-BE49-F238E27FC236}">
                <a16:creationId xmlns:a16="http://schemas.microsoft.com/office/drawing/2014/main" id="{A5A38F9F-0F6E-4D4F-8CF0-2E669EE0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292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built routes</a:t>
            </a:r>
          </a:p>
        </p:txBody>
      </p:sp>
    </p:spTree>
    <p:extLst>
      <p:ext uri="{BB962C8B-B14F-4D97-AF65-F5344CB8AC3E}">
        <p14:creationId xmlns:p14="http://schemas.microsoft.com/office/powerpoint/2010/main" val="911336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-36">
            <a:extLst xmlns:a="http://schemas.openxmlformats.org/drawingml/2006/main">
              <a:ext uri="{FF2B5EF4-FFF2-40B4-BE49-F238E27FC236}">
                <a16:creationId xmlns:a16="http://schemas.microsoft.com/office/drawing/2014/main" id="{FB1292BB-3401-44FB-8465-87659506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03</a:t>
            </a:r>
          </a:p>
        </p:txBody>
      </p:sp>
      <p:sp>
        <p:nvSpPr>
          <p:cNvPr id="2" name="surface-37">
            <a:extLst xmlns:a="http://schemas.openxmlformats.org/drawingml/2006/main">
              <a:ext uri="{FF2B5EF4-FFF2-40B4-BE49-F238E27FC236}">
                <a16:creationId xmlns:a16="http://schemas.microsoft.com/office/drawing/2014/main" id="{5FB6BC60-6476-4445-859F-8E79E9FB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Phase One now gives the client a clear starting path</a:t>
            </a:r>
          </a:p>
        </p:txBody>
      </p:sp>
      <p:sp>
        <p:nvSpPr>
          <p:cNvPr id="3" name="surface-38">
            <a:extLst xmlns:a="http://schemas.openxmlformats.org/drawingml/2006/main">
              <a:ext uri="{FF2B5EF4-FFF2-40B4-BE49-F238E27FC236}">
                <a16:creationId xmlns:a16="http://schemas.microsoft.com/office/drawing/2014/main" id="{215CAEDB-8890-4271-A2E9-AA912857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overview points directly to four working demonstrations instead of leaving the client to explore without context.</a:t>
            </a:r>
          </a:p>
        </p:txBody>
      </p:sp>
      <p:sp>
        <p:nvSpPr>
          <p:cNvPr id="4" name="surface-39">
            <a:extLst xmlns:a="http://schemas.openxmlformats.org/drawingml/2006/main">
              <a:ext uri="{FF2B5EF4-FFF2-40B4-BE49-F238E27FC236}">
                <a16:creationId xmlns:a16="http://schemas.microsoft.com/office/drawing/2014/main" id="{2F7CD414-9048-42A7-B33A-A7FEBE6B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40">
            <a:extLst xmlns:a="http://schemas.openxmlformats.org/drawingml/2006/main">
              <a:ext uri="{FF2B5EF4-FFF2-40B4-BE49-F238E27FC236}">
                <a16:creationId xmlns:a16="http://schemas.microsoft.com/office/drawing/2014/main" id="{68101F0F-904E-4A9D-A4CF-80DDC97C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41">
            <a:extLst xmlns:a="http://schemas.openxmlformats.org/drawingml/2006/main">
              <a:ext uri="{FF2B5EF4-FFF2-40B4-BE49-F238E27FC236}">
                <a16:creationId xmlns:a16="http://schemas.microsoft.com/office/drawing/2014/main" id="{85B7683B-7115-4ADC-BE93-969C3402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b74e362d1469d"/>
          <a:srcRect xmlns:a="http://schemas.openxmlformats.org/drawingml/2006/main" l="10926" t="0" r="10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5247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8" name="surface-43">
            <a:extLst xmlns:a="http://schemas.openxmlformats.org/drawingml/2006/main">
              <a:ext uri="{FF2B5EF4-FFF2-40B4-BE49-F238E27FC236}">
                <a16:creationId xmlns:a16="http://schemas.microsoft.com/office/drawing/2014/main" id="{33EF7553-C6C5-4F3C-AD40-A551AC3B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CHANGE MADE</a:t>
            </a:r>
          </a:p>
        </p:txBody>
      </p:sp>
      <p:sp>
        <p:nvSpPr>
          <p:cNvPr id="9" name="surface-44">
            <a:extLst xmlns:a="http://schemas.openxmlformats.org/drawingml/2006/main">
              <a:ext uri="{FF2B5EF4-FFF2-40B4-BE49-F238E27FC236}">
                <a16:creationId xmlns:a16="http://schemas.microsoft.com/office/drawing/2014/main" id="{419BC001-DA8B-4BA9-9CC7-DF827386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57425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A guided sequence covers split tender, product margins, bulk import and company setup.</a:t>
            </a:r>
          </a:p>
        </p:txBody>
      </p:sp>
      <p:sp>
        <p:nvSpPr>
          <p:cNvPr id="10" name="surface-45">
            <a:extLst xmlns:a="http://schemas.openxmlformats.org/drawingml/2006/main">
              <a:ext uri="{FF2B5EF4-FFF2-40B4-BE49-F238E27FC236}">
                <a16:creationId xmlns:a16="http://schemas.microsoft.com/office/drawing/2014/main" id="{A73AA6E0-7EB1-4B98-A387-1FB57B6C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PROBLEM SOLVED</a:t>
            </a:r>
          </a:p>
        </p:txBody>
      </p:sp>
      <p:sp>
        <p:nvSpPr>
          <p:cNvPr id="11" name="surface-46">
            <a:extLst xmlns:a="http://schemas.openxmlformats.org/drawingml/2006/main">
              <a:ext uri="{FF2B5EF4-FFF2-40B4-BE49-F238E27FC236}">
                <a16:creationId xmlns:a16="http://schemas.microsoft.com/office/drawing/2014/main" id="{6446902C-182E-4648-9D66-A9E3B324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meeting has an obvious route. Every step opens the exact screen the presenter needs.</a:t>
            </a:r>
          </a:p>
        </p:txBody>
      </p:sp>
      <p:sp>
        <p:nvSpPr>
          <p:cNvPr id="12" name="surface-47">
            <a:extLst xmlns:a="http://schemas.openxmlformats.org/drawingml/2006/main">
              <a:ext uri="{FF2B5EF4-FFF2-40B4-BE49-F238E27FC236}">
                <a16:creationId xmlns:a16="http://schemas.microsoft.com/office/drawing/2014/main" id="{C7E76911-F888-4569-BE2D-9EC65ED5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53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Core Setup  ·  Inventory  ·  Retail POS</a:t>
            </a:r>
          </a:p>
        </p:txBody>
      </p:sp>
    </p:spTree>
    <p:extLst>
      <p:ext uri="{BB962C8B-B14F-4D97-AF65-F5344CB8AC3E}">
        <p14:creationId xmlns:p14="http://schemas.microsoft.com/office/powerpoint/2010/main" val="59159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-48">
            <a:extLst xmlns:a="http://schemas.openxmlformats.org/drawingml/2006/main">
              <a:ext uri="{FF2B5EF4-FFF2-40B4-BE49-F238E27FC236}">
                <a16:creationId xmlns:a16="http://schemas.microsoft.com/office/drawing/2014/main" id="{58413247-9104-4A8C-B7FC-3F9946A4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04</a:t>
            </a:r>
          </a:p>
        </p:txBody>
      </p:sp>
      <p:sp>
        <p:nvSpPr>
          <p:cNvPr id="2" name="surface-49">
            <a:extLst xmlns:a="http://schemas.openxmlformats.org/drawingml/2006/main">
              <a:ext uri="{FF2B5EF4-FFF2-40B4-BE49-F238E27FC236}">
                <a16:creationId xmlns:a16="http://schemas.microsoft.com/office/drawing/2014/main" id="{16818872-672A-4DD6-869F-F6C0D208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A second company starts from proven Flair settings</a:t>
            </a:r>
          </a:p>
        </p:txBody>
      </p:sp>
      <p:sp>
        <p:nvSpPr>
          <p:cNvPr id="3" name="surface-50">
            <a:extLst xmlns:a="http://schemas.openxmlformats.org/drawingml/2006/main">
              <a:ext uri="{FF2B5EF4-FFF2-40B4-BE49-F238E27FC236}">
                <a16:creationId xmlns:a16="http://schemas.microsoft.com/office/drawing/2014/main" id="{BB5314E5-1A7E-49D7-BE04-5BC972F1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new workspace keeps its own identity while copying regional and operating defaults from the current company.</a:t>
            </a:r>
          </a:p>
        </p:txBody>
      </p:sp>
      <p:sp>
        <p:nvSpPr>
          <p:cNvPr id="4" name="surface-51">
            <a:extLst xmlns:a="http://schemas.openxmlformats.org/drawingml/2006/main">
              <a:ext uri="{FF2B5EF4-FFF2-40B4-BE49-F238E27FC236}">
                <a16:creationId xmlns:a16="http://schemas.microsoft.com/office/drawing/2014/main" id="{81B5A77D-1626-45B0-ADB7-0119D436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52">
            <a:extLst xmlns:a="http://schemas.openxmlformats.org/drawingml/2006/main">
              <a:ext uri="{FF2B5EF4-FFF2-40B4-BE49-F238E27FC236}">
                <a16:creationId xmlns:a16="http://schemas.microsoft.com/office/drawing/2014/main" id="{DFFCBD2D-884D-4897-A90B-F5FF6AAD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53">
            <a:extLst xmlns:a="http://schemas.openxmlformats.org/drawingml/2006/main">
              <a:ext uri="{FF2B5EF4-FFF2-40B4-BE49-F238E27FC236}">
                <a16:creationId xmlns:a16="http://schemas.microsoft.com/office/drawing/2014/main" id="{2B82B3DD-AE5D-4B1A-B262-FFFD97AE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6d0a6e849493c"/>
          <a:srcRect xmlns:a="http://schemas.openxmlformats.org/drawingml/2006/main" l="14493" t="0" r="144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762125"/>
            <a:ext cx="689610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8" name="surface-55">
            <a:extLst xmlns:a="http://schemas.openxmlformats.org/drawingml/2006/main">
              <a:ext uri="{FF2B5EF4-FFF2-40B4-BE49-F238E27FC236}">
                <a16:creationId xmlns:a16="http://schemas.microsoft.com/office/drawing/2014/main" id="{AF586D9E-F957-4119-BB13-E563F5BB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surface-56">
            <a:extLst xmlns:a="http://schemas.openxmlformats.org/drawingml/2006/main">
              <a:ext uri="{FF2B5EF4-FFF2-40B4-BE49-F238E27FC236}">
                <a16:creationId xmlns:a16="http://schemas.microsoft.com/office/drawing/2014/main" id="{59839106-4EC4-40D2-98B9-DA66774A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325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Required identity</a:t>
            </a:r>
          </a:p>
        </p:txBody>
      </p:sp>
      <p:sp>
        <p:nvSpPr>
          <p:cNvPr id="10" name="surface-57">
            <a:extLst xmlns:a="http://schemas.openxmlformats.org/drawingml/2006/main">
              <a:ext uri="{FF2B5EF4-FFF2-40B4-BE49-F238E27FC236}">
                <a16:creationId xmlns:a16="http://schemas.microsoft.com/office/drawing/2014/main" id="{2238239C-8206-4945-9049-CD0D6FF8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Name, code, contact and address fields keep each company distinct.</a:t>
            </a:r>
          </a:p>
        </p:txBody>
      </p:sp>
      <p:sp>
        <p:nvSpPr>
          <p:cNvPr id="11" name="surface-58">
            <a:extLst xmlns:a="http://schemas.openxmlformats.org/drawingml/2006/main">
              <a:ext uri="{FF2B5EF4-FFF2-40B4-BE49-F238E27FC236}">
                <a16:creationId xmlns:a16="http://schemas.microsoft.com/office/drawing/2014/main" id="{4B942FA7-4597-4B74-8326-5ECF87B0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surface-59">
            <a:extLst xmlns:a="http://schemas.openxmlformats.org/drawingml/2006/main">
              <a:ext uri="{FF2B5EF4-FFF2-40B4-BE49-F238E27FC236}">
                <a16:creationId xmlns:a16="http://schemas.microsoft.com/office/drawing/2014/main" id="{74EAC7C4-2D82-41B4-B07A-3C98F7E8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325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Faster setup</a:t>
            </a:r>
          </a:p>
        </p:txBody>
      </p:sp>
      <p:sp>
        <p:nvSpPr>
          <p:cNvPr id="13" name="surface-60">
            <a:extLst xmlns:a="http://schemas.openxmlformats.org/drawingml/2006/main">
              <a:ext uri="{FF2B5EF4-FFF2-40B4-BE49-F238E27FC236}">
                <a16:creationId xmlns:a16="http://schemas.microsoft.com/office/drawing/2014/main" id="{0108D98D-90B5-4F8A-ABCF-7F79C4F5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Regional formats, branding and notification defaults copy from the active company.</a:t>
            </a:r>
          </a:p>
        </p:txBody>
      </p:sp>
      <p:sp>
        <p:nvSpPr>
          <p:cNvPr id="14" name="surface-61">
            <a:extLst xmlns:a="http://schemas.openxmlformats.org/drawingml/2006/main">
              <a:ext uri="{FF2B5EF4-FFF2-40B4-BE49-F238E27FC236}">
                <a16:creationId xmlns:a16="http://schemas.microsoft.com/office/drawing/2014/main" id="{3692C30B-B69F-47E7-AC0C-25EB4D79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surface-62">
            <a:extLst xmlns:a="http://schemas.openxmlformats.org/drawingml/2006/main">
              <a:ext uri="{FF2B5EF4-FFF2-40B4-BE49-F238E27FC236}">
                <a16:creationId xmlns:a16="http://schemas.microsoft.com/office/drawing/2014/main" id="{C1424986-0703-4F2C-B448-EA7E841E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325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Independent control</a:t>
            </a:r>
          </a:p>
        </p:txBody>
      </p:sp>
      <p:sp>
        <p:nvSpPr>
          <p:cNvPr id="16" name="surface-63">
            <a:extLst xmlns:a="http://schemas.openxmlformats.org/drawingml/2006/main">
              <a:ext uri="{FF2B5EF4-FFF2-40B4-BE49-F238E27FC236}">
                <a16:creationId xmlns:a16="http://schemas.microsoft.com/office/drawing/2014/main" id="{CFEC2752-AED9-4932-B7AA-7F6C066A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user can switch the active company and maintain its profile separately.</a:t>
            </a:r>
          </a:p>
        </p:txBody>
      </p:sp>
    </p:spTree>
    <p:extLst>
      <p:ext uri="{BB962C8B-B14F-4D97-AF65-F5344CB8AC3E}">
        <p14:creationId xmlns:p14="http://schemas.microsoft.com/office/powerpoint/2010/main" val="1571706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-64">
            <a:extLst xmlns:a="http://schemas.openxmlformats.org/drawingml/2006/main">
              <a:ext uri="{FF2B5EF4-FFF2-40B4-BE49-F238E27FC236}">
                <a16:creationId xmlns:a16="http://schemas.microsoft.com/office/drawing/2014/main" id="{DEE6FCFF-7C73-416A-97E6-E35B220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05</a:t>
            </a:r>
          </a:p>
        </p:txBody>
      </p:sp>
      <p:sp>
        <p:nvSpPr>
          <p:cNvPr id="2" name="surface-65">
            <a:extLst xmlns:a="http://schemas.openxmlformats.org/drawingml/2006/main">
              <a:ext uri="{FF2B5EF4-FFF2-40B4-BE49-F238E27FC236}">
                <a16:creationId xmlns:a16="http://schemas.microsoft.com/office/drawing/2014/main" id="{AFE6E379-D3BD-4301-B183-0534FBF8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Every product shows the margin for each sales channel</a:t>
            </a:r>
          </a:p>
        </p:txBody>
      </p:sp>
      <p:sp>
        <p:nvSpPr>
          <p:cNvPr id="3" name="surface-66">
            <a:extLst xmlns:a="http://schemas.openxmlformats.org/drawingml/2006/main">
              <a:ext uri="{FF2B5EF4-FFF2-40B4-BE49-F238E27FC236}">
                <a16:creationId xmlns:a16="http://schemas.microsoft.com/office/drawing/2014/main" id="{C26183BC-8318-4714-AC95-AADC08ED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Retail, wholesale, e-commerce and VIP prices use the same average cost, with gross profit and margin visible by SKU.</a:t>
            </a:r>
          </a:p>
        </p:txBody>
      </p:sp>
      <p:sp>
        <p:nvSpPr>
          <p:cNvPr id="4" name="surface-67">
            <a:extLst xmlns:a="http://schemas.openxmlformats.org/drawingml/2006/main">
              <a:ext uri="{FF2B5EF4-FFF2-40B4-BE49-F238E27FC236}">
                <a16:creationId xmlns:a16="http://schemas.microsoft.com/office/drawing/2014/main" id="{D101356F-DBBB-4BD5-8598-E85E0D4A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68">
            <a:extLst xmlns:a="http://schemas.openxmlformats.org/drawingml/2006/main">
              <a:ext uri="{FF2B5EF4-FFF2-40B4-BE49-F238E27FC236}">
                <a16:creationId xmlns:a16="http://schemas.microsoft.com/office/drawing/2014/main" id="{894F57CB-D04F-4B1B-9880-ABCA8E5D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69">
            <a:extLst xmlns:a="http://schemas.openxmlformats.org/drawingml/2006/main">
              <a:ext uri="{FF2B5EF4-FFF2-40B4-BE49-F238E27FC236}">
                <a16:creationId xmlns:a16="http://schemas.microsoft.com/office/drawing/2014/main" id="{EB73B477-20E2-4D23-8063-20070D68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ac4e885a94b2b"/>
          <a:srcRect xmlns:a="http://schemas.openxmlformats.org/drawingml/2006/main" l="9957" t="0" r="99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677150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8" name="surface-71">
            <a:extLst xmlns:a="http://schemas.openxmlformats.org/drawingml/2006/main">
              <a:ext uri="{FF2B5EF4-FFF2-40B4-BE49-F238E27FC236}">
                <a16:creationId xmlns:a16="http://schemas.microsoft.com/office/drawing/2014/main" id="{9E606BD1-4576-4E44-812A-AA09BA6E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CHANGE MADE</a:t>
            </a:r>
          </a:p>
        </p:txBody>
      </p:sp>
      <p:sp>
        <p:nvSpPr>
          <p:cNvPr id="9" name="surface-72">
            <a:extLst xmlns:a="http://schemas.openxmlformats.org/drawingml/2006/main">
              <a:ext uri="{FF2B5EF4-FFF2-40B4-BE49-F238E27FC236}">
                <a16:creationId xmlns:a16="http://schemas.microsoft.com/office/drawing/2014/main" id="{D59EA828-09FD-49B6-B436-BBF0BE60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Four price tiers now calculate profit and margin independently.</a:t>
            </a:r>
          </a:p>
        </p:txBody>
      </p:sp>
      <p:sp>
        <p:nvSpPr>
          <p:cNvPr id="10" name="surface-73">
            <a:extLst xmlns:a="http://schemas.openxmlformats.org/drawingml/2006/main">
              <a:ext uri="{FF2B5EF4-FFF2-40B4-BE49-F238E27FC236}">
                <a16:creationId xmlns:a16="http://schemas.microsoft.com/office/drawing/2014/main" id="{6CA43E6B-4333-4F0D-ADAD-6C45C92A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PROBLEM SOLVED</a:t>
            </a:r>
          </a:p>
        </p:txBody>
      </p:sp>
      <p:sp>
        <p:nvSpPr>
          <p:cNvPr id="11" name="surface-74">
            <a:extLst xmlns:a="http://schemas.openxmlformats.org/drawingml/2006/main">
              <a:ext uri="{FF2B5EF4-FFF2-40B4-BE49-F238E27FC236}">
                <a16:creationId xmlns:a16="http://schemas.microsoft.com/office/drawing/2014/main" id="{042D7548-545F-45A4-883C-3A0F35E5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481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Management can compare channel contribution before approving prices or discounts.</a:t>
            </a:r>
          </a:p>
        </p:txBody>
      </p:sp>
      <p:sp>
        <p:nvSpPr>
          <p:cNvPr id="12" name="surface-75">
            <a:extLst xmlns:a="http://schemas.openxmlformats.org/drawingml/2006/main">
              <a:ext uri="{FF2B5EF4-FFF2-40B4-BE49-F238E27FC236}">
                <a16:creationId xmlns:a16="http://schemas.microsoft.com/office/drawing/2014/main" id="{777D6CBB-1125-49ED-BDBB-47D0E37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006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26 seeded products</a:t>
            </a:r>
          </a:p>
        </p:txBody>
      </p:sp>
    </p:spTree>
    <p:extLst>
      <p:ext uri="{BB962C8B-B14F-4D97-AF65-F5344CB8AC3E}">
        <p14:creationId xmlns:p14="http://schemas.microsoft.com/office/powerpoint/2010/main" val="8569955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urface-76">
            <a:extLst xmlns:a="http://schemas.openxmlformats.org/drawingml/2006/main">
              <a:ext uri="{FF2B5EF4-FFF2-40B4-BE49-F238E27FC236}">
                <a16:creationId xmlns:a16="http://schemas.microsoft.com/office/drawing/2014/main" id="{188D4769-526A-4C27-9042-D82D41CD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06</a:t>
            </a:r>
          </a:p>
        </p:txBody>
      </p:sp>
      <p:sp>
        <p:nvSpPr>
          <p:cNvPr id="2" name="surface-77">
            <a:extLst xmlns:a="http://schemas.openxmlformats.org/drawingml/2006/main">
              <a:ext uri="{FF2B5EF4-FFF2-40B4-BE49-F238E27FC236}">
                <a16:creationId xmlns:a16="http://schemas.microsoft.com/office/drawing/2014/main" id="{EED10885-0BC9-489F-A5A2-86D3AA1C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Bulk import and stock documents make the demo practical</a:t>
            </a:r>
          </a:p>
        </p:txBody>
      </p:sp>
      <p:sp>
        <p:nvSpPr>
          <p:cNvPr id="3" name="surface-78">
            <a:extLst xmlns:a="http://schemas.openxmlformats.org/drawingml/2006/main">
              <a:ext uri="{FF2B5EF4-FFF2-40B4-BE49-F238E27FC236}">
                <a16:creationId xmlns:a16="http://schemas.microsoft.com/office/drawing/2014/main" id="{BB7DB9F6-07CC-4851-B805-DF7C1FAF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Products, organization and starting quantities can enter through validated CSV files, then move through traceable stock records.</a:t>
            </a:r>
          </a:p>
        </p:txBody>
      </p:sp>
      <p:sp>
        <p:nvSpPr>
          <p:cNvPr id="4" name="surface-79">
            <a:extLst xmlns:a="http://schemas.openxmlformats.org/drawingml/2006/main">
              <a:ext uri="{FF2B5EF4-FFF2-40B4-BE49-F238E27FC236}">
                <a16:creationId xmlns:a16="http://schemas.microsoft.com/office/drawing/2014/main" id="{98B8A8EB-09E2-4CBF-BF56-DE1A8BFA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80">
            <a:extLst xmlns:a="http://schemas.openxmlformats.org/drawingml/2006/main">
              <a:ext uri="{FF2B5EF4-FFF2-40B4-BE49-F238E27FC236}">
                <a16:creationId xmlns:a16="http://schemas.microsoft.com/office/drawing/2014/main" id="{B8E4F9D2-CFCC-4956-954A-E1015310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81">
            <a:extLst xmlns:a="http://schemas.openxmlformats.org/drawingml/2006/main">
              <a:ext uri="{FF2B5EF4-FFF2-40B4-BE49-F238E27FC236}">
                <a16:creationId xmlns:a16="http://schemas.microsoft.com/office/drawing/2014/main" id="{4C0C0E49-84E6-4E51-9B36-2E244503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b0a077ed34f9d"/>
          <a:srcRect xmlns:a="http://schemas.openxmlformats.org/drawingml/2006/main" l="0" t="276" r="0" b="2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5334000" cy="23622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b3f2715434c82"/>
          <a:srcRect xmlns:a="http://schemas.openxmlformats.org/drawingml/2006/main" l="0" t="11905" r="0" b="11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305300"/>
            <a:ext cx="533400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9" name="surface-84">
            <a:extLst xmlns:a="http://schemas.openxmlformats.org/drawingml/2006/main">
              <a:ext uri="{FF2B5EF4-FFF2-40B4-BE49-F238E27FC236}">
                <a16:creationId xmlns:a16="http://schemas.microsoft.com/office/drawing/2014/main" id="{1129CFD3-6123-4799-BD9A-4C194F36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surface-85">
            <a:extLst xmlns:a="http://schemas.openxmlformats.org/drawingml/2006/main">
              <a:ext uri="{FF2B5EF4-FFF2-40B4-BE49-F238E27FC236}">
                <a16:creationId xmlns:a16="http://schemas.microsoft.com/office/drawing/2014/main" id="{ACEE582B-0508-4109-8EB4-C617B0F9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977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Four import modes</a:t>
            </a:r>
          </a:p>
        </p:txBody>
      </p:sp>
      <p:sp>
        <p:nvSpPr>
          <p:cNvPr id="11" name="surface-86">
            <a:extLst xmlns:a="http://schemas.openxmlformats.org/drawingml/2006/main">
              <a:ext uri="{FF2B5EF4-FFF2-40B4-BE49-F238E27FC236}">
                <a16:creationId xmlns:a16="http://schemas.microsoft.com/office/drawing/2014/main" id="{CB93DD72-90D0-4C2F-873E-607E2439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717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Separate templates cover products, categories, brands and inventory balances.</a:t>
            </a:r>
          </a:p>
        </p:txBody>
      </p:sp>
      <p:sp>
        <p:nvSpPr>
          <p:cNvPr id="12" name="surface-87">
            <a:extLst xmlns:a="http://schemas.openxmlformats.org/drawingml/2006/main">
              <a:ext uri="{FF2B5EF4-FFF2-40B4-BE49-F238E27FC236}">
                <a16:creationId xmlns:a16="http://schemas.microsoft.com/office/drawing/2014/main" id="{A45BA793-0CA8-4B2D-AB40-DAA0100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24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surface-88">
            <a:extLst xmlns:a="http://schemas.openxmlformats.org/drawingml/2006/main">
              <a:ext uri="{FF2B5EF4-FFF2-40B4-BE49-F238E27FC236}">
                <a16:creationId xmlns:a16="http://schemas.microsoft.com/office/drawing/2014/main" id="{F768563B-3AB6-4431-9216-3E5E3DE0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Validation before posting</a:t>
            </a:r>
          </a:p>
        </p:txBody>
      </p:sp>
      <p:sp>
        <p:nvSpPr>
          <p:cNvPr id="14" name="surface-89">
            <a:extLst xmlns:a="http://schemas.openxmlformats.org/drawingml/2006/main">
              <a:ext uri="{FF2B5EF4-FFF2-40B4-BE49-F238E27FC236}">
                <a16:creationId xmlns:a16="http://schemas.microsoft.com/office/drawing/2014/main" id="{1EB1E7C8-3634-4B83-8BE8-5259DD87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preview catches missing fields and invalid identifiers before changing data.</a:t>
            </a:r>
          </a:p>
        </p:txBody>
      </p:sp>
      <p:sp>
        <p:nvSpPr>
          <p:cNvPr id="15" name="surface-90">
            <a:extLst xmlns:a="http://schemas.openxmlformats.org/drawingml/2006/main">
              <a:ext uri="{FF2B5EF4-FFF2-40B4-BE49-F238E27FC236}">
                <a16:creationId xmlns:a16="http://schemas.microsoft.com/office/drawing/2014/main" id="{DE962334-8F31-4F45-B62F-E9DBFCF4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urface-91">
            <a:extLst xmlns:a="http://schemas.openxmlformats.org/drawingml/2006/main">
              <a:ext uri="{FF2B5EF4-FFF2-40B4-BE49-F238E27FC236}">
                <a16:creationId xmlns:a16="http://schemas.microsoft.com/office/drawing/2014/main" id="{C4950CE1-42D0-4023-852C-EDDD9E3F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Traceable stock history</a:t>
            </a:r>
          </a:p>
        </p:txBody>
      </p:sp>
      <p:sp>
        <p:nvSpPr>
          <p:cNvPr id="17" name="surface-92">
            <a:extLst xmlns:a="http://schemas.openxmlformats.org/drawingml/2006/main">
              <a:ext uri="{FF2B5EF4-FFF2-40B4-BE49-F238E27FC236}">
                <a16:creationId xmlns:a16="http://schemas.microsoft.com/office/drawing/2014/main" id="{47DFC058-021F-415F-93A6-A9942683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815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Seeded receipts, transfers, adjustments and counts show the full document lifecycle.</a:t>
            </a:r>
          </a:p>
        </p:txBody>
      </p:sp>
    </p:spTree>
    <p:extLst>
      <p:ext uri="{BB962C8B-B14F-4D97-AF65-F5344CB8AC3E}">
        <p14:creationId xmlns:p14="http://schemas.microsoft.com/office/powerpoint/2010/main" val="765384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-93">
            <a:extLst xmlns:a="http://schemas.openxmlformats.org/drawingml/2006/main">
              <a:ext uri="{FF2B5EF4-FFF2-40B4-BE49-F238E27FC236}">
                <a16:creationId xmlns:a16="http://schemas.microsoft.com/office/drawing/2014/main" id="{8AEBCDE2-E3E4-4D03-AB2E-126A4148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07</a:t>
            </a:r>
          </a:p>
        </p:txBody>
      </p:sp>
      <p:sp>
        <p:nvSpPr>
          <p:cNvPr id="2" name="surface-94">
            <a:extLst xmlns:a="http://schemas.openxmlformats.org/drawingml/2006/main">
              <a:ext uri="{FF2B5EF4-FFF2-40B4-BE49-F238E27FC236}">
                <a16:creationId xmlns:a16="http://schemas.microsoft.com/office/drawing/2014/main" id="{CFC59E54-1D29-4A18-B025-8E54F71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POS connects every sale, return and customer credit</a:t>
            </a:r>
          </a:p>
        </p:txBody>
      </p:sp>
      <p:sp>
        <p:nvSpPr>
          <p:cNvPr id="3" name="surface-95">
            <a:extLst xmlns:a="http://schemas.openxmlformats.org/drawingml/2006/main">
              <a:ext uri="{FF2B5EF4-FFF2-40B4-BE49-F238E27FC236}">
                <a16:creationId xmlns:a16="http://schemas.microsoft.com/office/drawing/2014/main" id="{3A167C44-D80B-498A-8753-AF42256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Seeded receipts and credit notes let the client inspect the full flow without entering setup data first.</a:t>
            </a:r>
          </a:p>
        </p:txBody>
      </p:sp>
      <p:sp>
        <p:nvSpPr>
          <p:cNvPr id="4" name="surface-96">
            <a:extLst xmlns:a="http://schemas.openxmlformats.org/drawingml/2006/main">
              <a:ext uri="{FF2B5EF4-FFF2-40B4-BE49-F238E27FC236}">
                <a16:creationId xmlns:a16="http://schemas.microsoft.com/office/drawing/2014/main" id="{7C73879A-F993-4CF4-BABA-B7BA37D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97">
            <a:extLst xmlns:a="http://schemas.openxmlformats.org/drawingml/2006/main">
              <a:ext uri="{FF2B5EF4-FFF2-40B4-BE49-F238E27FC236}">
                <a16:creationId xmlns:a16="http://schemas.microsoft.com/office/drawing/2014/main" id="{A9C03E3D-A817-4243-830E-01EC2D12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98">
            <a:extLst xmlns:a="http://schemas.openxmlformats.org/drawingml/2006/main">
              <a:ext uri="{FF2B5EF4-FFF2-40B4-BE49-F238E27FC236}">
                <a16:creationId xmlns:a16="http://schemas.microsoft.com/office/drawing/2014/main" id="{34B953DA-17D5-4863-9BDB-3B007AFF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a56301c5f48b4"/>
          <a:srcRect xmlns:a="http://schemas.openxmlformats.org/drawingml/2006/main" l="10926" t="0" r="10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5247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8" name="surface-100">
            <a:extLst xmlns:a="http://schemas.openxmlformats.org/drawingml/2006/main">
              <a:ext uri="{FF2B5EF4-FFF2-40B4-BE49-F238E27FC236}">
                <a16:creationId xmlns:a16="http://schemas.microsoft.com/office/drawing/2014/main" id="{ABE36F47-52B7-4A68-9DAE-401B5474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RETAIL CONTROLS ADDED</a:t>
            </a:r>
          </a:p>
        </p:txBody>
      </p:sp>
      <p:sp>
        <p:nvSpPr>
          <p:cNvPr id="9" name="surface-101">
            <a:extLst xmlns:a="http://schemas.openxmlformats.org/drawingml/2006/main">
              <a:ext uri="{FF2B5EF4-FFF2-40B4-BE49-F238E27FC236}">
                <a16:creationId xmlns:a16="http://schemas.microsoft.com/office/drawing/2014/main" id="{4FE1FF3E-4A43-4ECE-B097-B33AA68E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31242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Split cash and card</a:t>
            </a:r>
          </a:p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Buy one, second 50% off</a:t>
            </a:r>
          </a:p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Last sale lookup</a:t>
            </a:r>
          </a:p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Hold and recall</a:t>
            </a:r>
          </a:p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Refund or store credit</a:t>
            </a:r>
          </a:p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Retail and wholesale close</a:t>
            </a:r>
          </a:p>
        </p:txBody>
      </p:sp>
      <p:sp>
        <p:nvSpPr>
          <p:cNvPr id="10" name="surface-102">
            <a:extLst xmlns:a="http://schemas.openxmlformats.org/drawingml/2006/main">
              <a:ext uri="{FF2B5EF4-FFF2-40B4-BE49-F238E27FC236}">
                <a16:creationId xmlns:a16="http://schemas.microsoft.com/office/drawing/2014/main" id="{65711C5C-B1F0-45D0-9C3F-2863F333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291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PROBLEM SOLVED</a:t>
            </a:r>
          </a:p>
        </p:txBody>
      </p:sp>
      <p:sp>
        <p:nvSpPr>
          <p:cNvPr id="11" name="surface-103">
            <a:extLst xmlns:a="http://schemas.openxmlformats.org/drawingml/2006/main">
              <a:ext uri="{FF2B5EF4-FFF2-40B4-BE49-F238E27FC236}">
                <a16:creationId xmlns:a16="http://schemas.microsoft.com/office/drawing/2014/main" id="{9239CA84-452A-492F-9AF2-3C923067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53025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Staff can recover the original transaction and keep stock and credit adjustments auditable.</a:t>
            </a:r>
          </a:p>
        </p:txBody>
      </p:sp>
    </p:spTree>
    <p:extLst>
      <p:ext uri="{BB962C8B-B14F-4D97-AF65-F5344CB8AC3E}">
        <p14:creationId xmlns:p14="http://schemas.microsoft.com/office/powerpoint/2010/main" val="733359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urface-104">
            <a:extLst xmlns:a="http://schemas.openxmlformats.org/drawingml/2006/main">
              <a:ext uri="{FF2B5EF4-FFF2-40B4-BE49-F238E27FC236}">
                <a16:creationId xmlns:a16="http://schemas.microsoft.com/office/drawing/2014/main" id="{6E928CE8-D1A1-4D75-AC17-5D0060C5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08</a:t>
            </a:r>
          </a:p>
        </p:txBody>
      </p:sp>
      <p:sp>
        <p:nvSpPr>
          <p:cNvPr id="2" name="surface-105">
            <a:extLst xmlns:a="http://schemas.openxmlformats.org/drawingml/2006/main">
              <a:ext uri="{FF2B5EF4-FFF2-40B4-BE49-F238E27FC236}">
                <a16:creationId xmlns:a16="http://schemas.microsoft.com/office/drawing/2014/main" id="{737B3CC6-C912-4DDA-ACA8-C93FAAD3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Purchasing preserves the real invoice cost</a:t>
            </a:r>
          </a:p>
        </p:txBody>
      </p:sp>
      <p:sp>
        <p:nvSpPr>
          <p:cNvPr id="3" name="surface-106">
            <a:extLst xmlns:a="http://schemas.openxmlformats.org/drawingml/2006/main">
              <a:ext uri="{FF2B5EF4-FFF2-40B4-BE49-F238E27FC236}">
                <a16:creationId xmlns:a16="http://schemas.microsoft.com/office/drawing/2014/main" id="{D20DC2F4-68B2-47D7-8856-FFBE7576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Transportation, duty and local delivery stay separate while the application calculates landed and weighted average cost per piece.</a:t>
            </a:r>
          </a:p>
        </p:txBody>
      </p:sp>
      <p:sp>
        <p:nvSpPr>
          <p:cNvPr id="4" name="surface-107">
            <a:extLst xmlns:a="http://schemas.openxmlformats.org/drawingml/2006/main">
              <a:ext uri="{FF2B5EF4-FFF2-40B4-BE49-F238E27FC236}">
                <a16:creationId xmlns:a16="http://schemas.microsoft.com/office/drawing/2014/main" id="{B1514CA7-48B2-4811-B860-379C2B9E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08">
            <a:extLst xmlns:a="http://schemas.openxmlformats.org/drawingml/2006/main">
              <a:ext uri="{FF2B5EF4-FFF2-40B4-BE49-F238E27FC236}">
                <a16:creationId xmlns:a16="http://schemas.microsoft.com/office/drawing/2014/main" id="{EBF0BBEE-BF0E-4D04-B655-BF1F534C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09">
            <a:extLst xmlns:a="http://schemas.openxmlformats.org/drawingml/2006/main">
              <a:ext uri="{FF2B5EF4-FFF2-40B4-BE49-F238E27FC236}">
                <a16:creationId xmlns:a16="http://schemas.microsoft.com/office/drawing/2014/main" id="{80D9A736-28C8-4685-AE00-BCEB554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625a792474186"/>
          <a:srcRect xmlns:a="http://schemas.openxmlformats.org/drawingml/2006/main" l="9228" t="0" r="92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88670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8" name="surface-111">
            <a:extLst xmlns:a="http://schemas.openxmlformats.org/drawingml/2006/main">
              <a:ext uri="{FF2B5EF4-FFF2-40B4-BE49-F238E27FC236}">
                <a16:creationId xmlns:a16="http://schemas.microsoft.com/office/drawing/2014/main" id="{FB3D3699-57AD-404A-B014-E5232780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81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EXAMPLE RESULT</a:t>
            </a:r>
          </a:p>
        </p:txBody>
      </p:sp>
      <p:sp>
        <p:nvSpPr>
          <p:cNvPr id="9" name="surface-112">
            <a:extLst xmlns:a="http://schemas.openxmlformats.org/drawingml/2006/main">
              <a:ext uri="{FF2B5EF4-FFF2-40B4-BE49-F238E27FC236}">
                <a16:creationId xmlns:a16="http://schemas.microsoft.com/office/drawing/2014/main" id="{D2E9DD87-FC03-4EFE-8031-517677AD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$16.00</a:t>
            </a:r>
          </a:p>
        </p:txBody>
      </p:sp>
      <p:sp>
        <p:nvSpPr>
          <p:cNvPr id="10" name="surface-113">
            <a:extLst xmlns:a="http://schemas.openxmlformats.org/drawingml/2006/main">
              <a:ext uri="{FF2B5EF4-FFF2-40B4-BE49-F238E27FC236}">
                <a16:creationId xmlns:a16="http://schemas.microsoft.com/office/drawing/2014/main" id="{95C9AA23-4D7C-4E9C-ADFF-15CE652B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90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original unit price</a:t>
            </a:r>
          </a:p>
        </p:txBody>
      </p:sp>
      <p:sp>
        <p:nvSpPr>
          <p:cNvPr id="11" name="surface-114">
            <a:extLst xmlns:a="http://schemas.openxmlformats.org/drawingml/2006/main">
              <a:ext uri="{FF2B5EF4-FFF2-40B4-BE49-F238E27FC236}">
                <a16:creationId xmlns:a16="http://schemas.microsoft.com/office/drawing/2014/main" id="{2FEF1694-FD4F-40C9-A9D1-D704FC5B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$5.75</a:t>
            </a:r>
          </a:p>
        </p:txBody>
      </p:sp>
      <p:sp>
        <p:nvSpPr>
          <p:cNvPr id="12" name="surface-115">
            <a:extLst xmlns:a="http://schemas.openxmlformats.org/drawingml/2006/main">
              <a:ext uri="{FF2B5EF4-FFF2-40B4-BE49-F238E27FC236}">
                <a16:creationId xmlns:a16="http://schemas.microsoft.com/office/drawing/2014/main" id="{E807A8DC-8A6C-4E42-961B-A3CE7B1F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allocated extra cost</a:t>
            </a:r>
          </a:p>
        </p:txBody>
      </p:sp>
      <p:sp>
        <p:nvSpPr>
          <p:cNvPr id="13" name="surface-116">
            <a:extLst xmlns:a="http://schemas.openxmlformats.org/drawingml/2006/main">
              <a:ext uri="{FF2B5EF4-FFF2-40B4-BE49-F238E27FC236}">
                <a16:creationId xmlns:a16="http://schemas.microsoft.com/office/drawing/2014/main" id="{C9F76A9D-BDEF-4432-8B77-93003013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719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$21.75</a:t>
            </a:r>
          </a:p>
        </p:txBody>
      </p:sp>
      <p:sp>
        <p:nvSpPr>
          <p:cNvPr id="14" name="surface-117">
            <a:extLst xmlns:a="http://schemas.openxmlformats.org/drawingml/2006/main">
              <a:ext uri="{FF2B5EF4-FFF2-40B4-BE49-F238E27FC236}">
                <a16:creationId xmlns:a16="http://schemas.microsoft.com/office/drawing/2014/main" id="{3BBC9E56-3112-49A1-B488-3AD4F362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291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landed cost per piece</a:t>
            </a:r>
          </a:p>
        </p:txBody>
      </p:sp>
      <p:sp>
        <p:nvSpPr>
          <p:cNvPr id="15" name="surface-118">
            <a:extLst xmlns:a="http://schemas.openxmlformats.org/drawingml/2006/main">
              <a:ext uri="{FF2B5EF4-FFF2-40B4-BE49-F238E27FC236}">
                <a16:creationId xmlns:a16="http://schemas.microsoft.com/office/drawing/2014/main" id="{62C76010-B94F-409F-8CC2-28BA980A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530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The purchase history remains comparable without reopening a physical invoice.</a:t>
            </a:r>
          </a:p>
        </p:txBody>
      </p:sp>
    </p:spTree>
    <p:extLst>
      <p:ext uri="{BB962C8B-B14F-4D97-AF65-F5344CB8AC3E}">
        <p14:creationId xmlns:p14="http://schemas.microsoft.com/office/powerpoint/2010/main" val="1061905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-119">
            <a:extLst xmlns:a="http://schemas.openxmlformats.org/drawingml/2006/main">
              <a:ext uri="{FF2B5EF4-FFF2-40B4-BE49-F238E27FC236}">
                <a16:creationId xmlns:a16="http://schemas.microsoft.com/office/drawing/2014/main" id="{F14E1EE1-C6FB-4214-9A91-BD1EAEE2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09</a:t>
            </a:r>
          </a:p>
        </p:txBody>
      </p:sp>
      <p:sp>
        <p:nvSpPr>
          <p:cNvPr id="2" name="surface-120">
            <a:extLst xmlns:a="http://schemas.openxmlformats.org/drawingml/2006/main">
              <a:ext uri="{FF2B5EF4-FFF2-40B4-BE49-F238E27FC236}">
                <a16:creationId xmlns:a16="http://schemas.microsoft.com/office/drawing/2014/main" id="{8468BCE2-67BD-49C3-B676-7D6F0E94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The sales forecast produces a purchase decision</a:t>
            </a:r>
          </a:p>
        </p:txBody>
      </p:sp>
      <p:sp>
        <p:nvSpPr>
          <p:cNvPr id="3" name="surface-121">
            <a:extLst xmlns:a="http://schemas.openxmlformats.org/drawingml/2006/main">
              <a:ext uri="{FF2B5EF4-FFF2-40B4-BE49-F238E27FC236}">
                <a16:creationId xmlns:a16="http://schemas.microsoft.com/office/drawing/2014/main" id="{6C0E151D-0969-4842-A4EE-C110F4EC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presenter can select recommended SKUs, change lead time and create a draft purchase order from the scenario.</a:t>
            </a:r>
          </a:p>
        </p:txBody>
      </p:sp>
      <p:sp>
        <p:nvSpPr>
          <p:cNvPr id="4" name="surface-122">
            <a:extLst xmlns:a="http://schemas.openxmlformats.org/drawingml/2006/main">
              <a:ext uri="{FF2B5EF4-FFF2-40B4-BE49-F238E27FC236}">
                <a16:creationId xmlns:a16="http://schemas.microsoft.com/office/drawing/2014/main" id="{438699C6-2719-4555-84AE-EFF6F90A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23">
            <a:extLst xmlns:a="http://schemas.openxmlformats.org/drawingml/2006/main">
              <a:ext uri="{FF2B5EF4-FFF2-40B4-BE49-F238E27FC236}">
                <a16:creationId xmlns:a16="http://schemas.microsoft.com/office/drawing/2014/main" id="{DE4DB68A-839F-4DC1-90A5-B2125376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24">
            <a:extLst xmlns:a="http://schemas.openxmlformats.org/drawingml/2006/main">
              <a:ext uri="{FF2B5EF4-FFF2-40B4-BE49-F238E27FC236}">
                <a16:creationId xmlns:a16="http://schemas.microsoft.com/office/drawing/2014/main" id="{D31DC61C-F5EE-4508-8AF6-4663174D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185fe21494470"/>
          <a:srcRect xmlns:a="http://schemas.openxmlformats.org/drawingml/2006/main" l="9129" t="0" r="91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90575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8" name="surface-126">
            <a:extLst xmlns:a="http://schemas.openxmlformats.org/drawingml/2006/main">
              <a:ext uri="{FF2B5EF4-FFF2-40B4-BE49-F238E27FC236}">
                <a16:creationId xmlns:a16="http://schemas.microsoft.com/office/drawing/2014/main" id="{8EE6E95E-AD2F-4DB2-B579-0A8DAEA2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240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surface-127">
            <a:extLst xmlns:a="http://schemas.openxmlformats.org/drawingml/2006/main">
              <a:ext uri="{FF2B5EF4-FFF2-40B4-BE49-F238E27FC236}">
                <a16:creationId xmlns:a16="http://schemas.microsoft.com/office/drawing/2014/main" id="{6BF3DB58-CB61-41EF-B165-432EF82C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Demand signal</a:t>
            </a:r>
          </a:p>
        </p:txBody>
      </p:sp>
      <p:sp>
        <p:nvSpPr>
          <p:cNvPr id="10" name="surface-128">
            <a:extLst xmlns:a="http://schemas.openxmlformats.org/drawingml/2006/main">
              <a:ext uri="{FF2B5EF4-FFF2-40B4-BE49-F238E27FC236}">
                <a16:creationId xmlns:a16="http://schemas.microsoft.com/office/drawing/2014/main" id="{D4DED2CB-7C39-4D61-9AA3-8E59034B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Thirty-day demand sits next to available stock for each product.</a:t>
            </a:r>
          </a:p>
        </p:txBody>
      </p:sp>
      <p:sp>
        <p:nvSpPr>
          <p:cNvPr id="11" name="surface-129">
            <a:extLst xmlns:a="http://schemas.openxmlformats.org/drawingml/2006/main">
              <a:ext uri="{FF2B5EF4-FFF2-40B4-BE49-F238E27FC236}">
                <a16:creationId xmlns:a16="http://schemas.microsoft.com/office/drawing/2014/main" id="{5D652BFB-FC9A-492F-909C-72BC6F22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861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surface-130">
            <a:extLst xmlns:a="http://schemas.openxmlformats.org/drawingml/2006/main">
              <a:ext uri="{FF2B5EF4-FFF2-40B4-BE49-F238E27FC236}">
                <a16:creationId xmlns:a16="http://schemas.microsoft.com/office/drawing/2014/main" id="{108DA404-984E-417C-9626-0B573BFA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13" name="surface-131">
            <a:extLst xmlns:a="http://schemas.openxmlformats.org/drawingml/2006/main">
              <a:ext uri="{FF2B5EF4-FFF2-40B4-BE49-F238E27FC236}">
                <a16:creationId xmlns:a16="http://schemas.microsoft.com/office/drawing/2014/main" id="{FDEF9E17-9172-4CFC-BF02-0581ECA0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3857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Each suggestion shows the model confidence used in the demo scenario.</a:t>
            </a:r>
          </a:p>
        </p:txBody>
      </p:sp>
      <p:sp>
        <p:nvSpPr>
          <p:cNvPr id="14" name="surface-132">
            <a:extLst xmlns:a="http://schemas.openxmlformats.org/drawingml/2006/main">
              <a:ext uri="{FF2B5EF4-FFF2-40B4-BE49-F238E27FC236}">
                <a16:creationId xmlns:a16="http://schemas.microsoft.com/office/drawing/2014/main" id="{D20EE0DC-BE00-4DBF-82E6-261A854B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48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surface-133">
            <a:extLst xmlns:a="http://schemas.openxmlformats.org/drawingml/2006/main">
              <a:ext uri="{FF2B5EF4-FFF2-40B4-BE49-F238E27FC236}">
                <a16:creationId xmlns:a16="http://schemas.microsoft.com/office/drawing/2014/main" id="{D0C50E83-FAE6-4CD7-B99A-595C79F0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38700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Purchase action</a:t>
            </a:r>
          </a:p>
        </p:txBody>
      </p:sp>
      <p:sp>
        <p:nvSpPr>
          <p:cNvPr id="16" name="surface-134">
            <a:extLst xmlns:a="http://schemas.openxmlformats.org/drawingml/2006/main">
              <a:ext uri="{FF2B5EF4-FFF2-40B4-BE49-F238E27FC236}">
                <a16:creationId xmlns:a16="http://schemas.microsoft.com/office/drawing/2014/main" id="{BA917D48-AB08-4B9B-8250-0FD2C3CC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006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Selected recommendations become an estimated commitment and draft order.</a:t>
            </a:r>
          </a:p>
        </p:txBody>
      </p:sp>
    </p:spTree>
    <p:extLst>
      <p:ext uri="{BB962C8B-B14F-4D97-AF65-F5344CB8AC3E}">
        <p14:creationId xmlns:p14="http://schemas.microsoft.com/office/powerpoint/2010/main" val="11221346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-135">
            <a:extLst xmlns:a="http://schemas.openxmlformats.org/drawingml/2006/main">
              <a:ext uri="{FF2B5EF4-FFF2-40B4-BE49-F238E27FC236}">
                <a16:creationId xmlns:a16="http://schemas.microsoft.com/office/drawing/2014/main" id="{A28B087A-E96B-4137-A00B-412FB751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10</a:t>
            </a:r>
          </a:p>
        </p:txBody>
      </p:sp>
      <p:sp>
        <p:nvSpPr>
          <p:cNvPr id="2" name="surface-136">
            <a:extLst xmlns:a="http://schemas.openxmlformats.org/drawingml/2006/main">
              <a:ext uri="{FF2B5EF4-FFF2-40B4-BE49-F238E27FC236}">
                <a16:creationId xmlns:a16="http://schemas.microsoft.com/office/drawing/2014/main" id="{955568A1-0D75-4D9C-90E8-DF282CA1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A split payment becomes clear finance activity</a:t>
            </a:r>
          </a:p>
        </p:txBody>
      </p:sp>
      <p:sp>
        <p:nvSpPr>
          <p:cNvPr id="3" name="surface-137">
            <a:extLst xmlns:a="http://schemas.openxmlformats.org/drawingml/2006/main">
              <a:ext uri="{FF2B5EF4-FFF2-40B4-BE49-F238E27FC236}">
                <a16:creationId xmlns:a16="http://schemas.microsoft.com/office/drawing/2014/main" id="{F1FA04F0-4A96-453D-8496-8A74F676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$600 example records $200 cash and $400 card, separates 8.25% sales tax and posts a readable ledger entry.</a:t>
            </a:r>
          </a:p>
        </p:txBody>
      </p:sp>
      <p:sp>
        <p:nvSpPr>
          <p:cNvPr id="4" name="surface-138">
            <a:extLst xmlns:a="http://schemas.openxmlformats.org/drawingml/2006/main">
              <a:ext uri="{FF2B5EF4-FFF2-40B4-BE49-F238E27FC236}">
                <a16:creationId xmlns:a16="http://schemas.microsoft.com/office/drawing/2014/main" id="{7A8D15D8-AC8F-498D-BC0E-36D89317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39">
            <a:extLst xmlns:a="http://schemas.openxmlformats.org/drawingml/2006/main">
              <a:ext uri="{FF2B5EF4-FFF2-40B4-BE49-F238E27FC236}">
                <a16:creationId xmlns:a16="http://schemas.microsoft.com/office/drawing/2014/main" id="{889E84DF-8FDC-4A74-ABB8-4892F341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40">
            <a:extLst xmlns:a="http://schemas.openxmlformats.org/drawingml/2006/main">
              <a:ext uri="{FF2B5EF4-FFF2-40B4-BE49-F238E27FC236}">
                <a16:creationId xmlns:a16="http://schemas.microsoft.com/office/drawing/2014/main" id="{843866FE-4F34-47FF-85A0-5DEAF01D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523a70e27468b"/>
          <a:srcRect xmlns:a="http://schemas.openxmlformats.org/drawingml/2006/main" l="9523" t="0" r="95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82955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8" name="surface-142">
            <a:extLst xmlns:a="http://schemas.openxmlformats.org/drawingml/2006/main">
              <a:ext uri="{FF2B5EF4-FFF2-40B4-BE49-F238E27FC236}">
                <a16:creationId xmlns:a16="http://schemas.microsoft.com/office/drawing/2014/main" id="{0D5E5CF9-656E-4999-9E28-23A7009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TRANSACTION</a:t>
            </a:r>
          </a:p>
        </p:txBody>
      </p:sp>
      <p:sp>
        <p:nvSpPr>
          <p:cNvPr id="9" name="surface-143">
            <a:extLst xmlns:a="http://schemas.openxmlformats.org/drawingml/2006/main">
              <a:ext uri="{FF2B5EF4-FFF2-40B4-BE49-F238E27FC236}">
                <a16:creationId xmlns:a16="http://schemas.microsoft.com/office/drawing/2014/main" id="{E288CD0B-F8D3-402B-8CF6-D5D24049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$600.00</a:t>
            </a:r>
          </a:p>
        </p:txBody>
      </p:sp>
      <p:sp>
        <p:nvSpPr>
          <p:cNvPr id="10" name="surface-144">
            <a:extLst xmlns:a="http://schemas.openxmlformats.org/drawingml/2006/main">
              <a:ext uri="{FF2B5EF4-FFF2-40B4-BE49-F238E27FC236}">
                <a16:creationId xmlns:a16="http://schemas.microsoft.com/office/drawing/2014/main" id="{1188833E-DF3B-428F-9B06-F57BEFB2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2705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$554.27 net sale</a:t>
            </a:r>
          </a:p>
          <a:p xmlns:a="http://schemas.openxmlformats.org/drawingml/2006/main">
            <a:pPr algn="l">
              <a:defRPr sz="172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$45.73 tax</a:t>
            </a:r>
          </a:p>
          <a:p xmlns:a="http://schemas.openxmlformats.org/drawingml/2006/main">
            <a:pPr algn="l">
              <a:defRPr sz="172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$200 cash</a:t>
            </a:r>
          </a:p>
          <a:p xmlns:a="http://schemas.openxmlformats.org/drawingml/2006/main">
            <a:pPr algn="l">
              <a:defRPr sz="172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$400 card</a:t>
            </a:r>
          </a:p>
        </p:txBody>
      </p:sp>
      <p:sp>
        <p:nvSpPr>
          <p:cNvPr id="11" name="surface-145">
            <a:extLst xmlns:a="http://schemas.openxmlformats.org/drawingml/2006/main">
              <a:ext uri="{FF2B5EF4-FFF2-40B4-BE49-F238E27FC236}">
                <a16:creationId xmlns:a16="http://schemas.microsoft.com/office/drawing/2014/main" id="{15B55C6D-75D3-46D0-A985-5426AD20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006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PROBLEM SOLVED</a:t>
            </a:r>
          </a:p>
        </p:txBody>
      </p:sp>
      <p:sp>
        <p:nvSpPr>
          <p:cNvPr id="12" name="surface-146">
            <a:extLst xmlns:a="http://schemas.openxmlformats.org/drawingml/2006/main">
              <a:ext uri="{FF2B5EF4-FFF2-40B4-BE49-F238E27FC236}">
                <a16:creationId xmlns:a16="http://schemas.microsoft.com/office/drawing/2014/main" id="{F0FDBAD9-F780-4089-980B-130368A2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14950"/>
            <a:ext cx="2705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Cash drawer and card settlement no longer appear as one unexplained payment.</a:t>
            </a:r>
          </a:p>
        </p:txBody>
      </p:sp>
    </p:spTree>
    <p:extLst>
      <p:ext uri="{BB962C8B-B14F-4D97-AF65-F5344CB8AC3E}">
        <p14:creationId xmlns:p14="http://schemas.microsoft.com/office/powerpoint/2010/main" val="5968961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-147">
            <a:extLst xmlns:a="http://schemas.openxmlformats.org/drawingml/2006/main">
              <a:ext uri="{FF2B5EF4-FFF2-40B4-BE49-F238E27FC236}">
                <a16:creationId xmlns:a16="http://schemas.microsoft.com/office/drawing/2014/main" id="{67B02BD4-972E-4674-90F6-17AD1480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11</a:t>
            </a:r>
          </a:p>
        </p:txBody>
      </p:sp>
      <p:sp>
        <p:nvSpPr>
          <p:cNvPr id="2" name="surface-148">
            <a:extLst xmlns:a="http://schemas.openxmlformats.org/drawingml/2006/main">
              <a:ext uri="{FF2B5EF4-FFF2-40B4-BE49-F238E27FC236}">
                <a16:creationId xmlns:a16="http://schemas.microsoft.com/office/drawing/2014/main" id="{25A649B1-E218-4BCC-9F76-A172A05D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Daily closing separates retail, wholesale and tender totals</a:t>
            </a:r>
          </a:p>
        </p:txBody>
      </p:sp>
      <p:sp>
        <p:nvSpPr>
          <p:cNvPr id="3" name="surface-149">
            <a:extLst xmlns:a="http://schemas.openxmlformats.org/drawingml/2006/main">
              <a:ext uri="{FF2B5EF4-FFF2-40B4-BE49-F238E27FC236}">
                <a16:creationId xmlns:a16="http://schemas.microsoft.com/office/drawing/2014/main" id="{956DD963-7546-4A04-9222-02064808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One report shows transactions, net sales, tax, cash and card settlement, with a CSV export for reconciliation.</a:t>
            </a:r>
          </a:p>
        </p:txBody>
      </p:sp>
      <p:sp>
        <p:nvSpPr>
          <p:cNvPr id="4" name="surface-150">
            <a:extLst xmlns:a="http://schemas.openxmlformats.org/drawingml/2006/main">
              <a:ext uri="{FF2B5EF4-FFF2-40B4-BE49-F238E27FC236}">
                <a16:creationId xmlns:a16="http://schemas.microsoft.com/office/drawing/2014/main" id="{3AFA0097-9CB6-42B7-B5F6-3AC5D1ED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51">
            <a:extLst xmlns:a="http://schemas.openxmlformats.org/drawingml/2006/main">
              <a:ext uri="{FF2B5EF4-FFF2-40B4-BE49-F238E27FC236}">
                <a16:creationId xmlns:a16="http://schemas.microsoft.com/office/drawing/2014/main" id="{41F093CC-756C-417C-94F5-D4E2332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52">
            <a:extLst xmlns:a="http://schemas.openxmlformats.org/drawingml/2006/main">
              <a:ext uri="{FF2B5EF4-FFF2-40B4-BE49-F238E27FC236}">
                <a16:creationId xmlns:a16="http://schemas.microsoft.com/office/drawing/2014/main" id="{925F76A1-6F4C-4DA0-AD48-2F6FEB15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02cf9be3e42b2"/>
          <a:srcRect xmlns:a="http://schemas.openxmlformats.org/drawingml/2006/main" l="9622" t="0" r="96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81050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8" name="surface-154">
            <a:extLst xmlns:a="http://schemas.openxmlformats.org/drawingml/2006/main">
              <a:ext uri="{FF2B5EF4-FFF2-40B4-BE49-F238E27FC236}">
                <a16:creationId xmlns:a16="http://schemas.microsoft.com/office/drawing/2014/main" id="{3A46ADBD-94F1-4266-B95D-8A48D1A6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812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WHAT THE CLIENT SEES</a:t>
            </a:r>
          </a:p>
        </p:txBody>
      </p:sp>
      <p:sp>
        <p:nvSpPr>
          <p:cNvPr id="9" name="surface-155">
            <a:extLst xmlns:a="http://schemas.openxmlformats.org/drawingml/2006/main">
              <a:ext uri="{FF2B5EF4-FFF2-40B4-BE49-F238E27FC236}">
                <a16:creationId xmlns:a16="http://schemas.microsoft.com/office/drawing/2014/main" id="{910B8B30-BA08-4522-8F43-6A35E79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724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Retail POS</a:t>
            </a:r>
          </a:p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Wholesale</a:t>
            </a:r>
          </a:p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Sales tax</a:t>
            </a:r>
          </a:p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Cash drawer</a:t>
            </a:r>
          </a:p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Card settlement</a:t>
            </a:r>
          </a:p>
        </p:txBody>
      </p:sp>
      <p:sp>
        <p:nvSpPr>
          <p:cNvPr id="10" name="surface-156">
            <a:extLst xmlns:a="http://schemas.openxmlformats.org/drawingml/2006/main">
              <a:ext uri="{FF2B5EF4-FFF2-40B4-BE49-F238E27FC236}">
                <a16:creationId xmlns:a16="http://schemas.microsoft.com/office/drawing/2014/main" id="{B731BE3F-EB92-4E16-AB4A-EA6FFC3D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339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PROBLEM SOLVED</a:t>
            </a:r>
          </a:p>
        </p:txBody>
      </p:sp>
      <p:sp>
        <p:nvSpPr>
          <p:cNvPr id="11" name="surface-157">
            <a:extLst xmlns:a="http://schemas.openxmlformats.org/drawingml/2006/main">
              <a:ext uri="{FF2B5EF4-FFF2-40B4-BE49-F238E27FC236}">
                <a16:creationId xmlns:a16="http://schemas.microsoft.com/office/drawing/2014/main" id="{B0076EE1-EB7C-4FFD-9F9E-5F663275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6727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Managers can reconcile both selling channels without combining tender types or rebuilding totals manually.</a:t>
            </a:r>
          </a:p>
        </p:txBody>
      </p:sp>
    </p:spTree>
    <p:extLst>
      <p:ext uri="{BB962C8B-B14F-4D97-AF65-F5344CB8AC3E}">
        <p14:creationId xmlns:p14="http://schemas.microsoft.com/office/powerpoint/2010/main" val="368818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28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-158">
            <a:extLst xmlns:a="http://schemas.openxmlformats.org/drawingml/2006/main">
              <a:ext uri="{FF2B5EF4-FFF2-40B4-BE49-F238E27FC236}">
                <a16:creationId xmlns:a16="http://schemas.microsoft.com/office/drawing/2014/main" id="{3EF4EA8C-2787-4643-9F58-F41603D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UPDATE 12</a:t>
            </a:r>
          </a:p>
        </p:txBody>
      </p:sp>
      <p:sp>
        <p:nvSpPr>
          <p:cNvPr id="2" name="surface-159">
            <a:extLst xmlns:a="http://schemas.openxmlformats.org/drawingml/2006/main">
              <a:ext uri="{FF2B5EF4-FFF2-40B4-BE49-F238E27FC236}">
                <a16:creationId xmlns:a16="http://schemas.microsoft.com/office/drawing/2014/main" id="{BBC5E691-E625-493E-8CC3-3CD46567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client can now test the whole operating story</a:t>
            </a:r>
          </a:p>
        </p:txBody>
      </p:sp>
      <p:sp>
        <p:nvSpPr>
          <p:cNvPr id="3" name="surface-160">
            <a:extLst xmlns:a="http://schemas.openxmlformats.org/drawingml/2006/main">
              <a:ext uri="{FF2B5EF4-FFF2-40B4-BE49-F238E27FC236}">
                <a16:creationId xmlns:a16="http://schemas.microsoft.com/office/drawing/2014/main" id="{FC187B76-580B-4420-84E4-130D211D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D5D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6D5D2"/>
                </a:solidFill>
                <a:latin typeface="Aptos"/>
                <a:ea typeface="Aptos"/>
                <a:cs typeface="Aptos"/>
              </a:rPr>
              <a:t>The live demo combines populated records with safe reset controls and direct links to each important workflow.</a:t>
            </a:r>
          </a:p>
        </p:txBody>
      </p:sp>
      <p:sp>
        <p:nvSpPr>
          <p:cNvPr id="4" name="surface-161">
            <a:extLst xmlns:a="http://schemas.openxmlformats.org/drawingml/2006/main">
              <a:ext uri="{FF2B5EF4-FFF2-40B4-BE49-F238E27FC236}">
                <a16:creationId xmlns:a16="http://schemas.microsoft.com/office/drawing/2014/main" id="{0766D081-81AD-4140-B695-B17A9360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62">
            <a:extLst xmlns:a="http://schemas.openxmlformats.org/drawingml/2006/main">
              <a:ext uri="{FF2B5EF4-FFF2-40B4-BE49-F238E27FC236}">
                <a16:creationId xmlns:a16="http://schemas.microsoft.com/office/drawing/2014/main" id="{38F7BC21-297E-4DBD-9E11-F8EC89D6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C9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C9C7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63">
            <a:extLst xmlns:a="http://schemas.openxmlformats.org/drawingml/2006/main">
              <a:ext uri="{FF2B5EF4-FFF2-40B4-BE49-F238E27FC236}">
                <a16:creationId xmlns:a16="http://schemas.microsoft.com/office/drawing/2014/main" id="{FC115826-FB4C-416B-A103-BC2CD1BD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surface-164">
            <a:extLst xmlns:a="http://schemas.openxmlformats.org/drawingml/2006/main">
              <a:ext uri="{FF2B5EF4-FFF2-40B4-BE49-F238E27FC236}">
                <a16:creationId xmlns:a16="http://schemas.microsoft.com/office/drawing/2014/main" id="{9AEF7218-D4C5-4DD3-8DF5-58CDCD04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surface-165">
            <a:extLst xmlns:a="http://schemas.openxmlformats.org/drawingml/2006/main">
              <a:ext uri="{FF2B5EF4-FFF2-40B4-BE49-F238E27FC236}">
                <a16:creationId xmlns:a16="http://schemas.microsoft.com/office/drawing/2014/main" id="{01D24E24-FF08-4306-A937-DC8E5AC9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 up</a:t>
            </a:r>
          </a:p>
        </p:txBody>
      </p:sp>
      <p:sp>
        <p:nvSpPr>
          <p:cNvPr id="9" name="surface-166">
            <a:extLst xmlns:a="http://schemas.openxmlformats.org/drawingml/2006/main">
              <a:ext uri="{FF2B5EF4-FFF2-40B4-BE49-F238E27FC236}">
                <a16:creationId xmlns:a16="http://schemas.microsoft.com/office/drawing/2014/main" id="{C98432A8-1D34-4B49-9BB8-13A185B0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9D7D4"/>
                </a:solidFill>
                <a:latin typeface="Aptos"/>
                <a:ea typeface="Aptos"/>
                <a:cs typeface="Aptos"/>
              </a:rPr>
              <a:t>Locations, users, access and companies</a:t>
            </a:r>
          </a:p>
        </p:txBody>
      </p:sp>
      <p:sp>
        <p:nvSpPr>
          <p:cNvPr id="10" name="surface-167">
            <a:extLst xmlns:a="http://schemas.openxmlformats.org/drawingml/2006/main">
              <a:ext uri="{FF2B5EF4-FFF2-40B4-BE49-F238E27FC236}">
                <a16:creationId xmlns:a16="http://schemas.microsoft.com/office/drawing/2014/main" id="{669D15B2-00D8-49E0-82A6-ABD0333A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urface-168">
            <a:extLst xmlns:a="http://schemas.openxmlformats.org/drawingml/2006/main">
              <a:ext uri="{FF2B5EF4-FFF2-40B4-BE49-F238E27FC236}">
                <a16:creationId xmlns:a16="http://schemas.microsoft.com/office/drawing/2014/main" id="{A2D47D8D-0FE7-4587-A80E-026DCBA3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stock</a:t>
            </a:r>
          </a:p>
        </p:txBody>
      </p:sp>
      <p:sp>
        <p:nvSpPr>
          <p:cNvPr id="12" name="surface-169">
            <a:extLst xmlns:a="http://schemas.openxmlformats.org/drawingml/2006/main">
              <a:ext uri="{FF2B5EF4-FFF2-40B4-BE49-F238E27FC236}">
                <a16:creationId xmlns:a16="http://schemas.microsoft.com/office/drawing/2014/main" id="{0E835B34-D08C-48FB-A6B9-58323ED5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9D7D4"/>
                </a:solidFill>
                <a:latin typeface="Aptos"/>
                <a:ea typeface="Aptos"/>
                <a:cs typeface="Aptos"/>
              </a:rPr>
              <a:t>Products, margins, imports and movements</a:t>
            </a:r>
          </a:p>
        </p:txBody>
      </p:sp>
      <p:sp>
        <p:nvSpPr>
          <p:cNvPr id="13" name="surface-170">
            <a:extLst xmlns:a="http://schemas.openxmlformats.org/drawingml/2006/main">
              <a:ext uri="{FF2B5EF4-FFF2-40B4-BE49-F238E27FC236}">
                <a16:creationId xmlns:a16="http://schemas.microsoft.com/office/drawing/2014/main" id="{D9CAA2F8-85DA-4778-8C02-C193CD62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surface-171">
            <a:extLst xmlns:a="http://schemas.openxmlformats.org/drawingml/2006/main">
              <a:ext uri="{FF2B5EF4-FFF2-40B4-BE49-F238E27FC236}">
                <a16:creationId xmlns:a16="http://schemas.microsoft.com/office/drawing/2014/main" id="{0F5F2A3C-A7B5-40AF-BCD9-770E1021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719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Serve customers</a:t>
            </a:r>
          </a:p>
        </p:txBody>
      </p:sp>
      <p:sp>
        <p:nvSpPr>
          <p:cNvPr id="15" name="surface-172">
            <a:extLst xmlns:a="http://schemas.openxmlformats.org/drawingml/2006/main">
              <a:ext uri="{FF2B5EF4-FFF2-40B4-BE49-F238E27FC236}">
                <a16:creationId xmlns:a16="http://schemas.microsoft.com/office/drawing/2014/main" id="{043F9277-9220-4996-9DD2-DBD62CEE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9D7D4"/>
                </a:solidFill>
                <a:latin typeface="Aptos"/>
                <a:ea typeface="Aptos"/>
                <a:cs typeface="Aptos"/>
              </a:rPr>
              <a:t>Sales, promotions, returns and credit</a:t>
            </a:r>
          </a:p>
        </p:txBody>
      </p:sp>
      <p:sp>
        <p:nvSpPr>
          <p:cNvPr id="16" name="surface-173">
            <a:extLst xmlns:a="http://schemas.openxmlformats.org/drawingml/2006/main">
              <a:ext uri="{FF2B5EF4-FFF2-40B4-BE49-F238E27FC236}">
                <a16:creationId xmlns:a16="http://schemas.microsoft.com/office/drawing/2014/main" id="{FB8B4B31-1EDE-454C-929B-BD9452D6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surface-174">
            <a:extLst xmlns:a="http://schemas.openxmlformats.org/drawingml/2006/main">
              <a:ext uri="{FF2B5EF4-FFF2-40B4-BE49-F238E27FC236}">
                <a16:creationId xmlns:a16="http://schemas.microsoft.com/office/drawing/2014/main" id="{F24DFF74-A495-45C3-9FFB-56B9E9F7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10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 and close</a:t>
            </a:r>
          </a:p>
        </p:txBody>
      </p:sp>
      <p:sp>
        <p:nvSpPr>
          <p:cNvPr id="18" name="surface-175">
            <a:extLst xmlns:a="http://schemas.openxmlformats.org/drawingml/2006/main">
              <a:ext uri="{FF2B5EF4-FFF2-40B4-BE49-F238E27FC236}">
                <a16:creationId xmlns:a16="http://schemas.microsoft.com/office/drawing/2014/main" id="{1CD1A4F5-749F-48A8-A1C9-4CD46AF6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9D7D4"/>
                </a:solidFill>
                <a:latin typeface="Aptos"/>
                <a:ea typeface="Aptos"/>
                <a:cs typeface="Aptos"/>
              </a:rPr>
              <a:t>Purchasing, forecasting, finance and reports</a:t>
            </a:r>
          </a:p>
        </p:txBody>
      </p:sp>
      <p:sp>
        <p:nvSpPr>
          <p:cNvPr id="19" name="surface-176">
            <a:extLst xmlns:a="http://schemas.openxmlformats.org/drawingml/2006/main">
              <a:ext uri="{FF2B5EF4-FFF2-40B4-BE49-F238E27FC236}">
                <a16:creationId xmlns:a16="http://schemas.microsoft.com/office/drawing/2014/main" id="{92612FC8-174A-4F66-89DB-B8098F00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177">
            <a:extLst xmlns:a="http://schemas.openxmlformats.org/drawingml/2006/main">
              <a:ext uri="{FF2B5EF4-FFF2-40B4-BE49-F238E27FC236}">
                <a16:creationId xmlns:a16="http://schemas.microsoft.com/office/drawing/2014/main" id="{A8799AB5-602E-4F4D-8187-E0D9F287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Live application</a:t>
            </a:r>
          </a:p>
        </p:txBody>
      </p:sp>
      <p:sp>
        <p:nvSpPr>
          <p:cNvPr id="21" name="surface-178">
            <a:extLst xmlns:a="http://schemas.openxmlformats.org/drawingml/2006/main">
              <a:ext uri="{FF2B5EF4-FFF2-40B4-BE49-F238E27FC236}">
                <a16:creationId xmlns:a16="http://schemas.microsoft.com/office/drawing/2014/main" id="{8F36E535-EC89-4C20-B8E0-803E1BAB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72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https://flaiur-erp.vercel.app</a:t>
            </a:r>
          </a:p>
        </p:txBody>
      </p:sp>
    </p:spTree>
    <p:extLst>
      <p:ext uri="{BB962C8B-B14F-4D97-AF65-F5344CB8AC3E}">
        <p14:creationId xmlns:p14="http://schemas.microsoft.com/office/powerpoint/2010/main" val="180105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2026-09-07T08:31:12.3280000Z</dcterms:created>
  <dcterms:modified xsi:type="dcterms:W3CDTF">2026-09-07T08:31:12.3280000Z</dcterms:modified>
</coreProperties>
</file>